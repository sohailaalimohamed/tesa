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XM Traffic Bold" charset="1" panose="02000803080000020004"/>
      <p:regular r:id="rId17"/>
    </p:embeddedFont>
    <p:embeddedFont>
      <p:font typeface="XM Traffic" charset="1" panose="0200050308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مخيم أنيق في الطبيعة، بخيام وجلسات خارجية وإضاءة مسائية دافئة، مع إبراز الخصوصية والهدوء.</a:t>
            </a:r>
          </a:p>
          <a:p>
            <a:r>
              <a:rPr lang="en-US"/>
              <a:t>(تصور تطويري مقترح وليس مشروعًا منفذًا)</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تصور لمساحة استجمام بتصميم طبيعي، مع منطقة عناية وأرفف منتجات وإضاءة دافئة.</a:t>
            </a:r>
          </a:p>
          <a:p>
            <a:r>
              <a:rPr lang="en-US"/>
              <a:t>(تصور تطويري مقترح وليس مشروعًا منفذًا)</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صورة لسوق حليوة أو سوق المجلس في شقراء، مع تصور بصري لتحسين الإضاءة واللوحات والتنظيم.</a:t>
            </a:r>
          </a:p>
          <a:p>
            <a:r>
              <a:rPr lang="en-US"/>
              <a:t>(تصور تطويري مقترح وليس مشروعًا منفذًا)</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سوق تراثي نابض بالحياة، يظهر فيه الزوار والحرفيون والمنتجات المحلية ومضيف يستقبل الزوار.</a:t>
            </a:r>
          </a:p>
          <a:p>
            <a:r>
              <a:rPr lang="en-US"/>
              <a:t>(تصور تطويري مقترح وليس مشروعًا منفذًا)</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مزرعة نخيل واسعة، يظهر فيها هب بتصميم طبيعي مع جلسات ومقهى وأكشاك للمنتجات المحلية.</a:t>
            </a:r>
          </a:p>
          <a:p>
            <a:r>
              <a:rPr lang="en-US"/>
              <a:t>(تصور تطويري مقترح وليس مشروعًا منفذًا)</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مسار وسط النخيل مع دراجات هوائية ودبابات مخصصة للجولات المنظمة ونقطة استراحة طبيعية.</a:t>
            </a:r>
          </a:p>
          <a:p>
            <a:r>
              <a:rPr lang="en-US"/>
              <a:t>(تصور تطويري مقترح وليس مشروعًا منفذًا)</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صورة بانورامية للمنتزه وإطلالته، مع تصور بصري لتوزيع مناطق الجلوس والأنشطة والخدمات.</a:t>
            </a:r>
          </a:p>
          <a:p>
            <a:r>
              <a:rPr lang="en-US"/>
              <a:t>(تصور تطويري مقترح وليس مشروعًا منفذًا)</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تصور متكامل للمنتزه يضم منطقة طعام خارجية، وألعاب أطفال، وجلسات عائلية، وأكشاك منتجات محلية، مع إبراز الإطلالة.</a:t>
            </a:r>
          </a:p>
          <a:p>
            <a:r>
              <a:rPr lang="en-US"/>
              <a:t>(تصور تطويري مقترح وليس مشروعًا منفذًا)</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https://www.google.com/maps/search/?api=1&amp;query=%D9%85%D9%84%D9%87%D9%85" TargetMode="External" Type="http://schemas.openxmlformats.org/officeDocument/2006/relationships/hyperlink"/><Relationship Id="rId12" Target="../media/image10.png" Type="http://schemas.openxmlformats.org/officeDocument/2006/relationships/image"/><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12" Target="https://www.google.com/maps/search/?api=1&amp;query=%D9%85%D9%84%D9%87%D9%85" TargetMode="External" Type="http://schemas.openxmlformats.org/officeDocument/2006/relationships/hyperlink"/><Relationship Id="rId13" Target="../media/image20.png" Type="http://schemas.openxmlformats.org/officeDocument/2006/relationships/image"/><Relationship Id="rId2" Target="../media/image11.png" Type="http://schemas.openxmlformats.org/officeDocument/2006/relationships/image"/><Relationship Id="rId3" Target="../media/image2.jpe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png" Type="http://schemas.openxmlformats.org/officeDocument/2006/relationships/image"/><Relationship Id="rId12" Target="../media/image24.png" Type="http://schemas.openxmlformats.org/officeDocument/2006/relationships/image"/><Relationship Id="rId13" Target="../media/image25.png" Type="http://schemas.openxmlformats.org/officeDocument/2006/relationships/image"/><Relationship Id="rId14" Target="../media/image26.png" Type="http://schemas.openxmlformats.org/officeDocument/2006/relationships/image"/><Relationship Id="rId15" Target="../media/image27.jpeg" Type="http://schemas.openxmlformats.org/officeDocument/2006/relationships/image"/><Relationship Id="rId16" Target="../media/image28.jpe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1.png" Type="http://schemas.openxmlformats.org/officeDocument/2006/relationships/image"/><Relationship Id="rId5" Target="../media/image2.jpeg" Type="http://schemas.openxmlformats.org/officeDocument/2006/relationships/image"/><Relationship Id="rId6" Target="https://www.google.com/maps/search/?api=1&amp;query=%D8%A7%D9%84%D9%82%D8%B5%D8%A8%20%D8%A7%D9%84%D9%85%D8%AC%D9%85%D8%B9%D8%A9" TargetMode="External" Type="http://schemas.openxmlformats.org/officeDocument/2006/relationships/hyperlink"/><Relationship Id="rId7" Target="../media/image10.png" Type="http://schemas.openxmlformats.org/officeDocument/2006/relationships/image"/><Relationship Id="rId8" Target="https://maps.app.goo.gl/hdbMGtBSv38Tk5o3A?g_st=iw" TargetMode="External" Type="http://schemas.openxmlformats.org/officeDocument/2006/relationships/hyperlink"/><Relationship Id="rId9" Target="https://maps.app.goo.gl/hdbMGtBSv38Tk5o3A?g_st=iw"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png" Type="http://schemas.openxmlformats.org/officeDocument/2006/relationships/image"/><Relationship Id="rId12" Target="https://www.google.com/maps/search/?api=1&amp;query=%D8%A7%D9%84%D9%82%D8%B5%D8%A8%20%D8%A7%D9%84%D9%85%D8%AC%D9%85%D8%B9%D8%A9" TargetMode="External" Type="http://schemas.openxmlformats.org/officeDocument/2006/relationships/hyperlink"/><Relationship Id="rId13" Target="../media/image10.png" Type="http://schemas.openxmlformats.org/officeDocument/2006/relationships/image"/><Relationship Id="rId14" Target="https://maps.app.goo.gl/hdbMGtBSv38Tk5o3A?g_st=iw" TargetMode="External" Type="http://schemas.openxmlformats.org/officeDocument/2006/relationships/hyperlink"/><Relationship Id="rId15" Target="https://maps.app.goo.gl/hdbMGtBSv38Tk5o3A?g_st=iw" TargetMode="External" Type="http://schemas.openxmlformats.org/officeDocument/2006/relationships/hyperlink"/><Relationship Id="rId16" Target="../media/image35.jpeg" Type="http://schemas.openxmlformats.org/officeDocument/2006/relationships/image"/><Relationship Id="rId17" Target="../media/image28.jpeg" Type="http://schemas.openxmlformats.org/officeDocument/2006/relationships/image"/><Relationship Id="rId2" Target="../notesSlides/notesSlide2.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29.jpeg" Type="http://schemas.openxmlformats.org/officeDocument/2006/relationships/image"/><Relationship Id="rId6" Target="../media/image21.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 Id="rId9" Target="../media/image3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11" Target="../media/image42.png" Type="http://schemas.openxmlformats.org/officeDocument/2006/relationships/image"/><Relationship Id="rId12" Target="https://www.google.com/maps/search/?api=1&amp;query=%D8%B4%D9%82%D8%B1%D8%A7%D8%A1" TargetMode="External" Type="http://schemas.openxmlformats.org/officeDocument/2006/relationships/hyperlink"/><Relationship Id="rId13" Target="../media/image20.png" Type="http://schemas.openxmlformats.org/officeDocument/2006/relationships/image"/><Relationship Id="rId14" Target="https://maps.app.goo.gl/9tJd7FBf5j8e6kVa6?g_st=iw" TargetMode="External" Type="http://schemas.openxmlformats.org/officeDocument/2006/relationships/hyperlink"/><Relationship Id="rId15" Target="https://maps.app.goo.gl/9tJd7FBf5j8e6kVa6?g_st=iw" TargetMode="External" Type="http://schemas.openxmlformats.org/officeDocument/2006/relationships/hyperlink"/><Relationship Id="rId16" Target="https://maps.app.goo.gl/9tJd7FBf5j8e6kVa6?g_st=iw" TargetMode="External" Type="http://schemas.openxmlformats.org/officeDocument/2006/relationships/hyperlink"/><Relationship Id="rId17" Target="../media/image43.jpeg" Type="http://schemas.openxmlformats.org/officeDocument/2006/relationships/image"/><Relationship Id="rId18" Target="../media/image28.jpeg" Type="http://schemas.openxmlformats.org/officeDocument/2006/relationships/image"/><Relationship Id="rId2" Target="../notesSlides/notesSlide3.xml" Type="http://schemas.openxmlformats.org/officeDocument/2006/relationships/notesSlide"/><Relationship Id="rId3" Target="../media/image11.png" Type="http://schemas.openxmlformats.org/officeDocument/2006/relationships/image"/><Relationship Id="rId4" Target="../media/image36.jpeg" Type="http://schemas.openxmlformats.org/officeDocument/2006/relationships/image"/><Relationship Id="rId5" Target="../media/image37.png" Type="http://schemas.openxmlformats.org/officeDocument/2006/relationships/image"/><Relationship Id="rId6" Target="../media/image2.jpeg" Type="http://schemas.openxmlformats.org/officeDocument/2006/relationships/image"/><Relationship Id="rId7" Target="../media/image38.png" Type="http://schemas.openxmlformats.org/officeDocument/2006/relationships/image"/><Relationship Id="rId8" Target="../media/image39.png" Type="http://schemas.openxmlformats.org/officeDocument/2006/relationships/image"/><Relationship Id="rId9" Target="../media/image4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8.png" Type="http://schemas.openxmlformats.org/officeDocument/2006/relationships/image"/><Relationship Id="rId12" Target="../media/image50.png" Type="http://schemas.openxmlformats.org/officeDocument/2006/relationships/image"/><Relationship Id="rId13" Target="https://www.google.com/maps/search/?api=1&amp;query=%D8%B4%D9%82%D8%B1%D8%A7%D8%A1" TargetMode="External" Type="http://schemas.openxmlformats.org/officeDocument/2006/relationships/hyperlink"/><Relationship Id="rId14" Target="../media/image10.png" Type="http://schemas.openxmlformats.org/officeDocument/2006/relationships/image"/><Relationship Id="rId15" Target="https://maps.app.goo.gl/9tJd7FBf5j8e6kVa6?g_st=iw" TargetMode="External" Type="http://schemas.openxmlformats.org/officeDocument/2006/relationships/hyperlink"/><Relationship Id="rId16" Target="https://maps.app.goo.gl/9tJd7FBf5j8e6kVa6?g_st=iw" TargetMode="External" Type="http://schemas.openxmlformats.org/officeDocument/2006/relationships/hyperlink"/><Relationship Id="rId17" Target="../media/image28.jpeg" Type="http://schemas.openxmlformats.org/officeDocument/2006/relationships/image"/><Relationship Id="rId2" Target="../notesSlides/notesSlide4.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44.jpeg" Type="http://schemas.openxmlformats.org/officeDocument/2006/relationships/image"/><Relationship Id="rId6" Target="../media/image45.png" Type="http://schemas.openxmlformats.org/officeDocument/2006/relationships/image"/><Relationship Id="rId7" Target="../media/image46.png" Type="http://schemas.openxmlformats.org/officeDocument/2006/relationships/image"/><Relationship Id="rId8" Target="../media/image47.png" Type="http://schemas.openxmlformats.org/officeDocument/2006/relationships/image"/><Relationship Id="rId9" Target="../media/image4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5.png" Type="http://schemas.openxmlformats.org/officeDocument/2006/relationships/image"/><Relationship Id="rId11" Target="../media/image56.png" Type="http://schemas.openxmlformats.org/officeDocument/2006/relationships/image"/><Relationship Id="rId12" Target="../media/image57.png" Type="http://schemas.openxmlformats.org/officeDocument/2006/relationships/image"/><Relationship Id="rId13" Target="https://www.google.com/maps/search/?api=1&amp;query=%D9%85%D8%B2%D8%A7%D8%B1%D8%B9%20%D8%A7%D9%84%D8%AC%D9%88%20%D8%A7%D9%84%D9%85%D8%AC%D9%85%D8%B9%D8%A9" TargetMode="External" Type="http://schemas.openxmlformats.org/officeDocument/2006/relationships/hyperlink"/><Relationship Id="rId14" Target="../media/image20.png" Type="http://schemas.openxmlformats.org/officeDocument/2006/relationships/image"/><Relationship Id="rId15" Target="https://maps.app.goo.gl/PcG3u6xeZU9a99fs9?g_st=iw" TargetMode="External" Type="http://schemas.openxmlformats.org/officeDocument/2006/relationships/hyperlink"/><Relationship Id="rId16" Target="../media/image28.jpeg" Type="http://schemas.openxmlformats.org/officeDocument/2006/relationships/image"/><Relationship Id="rId2" Target="../notesSlides/notesSlide5.xml" Type="http://schemas.openxmlformats.org/officeDocument/2006/relationships/notesSlide"/><Relationship Id="rId3" Target="../media/image11.png" Type="http://schemas.openxmlformats.org/officeDocument/2006/relationships/image"/><Relationship Id="rId4" Target="../media/image2.jpeg" Type="http://schemas.openxmlformats.org/officeDocument/2006/relationships/image"/><Relationship Id="rId5" Target="../media/image51.jpeg" Type="http://schemas.openxmlformats.org/officeDocument/2006/relationships/image"/><Relationship Id="rId6" Target="../media/image52.png" Type="http://schemas.openxmlformats.org/officeDocument/2006/relationships/image"/><Relationship Id="rId7" Target="../media/image53.png" Type="http://schemas.openxmlformats.org/officeDocument/2006/relationships/image"/><Relationship Id="rId8" Target="../media/image15.png" Type="http://schemas.openxmlformats.org/officeDocument/2006/relationships/image"/><Relationship Id="rId9" Target="../media/image5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png" Type="http://schemas.openxmlformats.org/officeDocument/2006/relationships/image"/><Relationship Id="rId12" Target="../media/image64.png" Type="http://schemas.openxmlformats.org/officeDocument/2006/relationships/image"/><Relationship Id="rId13" Target="https://www.google.com/maps/search/?api=1&amp;query=%D9%85%D8%B2%D8%A7%D8%B1%D8%B9%20%D8%A7%D9%84%D8%AC%D9%88%20%D8%A7%D9%84%D9%85%D8%AC%D9%85%D8%B9%D8%A9" TargetMode="External" Type="http://schemas.openxmlformats.org/officeDocument/2006/relationships/hyperlink"/><Relationship Id="rId14" Target="../media/image10.png" Type="http://schemas.openxmlformats.org/officeDocument/2006/relationships/image"/><Relationship Id="rId15" Target="https://maps.app.goo.gl/PcG3u6xeZU9a99fs9?g_st=iw" TargetMode="External" Type="http://schemas.openxmlformats.org/officeDocument/2006/relationships/hyperlink"/><Relationship Id="rId16" Target="../media/image28.jpeg" Type="http://schemas.openxmlformats.org/officeDocument/2006/relationships/image"/><Relationship Id="rId2" Target="../notesSlides/notesSlide6.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58.jpeg" Type="http://schemas.openxmlformats.org/officeDocument/2006/relationships/image"/><Relationship Id="rId6" Target="../media/image59.png" Type="http://schemas.openxmlformats.org/officeDocument/2006/relationships/image"/><Relationship Id="rId7" Target="../media/image46.png" Type="http://schemas.openxmlformats.org/officeDocument/2006/relationships/image"/><Relationship Id="rId8" Target="../media/image60.png" Type="http://schemas.openxmlformats.org/officeDocument/2006/relationships/image"/><Relationship Id="rId9" Target="../media/image6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png" Type="http://schemas.openxmlformats.org/officeDocument/2006/relationships/image"/><Relationship Id="rId11" Target="../media/image69.png" Type="http://schemas.openxmlformats.org/officeDocument/2006/relationships/image"/><Relationship Id="rId12" Target="../media/image70.png" Type="http://schemas.openxmlformats.org/officeDocument/2006/relationships/image"/><Relationship Id="rId13" Target="https://www.google.com/maps/search/?api=1&amp;query=%D9%85%D9%86%D8%AA%D8%B2%D9%87%20%D8%AE%D8%B1%D8%B7%D9%85%20%D8%A7%D9%84%D9%85%D8%B0%D9%86%D8%A8" TargetMode="External" Type="http://schemas.openxmlformats.org/officeDocument/2006/relationships/hyperlink"/><Relationship Id="rId14" Target="../media/image20.png" Type="http://schemas.openxmlformats.org/officeDocument/2006/relationships/image"/><Relationship Id="rId15" Target="https://maps.app.goo.gl/LczbWqmYFNyVX5gh7?g_st=iw" TargetMode="External" Type="http://schemas.openxmlformats.org/officeDocument/2006/relationships/hyperlink"/><Relationship Id="rId16" Target="../media/image71.jpeg" Type="http://schemas.openxmlformats.org/officeDocument/2006/relationships/image"/><Relationship Id="rId17" Target="../media/image28.jpeg" Type="http://schemas.openxmlformats.org/officeDocument/2006/relationships/image"/><Relationship Id="rId2" Target="../notesSlides/notesSlide7.xml" Type="http://schemas.openxmlformats.org/officeDocument/2006/relationships/notesSlide"/><Relationship Id="rId3" Target="../media/image11.png" Type="http://schemas.openxmlformats.org/officeDocument/2006/relationships/image"/><Relationship Id="rId4" Target="../media/image65.jpeg" Type="http://schemas.openxmlformats.org/officeDocument/2006/relationships/image"/><Relationship Id="rId5" Target="../media/image66.png" Type="http://schemas.openxmlformats.org/officeDocument/2006/relationships/image"/><Relationship Id="rId6" Target="../media/image2.jpeg" Type="http://schemas.openxmlformats.org/officeDocument/2006/relationships/image"/><Relationship Id="rId7" Target="../media/image67.png" Type="http://schemas.openxmlformats.org/officeDocument/2006/relationships/image"/><Relationship Id="rId8" Target="../media/image56.png" Type="http://schemas.openxmlformats.org/officeDocument/2006/relationships/image"/><Relationship Id="rId9"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8.png" Type="http://schemas.openxmlformats.org/officeDocument/2006/relationships/image"/><Relationship Id="rId12" Target="../media/image76.png" Type="http://schemas.openxmlformats.org/officeDocument/2006/relationships/image"/><Relationship Id="rId13" Target="../media/image46.png" Type="http://schemas.openxmlformats.org/officeDocument/2006/relationships/image"/><Relationship Id="rId14" Target="https://www.google.com/maps/search/?api=1&amp;query=%D9%85%D9%86%D8%AA%D8%B2%D9%87%20%D8%AE%D8%B1%D8%B7%D9%85%20%D8%A7%D9%84%D9%85%D8%B0%D9%86%D8%A8" TargetMode="External" Type="http://schemas.openxmlformats.org/officeDocument/2006/relationships/hyperlink"/><Relationship Id="rId15" Target="../media/image10.png" Type="http://schemas.openxmlformats.org/officeDocument/2006/relationships/image"/><Relationship Id="rId16" Target="https://maps.app.goo.gl/LczbWqmYFNyVX5gh7?g_st=iw" TargetMode="External" Type="http://schemas.openxmlformats.org/officeDocument/2006/relationships/hyperlink"/><Relationship Id="rId17" Target="../media/image28.jpeg" Type="http://schemas.openxmlformats.org/officeDocument/2006/relationships/image"/><Relationship Id="rId2" Target="../notesSlides/notesSlide8.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72.jpeg" Type="http://schemas.openxmlformats.org/officeDocument/2006/relationships/image"/><Relationship Id="rId6" Target="../media/image73.png" Type="http://schemas.openxmlformats.org/officeDocument/2006/relationships/image"/><Relationship Id="rId7" Target="../media/image74.png" Type="http://schemas.openxmlformats.org/officeDocument/2006/relationships/image"/><Relationship Id="rId8" Target="../media/image33.png" Type="http://schemas.openxmlformats.org/officeDocument/2006/relationships/image"/><Relationship Id="rId9" Target="../media/image75.pn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507807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D9A66B">
                <a:alpha val="1176"/>
              </a:srgbClr>
            </a:solidFill>
          </p:spPr>
        </p:sp>
      </p:grpSp>
      <p:grpSp>
        <p:nvGrpSpPr>
          <p:cNvPr name="Group 5" id="5"/>
          <p:cNvGrpSpPr/>
          <p:nvPr/>
        </p:nvGrpSpPr>
        <p:grpSpPr>
          <a:xfrm rot="0">
            <a:off x="-697706" y="-11906"/>
            <a:ext cx="7567612" cy="10310812"/>
            <a:chOff x="0" y="0"/>
            <a:chExt cx="10090150" cy="13747750"/>
          </a:xfrm>
        </p:grpSpPr>
        <p:sp>
          <p:nvSpPr>
            <p:cNvPr name="Freeform 6" id="6"/>
            <p:cNvSpPr/>
            <p:nvPr/>
          </p:nvSpPr>
          <p:spPr>
            <a:xfrm flipH="false" flipV="false" rot="0">
              <a:off x="0" y="0"/>
              <a:ext cx="10090150" cy="13747877"/>
            </a:xfrm>
            <a:custGeom>
              <a:avLst/>
              <a:gdLst/>
              <a:ahLst/>
              <a:cxnLst/>
              <a:rect r="r" b="b" t="t" l="l"/>
              <a:pathLst>
                <a:path h="13747877" w="10090150">
                  <a:moveTo>
                    <a:pt x="0" y="825627"/>
                  </a:moveTo>
                  <a:cubicBezTo>
                    <a:pt x="0" y="369570"/>
                    <a:pt x="369570" y="0"/>
                    <a:pt x="825627" y="0"/>
                  </a:cubicBezTo>
                  <a:lnTo>
                    <a:pt x="9264523" y="0"/>
                  </a:lnTo>
                  <a:cubicBezTo>
                    <a:pt x="9720453" y="0"/>
                    <a:pt x="10090150" y="369570"/>
                    <a:pt x="10090150" y="825627"/>
                  </a:cubicBezTo>
                  <a:lnTo>
                    <a:pt x="10090150" y="12922250"/>
                  </a:lnTo>
                  <a:cubicBezTo>
                    <a:pt x="10090150" y="13378180"/>
                    <a:pt x="9720580" y="13747877"/>
                    <a:pt x="9264523" y="13747877"/>
                  </a:cubicBezTo>
                  <a:lnTo>
                    <a:pt x="825627" y="13747877"/>
                  </a:lnTo>
                  <a:cubicBezTo>
                    <a:pt x="369570" y="13747750"/>
                    <a:pt x="0" y="13378180"/>
                    <a:pt x="0" y="12922123"/>
                  </a:cubicBezTo>
                  <a:close/>
                </a:path>
              </a:pathLst>
            </a:custGeom>
            <a:solidFill>
              <a:srgbClr val="3E2D21"/>
            </a:solidFill>
            <a:ln w="23812" cap="sq">
              <a:solidFill>
                <a:srgbClr val="D9A66B"/>
              </a:solidFill>
              <a:prstDash val="dash"/>
              <a:miter/>
            </a:ln>
          </p:spPr>
        </p:sp>
      </p:grpSp>
      <p:grpSp>
        <p:nvGrpSpPr>
          <p:cNvPr name="Group 7" id="7"/>
          <p:cNvGrpSpPr/>
          <p:nvPr/>
        </p:nvGrpSpPr>
        <p:grpSpPr>
          <a:xfrm rot="0">
            <a:off x="-446056" y="239744"/>
            <a:ext cx="7064312" cy="9807512"/>
            <a:chOff x="0" y="0"/>
            <a:chExt cx="9419082" cy="13076682"/>
          </a:xfrm>
        </p:grpSpPr>
        <p:sp>
          <p:nvSpPr>
            <p:cNvPr name="Freeform 8" id="8"/>
            <p:cNvSpPr/>
            <p:nvPr/>
          </p:nvSpPr>
          <p:spPr>
            <a:xfrm flipH="false" flipV="false" rot="0">
              <a:off x="0" y="0"/>
              <a:ext cx="9419082" cy="13076682"/>
            </a:xfrm>
            <a:custGeom>
              <a:avLst/>
              <a:gdLst/>
              <a:ahLst/>
              <a:cxnLst/>
              <a:rect r="r" b="b" t="t" l="l"/>
              <a:pathLst>
                <a:path h="13076682" w="9419082">
                  <a:moveTo>
                    <a:pt x="0" y="604647"/>
                  </a:moveTo>
                  <a:cubicBezTo>
                    <a:pt x="0" y="270764"/>
                    <a:pt x="270764" y="0"/>
                    <a:pt x="604647" y="0"/>
                  </a:cubicBezTo>
                  <a:lnTo>
                    <a:pt x="8814435" y="0"/>
                  </a:lnTo>
                  <a:cubicBezTo>
                    <a:pt x="9148445" y="0"/>
                    <a:pt x="9419082" y="270764"/>
                    <a:pt x="9419082" y="604647"/>
                  </a:cubicBezTo>
                  <a:lnTo>
                    <a:pt x="9419082" y="12472035"/>
                  </a:lnTo>
                  <a:cubicBezTo>
                    <a:pt x="9419082" y="12806045"/>
                    <a:pt x="9148318" y="13076682"/>
                    <a:pt x="8814435" y="13076682"/>
                  </a:cubicBezTo>
                  <a:lnTo>
                    <a:pt x="604647" y="13076682"/>
                  </a:lnTo>
                  <a:cubicBezTo>
                    <a:pt x="270637" y="13076682"/>
                    <a:pt x="0" y="12805918"/>
                    <a:pt x="0" y="12472035"/>
                  </a:cubicBezTo>
                  <a:close/>
                </a:path>
              </a:pathLst>
            </a:custGeom>
            <a:blipFill>
              <a:blip r:embed="rId3">
                <a:alphaModFix amt="0"/>
              </a:blip>
              <a:stretch>
                <a:fillRect l="-128126" t="0" r="-128126" b="0"/>
              </a:stretch>
            </a:blipFill>
            <a:ln w="14288" cap="sq">
              <a:solidFill>
                <a:srgbClr val="D9A66B"/>
              </a:solidFill>
              <a:prstDash val="solid"/>
              <a:miter/>
            </a:ln>
          </p:spPr>
        </p:sp>
      </p:grpSp>
      <p:grpSp>
        <p:nvGrpSpPr>
          <p:cNvPr name="Group 9" id="9"/>
          <p:cNvGrpSpPr/>
          <p:nvPr/>
        </p:nvGrpSpPr>
        <p:grpSpPr>
          <a:xfrm rot="0">
            <a:off x="2263140" y="3086100"/>
            <a:ext cx="2331720" cy="2331720"/>
            <a:chOff x="0" y="0"/>
            <a:chExt cx="3108960" cy="3108960"/>
          </a:xfrm>
        </p:grpSpPr>
        <p:sp>
          <p:nvSpPr>
            <p:cNvPr name="Freeform 10" id="10" descr="preencoded.png"/>
            <p:cNvSpPr/>
            <p:nvPr/>
          </p:nvSpPr>
          <p:spPr>
            <a:xfrm flipH="false" flipV="false" rot="0">
              <a:off x="0" y="0"/>
              <a:ext cx="3108960" cy="3108960"/>
            </a:xfrm>
            <a:custGeom>
              <a:avLst/>
              <a:gdLst/>
              <a:ahLst/>
              <a:cxnLst/>
              <a:rect r="r" b="b" t="t" l="l"/>
              <a:pathLst>
                <a:path h="3108960" w="3108960">
                  <a:moveTo>
                    <a:pt x="0" y="0"/>
                  </a:moveTo>
                  <a:lnTo>
                    <a:pt x="3108960" y="0"/>
                  </a:lnTo>
                  <a:lnTo>
                    <a:pt x="3108960" y="3108960"/>
                  </a:lnTo>
                  <a:lnTo>
                    <a:pt x="0" y="3108960"/>
                  </a:lnTo>
                  <a:lnTo>
                    <a:pt x="0" y="0"/>
                  </a:lnTo>
                  <a:close/>
                </a:path>
              </a:pathLst>
            </a:custGeom>
            <a:blipFill>
              <a:blip r:embed="rId4">
                <a:alphaModFix amt="65000"/>
              </a:blip>
              <a:stretch>
                <a:fillRect l="0" t="0" r="0" b="0"/>
              </a:stretch>
            </a:blipFill>
          </p:spPr>
        </p:sp>
      </p:grpSp>
      <p:grpSp>
        <p:nvGrpSpPr>
          <p:cNvPr name="Group 11" id="11"/>
          <p:cNvGrpSpPr/>
          <p:nvPr/>
        </p:nvGrpSpPr>
        <p:grpSpPr>
          <a:xfrm rot="0">
            <a:off x="0" y="5760720"/>
            <a:ext cx="6858000" cy="548640"/>
            <a:chOff x="0" y="0"/>
            <a:chExt cx="9144000" cy="731520"/>
          </a:xfrm>
        </p:grpSpPr>
        <p:sp>
          <p:nvSpPr>
            <p:cNvPr name="Freeform 12" id="12"/>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3">
                <a:alphaModFix amt="0"/>
              </a:blip>
              <a:stretch>
                <a:fillRect l="0" t="-193562" r="0" b="-193562"/>
              </a:stretch>
            </a:blipFill>
          </p:spPr>
        </p:sp>
        <p:sp>
          <p:nvSpPr>
            <p:cNvPr name="TextBox 13" id="13"/>
            <p:cNvSpPr txBox="true"/>
            <p:nvPr/>
          </p:nvSpPr>
          <p:spPr>
            <a:xfrm>
              <a:off x="0" y="-9525"/>
              <a:ext cx="9144000" cy="741045"/>
            </a:xfrm>
            <a:prstGeom prst="rect">
              <a:avLst/>
            </a:prstGeom>
          </p:spPr>
          <p:txBody>
            <a:bodyPr anchor="ctr" rtlCol="false" tIns="0" lIns="0" bIns="0" rIns="0"/>
            <a:lstStyle/>
            <a:p>
              <a:pPr algn="ctr" rtl="true">
                <a:lnSpc>
                  <a:spcPts val="3240"/>
                </a:lnSpc>
              </a:pPr>
              <a:r>
                <a:rPr lang="ar-EG" b="true" sz="2700" spc="27">
                  <a:solidFill>
                    <a:srgbClr val="CDB79A"/>
                  </a:solidFill>
                  <a:latin typeface="XM Traffic Bold"/>
                  <a:ea typeface="XM Traffic Bold"/>
                  <a:cs typeface="XM Traffic Bold"/>
                  <a:sym typeface="XM Traffic Bold"/>
                  <a:rtl val="true"/>
                </a:rPr>
                <a:t>مساحة الصورة</a:t>
              </a:r>
            </a:p>
          </p:txBody>
        </p:sp>
      </p:grpSp>
      <p:grpSp>
        <p:nvGrpSpPr>
          <p:cNvPr name="Group 14" id="14"/>
          <p:cNvGrpSpPr/>
          <p:nvPr/>
        </p:nvGrpSpPr>
        <p:grpSpPr>
          <a:xfrm rot="0">
            <a:off x="0" y="6377940"/>
            <a:ext cx="6858000" cy="411480"/>
            <a:chOff x="0" y="0"/>
            <a:chExt cx="9144000" cy="548640"/>
          </a:xfrm>
        </p:grpSpPr>
        <p:sp>
          <p:nvSpPr>
            <p:cNvPr name="Freeform 15" id="15"/>
            <p:cNvSpPr/>
            <p:nvPr/>
          </p:nvSpPr>
          <p:spPr>
            <a:xfrm flipH="false" flipV="false" rot="0">
              <a:off x="0" y="0"/>
              <a:ext cx="9144000" cy="548640"/>
            </a:xfrm>
            <a:custGeom>
              <a:avLst/>
              <a:gdLst/>
              <a:ahLst/>
              <a:cxnLst/>
              <a:rect r="r" b="b" t="t" l="l"/>
              <a:pathLst>
                <a:path h="548640" w="9144000">
                  <a:moveTo>
                    <a:pt x="0" y="0"/>
                  </a:moveTo>
                  <a:lnTo>
                    <a:pt x="9144000" y="0"/>
                  </a:lnTo>
                  <a:lnTo>
                    <a:pt x="9144000" y="548640"/>
                  </a:lnTo>
                  <a:lnTo>
                    <a:pt x="0" y="548640"/>
                  </a:lnTo>
                  <a:close/>
                </a:path>
              </a:pathLst>
            </a:custGeom>
            <a:blipFill>
              <a:blip r:embed="rId3">
                <a:alphaModFix amt="0"/>
              </a:blip>
              <a:stretch>
                <a:fillRect l="0" t="-274750" r="0" b="-274750"/>
              </a:stretch>
            </a:blipFill>
          </p:spPr>
        </p:sp>
        <p:sp>
          <p:nvSpPr>
            <p:cNvPr name="TextBox 16" id="16"/>
            <p:cNvSpPr txBox="true"/>
            <p:nvPr/>
          </p:nvSpPr>
          <p:spPr>
            <a:xfrm>
              <a:off x="0" y="0"/>
              <a:ext cx="9144000" cy="548640"/>
            </a:xfrm>
            <a:prstGeom prst="rect">
              <a:avLst/>
            </a:prstGeom>
          </p:spPr>
          <p:txBody>
            <a:bodyPr anchor="ctr" rtlCol="false" tIns="0" lIns="0" bIns="0" rIns="0"/>
            <a:lstStyle/>
            <a:p>
              <a:pPr algn="ctr" rtl="true">
                <a:lnSpc>
                  <a:spcPts val="2160"/>
                </a:lnSpc>
              </a:pPr>
              <a:r>
                <a:rPr lang="ar-EG" sz="1800" spc="18">
                  <a:solidFill>
                    <a:srgbClr val="CDB79A"/>
                  </a:solidFill>
                  <a:latin typeface="XM Traffic"/>
                  <a:ea typeface="XM Traffic"/>
                  <a:cs typeface="XM Traffic"/>
                  <a:sym typeface="XM Traffic"/>
                  <a:rtl val="true"/>
                </a:rPr>
                <a:t>صورة </a:t>
              </a:r>
              <a:r>
                <a:rPr lang="en-US" sz="1800" spc="18">
                  <a:solidFill>
                    <a:srgbClr val="CDB79A"/>
                  </a:solidFill>
                  <a:latin typeface="XM Traffic"/>
                  <a:ea typeface="XM Traffic"/>
                  <a:cs typeface="XM Traffic"/>
                  <a:sym typeface="XM Traffic"/>
                </a:rPr>
                <a:t>١</a:t>
              </a:r>
            </a:p>
          </p:txBody>
        </p:sp>
      </p:grpSp>
      <p:grpSp>
        <p:nvGrpSpPr>
          <p:cNvPr name="Group 17" id="17"/>
          <p:cNvGrpSpPr/>
          <p:nvPr/>
        </p:nvGrpSpPr>
        <p:grpSpPr>
          <a:xfrm rot="0">
            <a:off x="12872180" y="815816"/>
            <a:ext cx="4595432" cy="562928"/>
            <a:chOff x="0" y="0"/>
            <a:chExt cx="6127242" cy="750570"/>
          </a:xfrm>
        </p:grpSpPr>
        <p:sp>
          <p:nvSpPr>
            <p:cNvPr name="Freeform 18" id="18"/>
            <p:cNvSpPr/>
            <p:nvPr/>
          </p:nvSpPr>
          <p:spPr>
            <a:xfrm flipH="false" flipV="false" rot="0">
              <a:off x="0" y="0"/>
              <a:ext cx="6127242" cy="750570"/>
            </a:xfrm>
            <a:custGeom>
              <a:avLst/>
              <a:gdLst/>
              <a:ahLst/>
              <a:cxnLst/>
              <a:rect r="r" b="b" t="t" l="l"/>
              <a:pathLst>
                <a:path h="750570" w="6127242">
                  <a:moveTo>
                    <a:pt x="0" y="375285"/>
                  </a:moveTo>
                  <a:cubicBezTo>
                    <a:pt x="0" y="168021"/>
                    <a:pt x="168021" y="0"/>
                    <a:pt x="375285" y="0"/>
                  </a:cubicBezTo>
                  <a:lnTo>
                    <a:pt x="5751957" y="0"/>
                  </a:lnTo>
                  <a:cubicBezTo>
                    <a:pt x="5959221" y="0"/>
                    <a:pt x="6127242" y="168021"/>
                    <a:pt x="6127242" y="375285"/>
                  </a:cubicBezTo>
                  <a:cubicBezTo>
                    <a:pt x="6127242" y="582549"/>
                    <a:pt x="5959221" y="750570"/>
                    <a:pt x="5751957" y="750570"/>
                  </a:cubicBezTo>
                  <a:lnTo>
                    <a:pt x="375285" y="750570"/>
                  </a:lnTo>
                  <a:cubicBezTo>
                    <a:pt x="168021" y="750570"/>
                    <a:pt x="0" y="582549"/>
                    <a:pt x="0" y="375285"/>
                  </a:cubicBezTo>
                  <a:close/>
                </a:path>
              </a:pathLst>
            </a:custGeom>
            <a:solidFill>
              <a:srgbClr val="D9A66B">
                <a:alpha val="5882"/>
              </a:srgbClr>
            </a:solidFill>
            <a:ln w="14288" cap="sq">
              <a:solidFill>
                <a:srgbClr val="D9A66B"/>
              </a:solidFill>
              <a:prstDash val="solid"/>
              <a:miter/>
            </a:ln>
          </p:spPr>
        </p:sp>
      </p:grpSp>
      <p:grpSp>
        <p:nvGrpSpPr>
          <p:cNvPr name="Group 19" id="19"/>
          <p:cNvGrpSpPr/>
          <p:nvPr/>
        </p:nvGrpSpPr>
        <p:grpSpPr>
          <a:xfrm rot="0">
            <a:off x="16939260" y="946404"/>
            <a:ext cx="301752" cy="301752"/>
            <a:chOff x="0" y="0"/>
            <a:chExt cx="402336" cy="402336"/>
          </a:xfrm>
        </p:grpSpPr>
        <p:sp>
          <p:nvSpPr>
            <p:cNvPr name="Freeform 20" id="20"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4"/>
              <a:stretch>
                <a:fillRect l="0" t="0" r="0" b="0"/>
              </a:stretch>
            </a:blipFill>
          </p:spPr>
        </p:sp>
      </p:grpSp>
      <p:grpSp>
        <p:nvGrpSpPr>
          <p:cNvPr name="Group 21" id="21"/>
          <p:cNvGrpSpPr/>
          <p:nvPr/>
        </p:nvGrpSpPr>
        <p:grpSpPr>
          <a:xfrm rot="0">
            <a:off x="13043916" y="822960"/>
            <a:ext cx="3758184" cy="548640"/>
            <a:chOff x="0" y="0"/>
            <a:chExt cx="5010912" cy="731520"/>
          </a:xfrm>
        </p:grpSpPr>
        <p:sp>
          <p:nvSpPr>
            <p:cNvPr name="Freeform 22" id="22"/>
            <p:cNvSpPr/>
            <p:nvPr/>
          </p:nvSpPr>
          <p:spPr>
            <a:xfrm flipH="false" flipV="false" rot="0">
              <a:off x="0" y="0"/>
              <a:ext cx="5010912" cy="731520"/>
            </a:xfrm>
            <a:custGeom>
              <a:avLst/>
              <a:gdLst/>
              <a:ahLst/>
              <a:cxnLst/>
              <a:rect r="r" b="b" t="t" l="l"/>
              <a:pathLst>
                <a:path h="731520" w="5010912">
                  <a:moveTo>
                    <a:pt x="0" y="0"/>
                  </a:moveTo>
                  <a:lnTo>
                    <a:pt x="5010912" y="0"/>
                  </a:lnTo>
                  <a:lnTo>
                    <a:pt x="5010912" y="731520"/>
                  </a:lnTo>
                  <a:lnTo>
                    <a:pt x="0" y="731520"/>
                  </a:lnTo>
                  <a:close/>
                </a:path>
              </a:pathLst>
            </a:custGeom>
            <a:blipFill>
              <a:blip r:embed="rId3">
                <a:alphaModFix amt="0"/>
              </a:blip>
              <a:stretch>
                <a:fillRect l="0" t="-83472" r="0" b="-83472"/>
              </a:stretch>
            </a:blipFill>
          </p:spPr>
        </p:sp>
        <p:sp>
          <p:nvSpPr>
            <p:cNvPr name="TextBox 23" id="23"/>
            <p:cNvSpPr txBox="true"/>
            <p:nvPr/>
          </p:nvSpPr>
          <p:spPr>
            <a:xfrm>
              <a:off x="0" y="-9525"/>
              <a:ext cx="5010912" cy="741045"/>
            </a:xfrm>
            <a:prstGeom prst="rect">
              <a:avLst/>
            </a:prstGeom>
          </p:spPr>
          <p:txBody>
            <a:bodyPr anchor="ctr" rtlCol="false" tIns="0" lIns="0" bIns="0" rIns="0"/>
            <a:lstStyle/>
            <a:p>
              <a:pPr algn="r" rtl="true">
                <a:lnSpc>
                  <a:spcPts val="2340"/>
                </a:lnSpc>
              </a:pPr>
              <a:r>
                <a:rPr lang="ar-EG" b="true" sz="1950" spc="20">
                  <a:solidFill>
                    <a:srgbClr val="D9A66B"/>
                  </a:solidFill>
                  <a:latin typeface="XM Traffic Bold"/>
                  <a:ea typeface="XM Traffic Bold"/>
                  <a:cs typeface="XM Traffic Bold"/>
                  <a:sym typeface="XM Traffic Bold"/>
                  <a:rtl val="true"/>
                </a:rPr>
                <a:t>ملهم — مساحة لكِ</a:t>
              </a:r>
            </a:p>
          </p:txBody>
        </p:sp>
      </p:grpSp>
      <p:sp>
        <p:nvSpPr>
          <p:cNvPr name="TextBox 24" id="24"/>
          <p:cNvSpPr txBox="true"/>
          <p:nvPr/>
        </p:nvSpPr>
        <p:spPr>
          <a:xfrm rot="0">
            <a:off x="7680960" y="1508760"/>
            <a:ext cx="9779508" cy="1714500"/>
          </a:xfrm>
          <a:prstGeom prst="rect">
            <a:avLst/>
          </a:prstGeom>
        </p:spPr>
        <p:txBody>
          <a:bodyPr anchor="t" rtlCol="false" tIns="0" lIns="0" bIns="0" rIns="0">
            <a:spAutoFit/>
          </a:bodyPr>
          <a:lstStyle/>
          <a:p>
            <a:pPr algn="r" rtl="true">
              <a:lnSpc>
                <a:spcPts val="6480"/>
              </a:lnSpc>
            </a:pPr>
            <a:r>
              <a:rPr lang="ar-EG" b="true" sz="5400" spc="55">
                <a:solidFill>
                  <a:srgbClr val="F3EADB"/>
                </a:solidFill>
                <a:latin typeface="XM Traffic Bold"/>
                <a:ea typeface="XM Traffic Bold"/>
                <a:cs typeface="XM Traffic Bold"/>
                <a:sym typeface="XM Traffic Bold"/>
                <a:rtl val="true"/>
              </a:rPr>
              <a:t>مكانك، وقتك، وتجربتك</a:t>
            </a:r>
          </a:p>
        </p:txBody>
      </p:sp>
      <p:sp>
        <p:nvSpPr>
          <p:cNvPr name="TextBox 25" id="25"/>
          <p:cNvSpPr txBox="true"/>
          <p:nvPr/>
        </p:nvSpPr>
        <p:spPr>
          <a:xfrm rot="0">
            <a:off x="7680960" y="3253740"/>
            <a:ext cx="9779508" cy="1958340"/>
          </a:xfrm>
          <a:prstGeom prst="rect">
            <a:avLst/>
          </a:prstGeom>
        </p:spPr>
        <p:txBody>
          <a:bodyPr anchor="t" rtlCol="false" tIns="0" lIns="0" bIns="0" rIns="0">
            <a:spAutoFit/>
          </a:bodyPr>
          <a:lstStyle/>
          <a:p>
            <a:pPr algn="r">
              <a:lnSpc>
                <a:spcPts val="3104"/>
              </a:lnSpc>
            </a:pPr>
            <a:r>
              <a:rPr lang="ar-EG" sz="2250" spc="23">
                <a:solidFill>
                  <a:srgbClr val="E3D4BC"/>
                </a:solidFill>
                <a:latin typeface="XM Traffic"/>
                <a:ea typeface="XM Traffic"/>
                <a:cs typeface="XM Traffic"/>
                <a:sym typeface="XM Traffic"/>
                <a:rtl val="true"/>
              </a:rPr>
              <a:t>في ملهم، نصنع مساحة تخييم مخصصة للنساء، تمنحهن فرصة للابتعاد عن صخب المدينة والاستمتاع بالطبيعة في أجواء من الخصوصية والراحة والضيافة</a:t>
            </a:r>
            <a:r>
              <a:rPr lang="en-US" sz="2250" spc="23">
                <a:solidFill>
                  <a:srgbClr val="E3D4BC"/>
                </a:solidFill>
                <a:latin typeface="XM Traffic"/>
                <a:ea typeface="XM Traffic"/>
                <a:cs typeface="XM Traffic"/>
                <a:sym typeface="XM Traffic"/>
              </a:rPr>
              <a:t>.</a:t>
            </a:r>
          </a:p>
          <a:p>
            <a:pPr algn="r">
              <a:lnSpc>
                <a:spcPts val="3104"/>
              </a:lnSpc>
            </a:pPr>
            <a:r>
              <a:rPr lang="ar-EG" sz="2250" spc="23">
                <a:solidFill>
                  <a:srgbClr val="E3D4BC"/>
                </a:solidFill>
                <a:latin typeface="XM Traffic"/>
                <a:ea typeface="XM Traffic"/>
                <a:cs typeface="XM Traffic"/>
                <a:sym typeface="XM Traffic"/>
                <a:rtl val="true"/>
              </a:rPr>
              <a:t>وجهة تجمع بين الهدوء، والأنشطة الخارجية، واللقاءات الاجتماعية، وتجارب الاسترخاء في الهواء الطلق</a:t>
            </a:r>
            <a:r>
              <a:rPr lang="en-US" sz="2250" spc="23">
                <a:solidFill>
                  <a:srgbClr val="E3D4BC"/>
                </a:solidFill>
                <a:latin typeface="XM Traffic"/>
                <a:ea typeface="XM Traffic"/>
                <a:cs typeface="XM Traffic"/>
                <a:sym typeface="XM Traffic"/>
              </a:rPr>
              <a:t>.</a:t>
            </a:r>
          </a:p>
        </p:txBody>
      </p:sp>
      <p:grpSp>
        <p:nvGrpSpPr>
          <p:cNvPr name="Group 26" id="26"/>
          <p:cNvGrpSpPr/>
          <p:nvPr/>
        </p:nvGrpSpPr>
        <p:grpSpPr>
          <a:xfrm rot="0">
            <a:off x="7680960" y="5239512"/>
            <a:ext cx="9779508" cy="411480"/>
            <a:chOff x="0" y="0"/>
            <a:chExt cx="13039344" cy="548640"/>
          </a:xfrm>
        </p:grpSpPr>
        <p:sp>
          <p:nvSpPr>
            <p:cNvPr name="Freeform 27" id="27"/>
            <p:cNvSpPr/>
            <p:nvPr/>
          </p:nvSpPr>
          <p:spPr>
            <a:xfrm flipH="false" flipV="false" rot="0">
              <a:off x="0" y="0"/>
              <a:ext cx="13039344" cy="548640"/>
            </a:xfrm>
            <a:custGeom>
              <a:avLst/>
              <a:gdLst/>
              <a:ahLst/>
              <a:cxnLst/>
              <a:rect r="r" b="b" t="t" l="l"/>
              <a:pathLst>
                <a:path h="548640" w="13039344">
                  <a:moveTo>
                    <a:pt x="0" y="0"/>
                  </a:moveTo>
                  <a:lnTo>
                    <a:pt x="13039344" y="0"/>
                  </a:lnTo>
                  <a:lnTo>
                    <a:pt x="13039344" y="548640"/>
                  </a:lnTo>
                  <a:lnTo>
                    <a:pt x="0" y="548640"/>
                  </a:lnTo>
                  <a:close/>
                </a:path>
              </a:pathLst>
            </a:custGeom>
            <a:blipFill>
              <a:blip r:embed="rId3">
                <a:alphaModFix amt="0"/>
              </a:blip>
              <a:stretch>
                <a:fillRect l="0" t="-413094" r="0" b="-413094"/>
              </a:stretch>
            </a:blipFill>
          </p:spPr>
        </p:sp>
        <p:sp>
          <p:nvSpPr>
            <p:cNvPr name="TextBox 28" id="28"/>
            <p:cNvSpPr txBox="true"/>
            <p:nvPr/>
          </p:nvSpPr>
          <p:spPr>
            <a:xfrm>
              <a:off x="0" y="0"/>
              <a:ext cx="13039344" cy="548640"/>
            </a:xfrm>
            <a:prstGeom prst="rect">
              <a:avLst/>
            </a:prstGeom>
          </p:spPr>
          <p:txBody>
            <a:bodyPr anchor="ctr" rtlCol="false" tIns="0" lIns="0" bIns="0" rIns="0"/>
            <a:lstStyle/>
            <a:p>
              <a:pPr algn="r" rtl="true">
                <a:lnSpc>
                  <a:spcPts val="2520"/>
                </a:lnSpc>
              </a:pPr>
              <a:r>
                <a:rPr lang="ar-EG" b="true" sz="2100" spc="21">
                  <a:solidFill>
                    <a:srgbClr val="D9A66B"/>
                  </a:solidFill>
                  <a:latin typeface="XM Traffic Bold"/>
                  <a:ea typeface="XM Traffic Bold"/>
                  <a:cs typeface="XM Traffic Bold"/>
                  <a:sym typeface="XM Traffic Bold"/>
                  <a:rtl val="true"/>
                </a:rPr>
                <a:t>مكونات التجربة</a:t>
              </a:r>
            </a:p>
          </p:txBody>
        </p:sp>
      </p:grpSp>
      <p:grpSp>
        <p:nvGrpSpPr>
          <p:cNvPr name="Group 29" id="29"/>
          <p:cNvGrpSpPr/>
          <p:nvPr/>
        </p:nvGrpSpPr>
        <p:grpSpPr>
          <a:xfrm rot="0">
            <a:off x="12700730" y="5781008"/>
            <a:ext cx="4766882" cy="837248"/>
            <a:chOff x="0" y="0"/>
            <a:chExt cx="6355842" cy="1116330"/>
          </a:xfrm>
        </p:grpSpPr>
        <p:sp>
          <p:nvSpPr>
            <p:cNvPr name="Freeform 30" id="30"/>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31" id="31"/>
          <p:cNvGrpSpPr/>
          <p:nvPr/>
        </p:nvGrpSpPr>
        <p:grpSpPr>
          <a:xfrm rot="0">
            <a:off x="16719804" y="5911596"/>
            <a:ext cx="576072" cy="576072"/>
            <a:chOff x="0" y="0"/>
            <a:chExt cx="768096" cy="768096"/>
          </a:xfrm>
        </p:grpSpPr>
        <p:sp>
          <p:nvSpPr>
            <p:cNvPr name="Freeform 32" id="32"/>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9A66B"/>
            </a:solidFill>
          </p:spPr>
        </p:sp>
      </p:grpSp>
      <p:grpSp>
        <p:nvGrpSpPr>
          <p:cNvPr name="Group 33" id="33"/>
          <p:cNvGrpSpPr/>
          <p:nvPr/>
        </p:nvGrpSpPr>
        <p:grpSpPr>
          <a:xfrm rot="0">
            <a:off x="16863822" y="6055614"/>
            <a:ext cx="288036" cy="288036"/>
            <a:chOff x="0" y="0"/>
            <a:chExt cx="384048" cy="384048"/>
          </a:xfrm>
        </p:grpSpPr>
        <p:sp>
          <p:nvSpPr>
            <p:cNvPr name="Freeform 34" id="34"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5"/>
              <a:stretch>
                <a:fillRect l="0" t="0" r="0" b="0"/>
              </a:stretch>
            </a:blipFill>
          </p:spPr>
        </p:sp>
      </p:grpSp>
      <p:grpSp>
        <p:nvGrpSpPr>
          <p:cNvPr name="Group 35" id="35"/>
          <p:cNvGrpSpPr/>
          <p:nvPr/>
        </p:nvGrpSpPr>
        <p:grpSpPr>
          <a:xfrm rot="0">
            <a:off x="12872466" y="5788152"/>
            <a:ext cx="3682746" cy="822960"/>
            <a:chOff x="0" y="0"/>
            <a:chExt cx="4910328" cy="1097280"/>
          </a:xfrm>
        </p:grpSpPr>
        <p:sp>
          <p:nvSpPr>
            <p:cNvPr name="Freeform 36" id="36"/>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3">
                <a:alphaModFix amt="0"/>
              </a:blip>
              <a:stretch>
                <a:fillRect l="0" t="-37195" r="0" b="-37195"/>
              </a:stretch>
            </a:blipFill>
          </p:spPr>
        </p:sp>
        <p:sp>
          <p:nvSpPr>
            <p:cNvPr name="TextBox 37" id="37"/>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مخيم نسائي بخصوصية واضحة</a:t>
              </a:r>
            </a:p>
          </p:txBody>
        </p:sp>
      </p:grpSp>
      <p:grpSp>
        <p:nvGrpSpPr>
          <p:cNvPr name="Group 38" id="38"/>
          <p:cNvGrpSpPr/>
          <p:nvPr/>
        </p:nvGrpSpPr>
        <p:grpSpPr>
          <a:xfrm rot="0">
            <a:off x="7673816" y="5781008"/>
            <a:ext cx="4766882" cy="837248"/>
            <a:chOff x="0" y="0"/>
            <a:chExt cx="6355842" cy="1116330"/>
          </a:xfrm>
        </p:grpSpPr>
        <p:sp>
          <p:nvSpPr>
            <p:cNvPr name="Freeform 39" id="39"/>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40" id="40"/>
          <p:cNvGrpSpPr/>
          <p:nvPr/>
        </p:nvGrpSpPr>
        <p:grpSpPr>
          <a:xfrm rot="0">
            <a:off x="11692890" y="5911596"/>
            <a:ext cx="576072" cy="576072"/>
            <a:chOff x="0" y="0"/>
            <a:chExt cx="768096" cy="768096"/>
          </a:xfrm>
        </p:grpSpPr>
        <p:sp>
          <p:nvSpPr>
            <p:cNvPr name="Freeform 41" id="4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9A66B"/>
            </a:solidFill>
          </p:spPr>
        </p:sp>
      </p:grpSp>
      <p:grpSp>
        <p:nvGrpSpPr>
          <p:cNvPr name="Group 42" id="42"/>
          <p:cNvGrpSpPr/>
          <p:nvPr/>
        </p:nvGrpSpPr>
        <p:grpSpPr>
          <a:xfrm rot="0">
            <a:off x="11836908" y="6055614"/>
            <a:ext cx="288036" cy="288036"/>
            <a:chOff x="0" y="0"/>
            <a:chExt cx="384048" cy="384048"/>
          </a:xfrm>
        </p:grpSpPr>
        <p:sp>
          <p:nvSpPr>
            <p:cNvPr name="Freeform 43" id="43"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6"/>
              <a:stretch>
                <a:fillRect l="0" t="0" r="0" b="0"/>
              </a:stretch>
            </a:blipFill>
          </p:spPr>
        </p:sp>
      </p:grpSp>
      <p:grpSp>
        <p:nvGrpSpPr>
          <p:cNvPr name="Group 44" id="44"/>
          <p:cNvGrpSpPr/>
          <p:nvPr/>
        </p:nvGrpSpPr>
        <p:grpSpPr>
          <a:xfrm rot="0">
            <a:off x="7845552" y="5788152"/>
            <a:ext cx="3682746" cy="822960"/>
            <a:chOff x="0" y="0"/>
            <a:chExt cx="4910328" cy="1097280"/>
          </a:xfrm>
        </p:grpSpPr>
        <p:sp>
          <p:nvSpPr>
            <p:cNvPr name="Freeform 45" id="45"/>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3">
                <a:alphaModFix amt="0"/>
              </a:blip>
              <a:stretch>
                <a:fillRect l="0" t="-37195" r="0" b="-37195"/>
              </a:stretch>
            </a:blipFill>
          </p:spPr>
        </p:sp>
        <p:sp>
          <p:nvSpPr>
            <p:cNvPr name="TextBox 46" id="46"/>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جلسات خارجية ومناطق للاسترخاء</a:t>
              </a:r>
            </a:p>
          </p:txBody>
        </p:sp>
      </p:grpSp>
      <p:grpSp>
        <p:nvGrpSpPr>
          <p:cNvPr name="Group 47" id="47"/>
          <p:cNvGrpSpPr/>
          <p:nvPr/>
        </p:nvGrpSpPr>
        <p:grpSpPr>
          <a:xfrm rot="0">
            <a:off x="12700730" y="6713696"/>
            <a:ext cx="4766882" cy="837248"/>
            <a:chOff x="0" y="0"/>
            <a:chExt cx="6355842" cy="1116330"/>
          </a:xfrm>
        </p:grpSpPr>
        <p:sp>
          <p:nvSpPr>
            <p:cNvPr name="Freeform 48" id="48"/>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49" id="49"/>
          <p:cNvGrpSpPr/>
          <p:nvPr/>
        </p:nvGrpSpPr>
        <p:grpSpPr>
          <a:xfrm rot="0">
            <a:off x="16719804" y="6844284"/>
            <a:ext cx="576072" cy="576072"/>
            <a:chOff x="0" y="0"/>
            <a:chExt cx="768096" cy="768096"/>
          </a:xfrm>
        </p:grpSpPr>
        <p:sp>
          <p:nvSpPr>
            <p:cNvPr name="Freeform 50" id="5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9A66B"/>
            </a:solidFill>
          </p:spPr>
        </p:sp>
      </p:grpSp>
      <p:grpSp>
        <p:nvGrpSpPr>
          <p:cNvPr name="Group 51" id="51"/>
          <p:cNvGrpSpPr/>
          <p:nvPr/>
        </p:nvGrpSpPr>
        <p:grpSpPr>
          <a:xfrm rot="0">
            <a:off x="16863822" y="6988302"/>
            <a:ext cx="288036" cy="288036"/>
            <a:chOff x="0" y="0"/>
            <a:chExt cx="384048" cy="384048"/>
          </a:xfrm>
        </p:grpSpPr>
        <p:sp>
          <p:nvSpPr>
            <p:cNvPr name="Freeform 52" id="52"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7"/>
              <a:stretch>
                <a:fillRect l="0" t="0" r="0" b="0"/>
              </a:stretch>
            </a:blipFill>
          </p:spPr>
        </p:sp>
      </p:grpSp>
      <p:grpSp>
        <p:nvGrpSpPr>
          <p:cNvPr name="Group 53" id="53"/>
          <p:cNvGrpSpPr/>
          <p:nvPr/>
        </p:nvGrpSpPr>
        <p:grpSpPr>
          <a:xfrm rot="0">
            <a:off x="12872466" y="6720840"/>
            <a:ext cx="3682746" cy="822960"/>
            <a:chOff x="0" y="0"/>
            <a:chExt cx="4910328" cy="1097280"/>
          </a:xfrm>
        </p:grpSpPr>
        <p:sp>
          <p:nvSpPr>
            <p:cNvPr name="Freeform 54" id="54"/>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3">
                <a:alphaModFix amt="0"/>
              </a:blip>
              <a:stretch>
                <a:fillRect l="0" t="-37195" r="0" b="-37195"/>
              </a:stretch>
            </a:blipFill>
          </p:spPr>
        </p:sp>
        <p:sp>
          <p:nvSpPr>
            <p:cNvPr name="TextBox 55" id="55"/>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مساحات مخصصة للخيام</a:t>
              </a:r>
            </a:p>
          </p:txBody>
        </p:sp>
      </p:grpSp>
      <p:grpSp>
        <p:nvGrpSpPr>
          <p:cNvPr name="Group 56" id="56"/>
          <p:cNvGrpSpPr/>
          <p:nvPr/>
        </p:nvGrpSpPr>
        <p:grpSpPr>
          <a:xfrm rot="0">
            <a:off x="7673816" y="6713696"/>
            <a:ext cx="4766882" cy="837248"/>
            <a:chOff x="0" y="0"/>
            <a:chExt cx="6355842" cy="1116330"/>
          </a:xfrm>
        </p:grpSpPr>
        <p:sp>
          <p:nvSpPr>
            <p:cNvPr name="Freeform 57" id="57"/>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58" id="58"/>
          <p:cNvGrpSpPr/>
          <p:nvPr/>
        </p:nvGrpSpPr>
        <p:grpSpPr>
          <a:xfrm rot="0">
            <a:off x="11692890" y="6844284"/>
            <a:ext cx="576072" cy="576072"/>
            <a:chOff x="0" y="0"/>
            <a:chExt cx="768096" cy="768096"/>
          </a:xfrm>
        </p:grpSpPr>
        <p:sp>
          <p:nvSpPr>
            <p:cNvPr name="Freeform 59" id="59"/>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9A66B"/>
            </a:solidFill>
          </p:spPr>
        </p:sp>
      </p:grpSp>
      <p:grpSp>
        <p:nvGrpSpPr>
          <p:cNvPr name="Group 60" id="60"/>
          <p:cNvGrpSpPr/>
          <p:nvPr/>
        </p:nvGrpSpPr>
        <p:grpSpPr>
          <a:xfrm rot="0">
            <a:off x="11836908" y="6988302"/>
            <a:ext cx="288036" cy="288036"/>
            <a:chOff x="0" y="0"/>
            <a:chExt cx="384048" cy="384048"/>
          </a:xfrm>
        </p:grpSpPr>
        <p:sp>
          <p:nvSpPr>
            <p:cNvPr name="Freeform 61" id="61"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8"/>
              <a:stretch>
                <a:fillRect l="0" t="0" r="0" b="0"/>
              </a:stretch>
            </a:blipFill>
          </p:spPr>
        </p:sp>
      </p:grpSp>
      <p:grpSp>
        <p:nvGrpSpPr>
          <p:cNvPr name="Group 62" id="62"/>
          <p:cNvGrpSpPr/>
          <p:nvPr/>
        </p:nvGrpSpPr>
        <p:grpSpPr>
          <a:xfrm rot="0">
            <a:off x="7845552" y="6720840"/>
            <a:ext cx="3682746" cy="822960"/>
            <a:chOff x="0" y="0"/>
            <a:chExt cx="4910328" cy="1097280"/>
          </a:xfrm>
        </p:grpSpPr>
        <p:sp>
          <p:nvSpPr>
            <p:cNvPr name="Freeform 63" id="63"/>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3">
                <a:alphaModFix amt="0"/>
              </a:blip>
              <a:stretch>
                <a:fillRect l="0" t="-37195" r="0" b="-37195"/>
              </a:stretch>
            </a:blipFill>
          </p:spPr>
        </p:sp>
        <p:sp>
          <p:nvSpPr>
            <p:cNvPr name="TextBox 64" id="64"/>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منطقة استقبال وضيافة</a:t>
              </a:r>
            </a:p>
          </p:txBody>
        </p:sp>
      </p:grpSp>
      <p:grpSp>
        <p:nvGrpSpPr>
          <p:cNvPr name="Group 65" id="65"/>
          <p:cNvGrpSpPr/>
          <p:nvPr/>
        </p:nvGrpSpPr>
        <p:grpSpPr>
          <a:xfrm rot="0">
            <a:off x="12700730" y="7646384"/>
            <a:ext cx="4766882" cy="837248"/>
            <a:chOff x="0" y="0"/>
            <a:chExt cx="6355842" cy="1116330"/>
          </a:xfrm>
        </p:grpSpPr>
        <p:sp>
          <p:nvSpPr>
            <p:cNvPr name="Freeform 66" id="66"/>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67" id="67"/>
          <p:cNvGrpSpPr/>
          <p:nvPr/>
        </p:nvGrpSpPr>
        <p:grpSpPr>
          <a:xfrm rot="0">
            <a:off x="16719804" y="7776972"/>
            <a:ext cx="576072" cy="576072"/>
            <a:chOff x="0" y="0"/>
            <a:chExt cx="768096" cy="768096"/>
          </a:xfrm>
        </p:grpSpPr>
        <p:sp>
          <p:nvSpPr>
            <p:cNvPr name="Freeform 68" id="68"/>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9A66B"/>
            </a:solidFill>
          </p:spPr>
        </p:sp>
      </p:grpSp>
      <p:grpSp>
        <p:nvGrpSpPr>
          <p:cNvPr name="Group 69" id="69"/>
          <p:cNvGrpSpPr/>
          <p:nvPr/>
        </p:nvGrpSpPr>
        <p:grpSpPr>
          <a:xfrm rot="0">
            <a:off x="16863822" y="7920990"/>
            <a:ext cx="288036" cy="288036"/>
            <a:chOff x="0" y="0"/>
            <a:chExt cx="384048" cy="384048"/>
          </a:xfrm>
        </p:grpSpPr>
        <p:sp>
          <p:nvSpPr>
            <p:cNvPr name="Freeform 70" id="70"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9"/>
              <a:stretch>
                <a:fillRect l="0" t="0" r="0" b="0"/>
              </a:stretch>
            </a:blipFill>
          </p:spPr>
        </p:sp>
      </p:grpSp>
      <p:grpSp>
        <p:nvGrpSpPr>
          <p:cNvPr name="Group 71" id="71"/>
          <p:cNvGrpSpPr/>
          <p:nvPr/>
        </p:nvGrpSpPr>
        <p:grpSpPr>
          <a:xfrm rot="0">
            <a:off x="12872466" y="7653528"/>
            <a:ext cx="3682746" cy="822960"/>
            <a:chOff x="0" y="0"/>
            <a:chExt cx="4910328" cy="1097280"/>
          </a:xfrm>
        </p:grpSpPr>
        <p:sp>
          <p:nvSpPr>
            <p:cNvPr name="Freeform 72" id="72"/>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3">
                <a:alphaModFix amt="0"/>
              </a:blip>
              <a:stretch>
                <a:fillRect l="0" t="-37195" r="0" b="-37195"/>
              </a:stretch>
            </a:blipFill>
          </p:spPr>
        </p:sp>
        <p:sp>
          <p:nvSpPr>
            <p:cNvPr name="TextBox 73" id="73"/>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زوايا تصوير بطابع طبيعي</a:t>
              </a:r>
            </a:p>
          </p:txBody>
        </p:sp>
      </p:grpSp>
      <p:grpSp>
        <p:nvGrpSpPr>
          <p:cNvPr name="Group 74" id="74"/>
          <p:cNvGrpSpPr/>
          <p:nvPr/>
        </p:nvGrpSpPr>
        <p:grpSpPr>
          <a:xfrm rot="0">
            <a:off x="7673816" y="7646384"/>
            <a:ext cx="4766882" cy="837248"/>
            <a:chOff x="0" y="0"/>
            <a:chExt cx="6355842" cy="1116330"/>
          </a:xfrm>
        </p:grpSpPr>
        <p:sp>
          <p:nvSpPr>
            <p:cNvPr name="Freeform 75" id="75"/>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76" id="76"/>
          <p:cNvGrpSpPr/>
          <p:nvPr/>
        </p:nvGrpSpPr>
        <p:grpSpPr>
          <a:xfrm rot="0">
            <a:off x="11692890" y="7776972"/>
            <a:ext cx="576072" cy="576072"/>
            <a:chOff x="0" y="0"/>
            <a:chExt cx="768096" cy="768096"/>
          </a:xfrm>
        </p:grpSpPr>
        <p:sp>
          <p:nvSpPr>
            <p:cNvPr name="Freeform 77" id="77"/>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9A66B"/>
            </a:solidFill>
          </p:spPr>
        </p:sp>
      </p:grpSp>
      <p:grpSp>
        <p:nvGrpSpPr>
          <p:cNvPr name="Group 78" id="78"/>
          <p:cNvGrpSpPr/>
          <p:nvPr/>
        </p:nvGrpSpPr>
        <p:grpSpPr>
          <a:xfrm rot="0">
            <a:off x="11836908" y="7920990"/>
            <a:ext cx="288036" cy="288036"/>
            <a:chOff x="0" y="0"/>
            <a:chExt cx="384048" cy="384048"/>
          </a:xfrm>
        </p:grpSpPr>
        <p:sp>
          <p:nvSpPr>
            <p:cNvPr name="Freeform 79" id="79"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0"/>
              <a:stretch>
                <a:fillRect l="0" t="0" r="0" b="0"/>
              </a:stretch>
            </a:blipFill>
          </p:spPr>
        </p:sp>
      </p:grpSp>
      <p:grpSp>
        <p:nvGrpSpPr>
          <p:cNvPr name="Group 80" id="80"/>
          <p:cNvGrpSpPr/>
          <p:nvPr/>
        </p:nvGrpSpPr>
        <p:grpSpPr>
          <a:xfrm rot="0">
            <a:off x="7845552" y="7653528"/>
            <a:ext cx="3682746" cy="822960"/>
            <a:chOff x="0" y="0"/>
            <a:chExt cx="4910328" cy="1097280"/>
          </a:xfrm>
        </p:grpSpPr>
        <p:sp>
          <p:nvSpPr>
            <p:cNvPr name="Freeform 81" id="81"/>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3">
                <a:alphaModFix amt="0"/>
              </a:blip>
              <a:stretch>
                <a:fillRect l="0" t="-37195" r="0" b="-37195"/>
              </a:stretch>
            </a:blipFill>
          </p:spPr>
        </p:sp>
        <p:sp>
          <p:nvSpPr>
            <p:cNvPr name="TextBox 82" id="82"/>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تصميم متناسق مع البيئة المحيطة</a:t>
              </a:r>
            </a:p>
          </p:txBody>
        </p:sp>
      </p:grpSp>
      <p:grpSp>
        <p:nvGrpSpPr>
          <p:cNvPr name="Group 83" id="83"/>
          <p:cNvGrpSpPr/>
          <p:nvPr/>
        </p:nvGrpSpPr>
        <p:grpSpPr>
          <a:xfrm rot="0">
            <a:off x="7680960" y="9669780"/>
            <a:ext cx="9779508" cy="342900"/>
            <a:chOff x="0" y="0"/>
            <a:chExt cx="13039344" cy="457200"/>
          </a:xfrm>
        </p:grpSpPr>
        <p:sp>
          <p:nvSpPr>
            <p:cNvPr name="Freeform 84" id="84"/>
            <p:cNvSpPr/>
            <p:nvPr/>
          </p:nvSpPr>
          <p:spPr>
            <a:xfrm flipH="false" flipV="false" rot="0">
              <a:off x="0" y="0"/>
              <a:ext cx="13039344" cy="457200"/>
            </a:xfrm>
            <a:custGeom>
              <a:avLst/>
              <a:gdLst/>
              <a:ahLst/>
              <a:cxnLst/>
              <a:rect r="r" b="b" t="t" l="l"/>
              <a:pathLst>
                <a:path h="457200" w="13039344">
                  <a:moveTo>
                    <a:pt x="0" y="0"/>
                  </a:moveTo>
                  <a:lnTo>
                    <a:pt x="13039344" y="0"/>
                  </a:lnTo>
                  <a:lnTo>
                    <a:pt x="13039344" y="457200"/>
                  </a:lnTo>
                  <a:lnTo>
                    <a:pt x="0" y="457200"/>
                  </a:lnTo>
                  <a:close/>
                </a:path>
              </a:pathLst>
            </a:custGeom>
            <a:blipFill>
              <a:blip r:embed="rId3">
                <a:alphaModFix amt="0"/>
              </a:blip>
              <a:stretch>
                <a:fillRect l="0" t="-505713" r="0" b="-505713"/>
              </a:stretch>
            </a:blipFill>
          </p:spPr>
        </p:sp>
        <p:sp>
          <p:nvSpPr>
            <p:cNvPr name="TextBox 85" id="85"/>
            <p:cNvSpPr txBox="true"/>
            <p:nvPr/>
          </p:nvSpPr>
          <p:spPr>
            <a:xfrm>
              <a:off x="0" y="0"/>
              <a:ext cx="13039344" cy="457200"/>
            </a:xfrm>
            <a:prstGeom prst="rect">
              <a:avLst/>
            </a:prstGeom>
          </p:spPr>
          <p:txBody>
            <a:bodyPr anchor="ctr" rtlCol="false" tIns="0" lIns="0" bIns="0" rIns="0"/>
            <a:lstStyle/>
            <a:p>
              <a:pPr algn="r" rtl="true">
                <a:lnSpc>
                  <a:spcPts val="1800"/>
                </a:lnSpc>
              </a:pPr>
              <a:r>
                <a:rPr lang="ar-EG" sz="1500" spc="15">
                  <a:solidFill>
                    <a:srgbClr val="CDB79A"/>
                  </a:solidFill>
                  <a:latin typeface="XM Traffic"/>
                  <a:ea typeface="XM Traffic"/>
                  <a:cs typeface="XM Traffic"/>
                  <a:sym typeface="XM Traffic"/>
                  <a:rtl val="true"/>
                </a:rPr>
                <a:t>تصوّر تطويري مقترح</a:t>
              </a:r>
            </a:p>
          </p:txBody>
        </p:sp>
      </p:grpSp>
      <p:grpSp>
        <p:nvGrpSpPr>
          <p:cNvPr name="Group 86" id="86"/>
          <p:cNvGrpSpPr/>
          <p:nvPr/>
        </p:nvGrpSpPr>
        <p:grpSpPr>
          <a:xfrm rot="0">
            <a:off x="9392183" y="815816"/>
            <a:ext cx="3314290" cy="562928"/>
            <a:chOff x="0" y="0"/>
            <a:chExt cx="4419054" cy="750570"/>
          </a:xfrm>
        </p:grpSpPr>
        <p:sp>
          <p:nvSpPr>
            <p:cNvPr name="Freeform 87" id="87" descr="رابط الموقع على خرائط قوقل">
              <a:hlinkClick r:id="rId11" tooltip="https://www.google.com/maps/search/?api=1&amp;query=%D9%85%D9%84%D9%87%D9%85"/>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D9A66B"/>
            </a:solidFill>
            <a:ln w="14288" cap="sq">
              <a:solidFill>
                <a:srgbClr val="D9A66B"/>
              </a:solidFill>
              <a:prstDash val="solid"/>
              <a:miter/>
            </a:ln>
          </p:spPr>
        </p:sp>
      </p:grpSp>
      <p:grpSp>
        <p:nvGrpSpPr>
          <p:cNvPr name="Group 88" id="88"/>
          <p:cNvGrpSpPr/>
          <p:nvPr/>
        </p:nvGrpSpPr>
        <p:grpSpPr>
          <a:xfrm rot="0">
            <a:off x="12202573" y="946404"/>
            <a:ext cx="301752" cy="301752"/>
            <a:chOff x="0" y="0"/>
            <a:chExt cx="402336" cy="402336"/>
          </a:xfrm>
        </p:grpSpPr>
        <p:sp>
          <p:nvSpPr>
            <p:cNvPr name="Freeform 89" id="89"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2"/>
              <a:stretch>
                <a:fillRect l="0" t="0" r="0" b="0"/>
              </a:stretch>
            </a:blipFill>
          </p:spPr>
        </p:sp>
      </p:grpSp>
      <p:grpSp>
        <p:nvGrpSpPr>
          <p:cNvPr name="Group 90" id="90"/>
          <p:cNvGrpSpPr/>
          <p:nvPr/>
        </p:nvGrpSpPr>
        <p:grpSpPr>
          <a:xfrm rot="0">
            <a:off x="9549327" y="822960"/>
            <a:ext cx="2548252" cy="548640"/>
            <a:chOff x="0" y="0"/>
            <a:chExt cx="3397669" cy="731520"/>
          </a:xfrm>
        </p:grpSpPr>
        <p:sp>
          <p:nvSpPr>
            <p:cNvPr name="Freeform 91" id="91"/>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3">
                <a:alphaModFix amt="0"/>
              </a:blip>
              <a:stretch>
                <a:fillRect l="0" t="-40501" r="0" b="-40501"/>
              </a:stretch>
            </a:blipFill>
          </p:spPr>
        </p:sp>
        <p:sp>
          <p:nvSpPr>
            <p:cNvPr name="TextBox 92" id="92"/>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a:solidFill>
                    <a:srgbClr val="3E2D21"/>
                  </a:solidFill>
                  <a:latin typeface="XM Traffic Bold"/>
                  <a:ea typeface="XM Traffic Bold"/>
                  <a:cs typeface="XM Traffic Bold"/>
                  <a:sym typeface="XM Traffic Bold"/>
                  <a:rtl val="true"/>
                </a:rPr>
                <a:t>الموقع على قوقل ماب</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92976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8C5A35">
                <a:alpha val="1961"/>
              </a:srgbClr>
            </a:solidFill>
          </p:spPr>
        </p:sp>
      </p:grpSp>
      <p:grpSp>
        <p:nvGrpSpPr>
          <p:cNvPr name="Group 5" id="5"/>
          <p:cNvGrpSpPr/>
          <p:nvPr/>
        </p:nvGrpSpPr>
        <p:grpSpPr>
          <a:xfrm rot="0">
            <a:off x="11372374" y="-11906"/>
            <a:ext cx="7567612" cy="10310812"/>
            <a:chOff x="0" y="0"/>
            <a:chExt cx="10090150" cy="13747750"/>
          </a:xfrm>
        </p:grpSpPr>
        <p:sp>
          <p:nvSpPr>
            <p:cNvPr name="Freeform 6" id="6"/>
            <p:cNvSpPr/>
            <p:nvPr/>
          </p:nvSpPr>
          <p:spPr>
            <a:xfrm flipH="false" flipV="false" rot="0">
              <a:off x="0" y="0"/>
              <a:ext cx="10090150" cy="13747877"/>
            </a:xfrm>
            <a:custGeom>
              <a:avLst/>
              <a:gdLst/>
              <a:ahLst/>
              <a:cxnLst/>
              <a:rect r="r" b="b" t="t" l="l"/>
              <a:pathLst>
                <a:path h="13747877" w="10090150">
                  <a:moveTo>
                    <a:pt x="0" y="825627"/>
                  </a:moveTo>
                  <a:cubicBezTo>
                    <a:pt x="0" y="369570"/>
                    <a:pt x="369570" y="0"/>
                    <a:pt x="825627" y="0"/>
                  </a:cubicBezTo>
                  <a:lnTo>
                    <a:pt x="9264523" y="0"/>
                  </a:lnTo>
                  <a:cubicBezTo>
                    <a:pt x="9720453" y="0"/>
                    <a:pt x="10090150" y="369570"/>
                    <a:pt x="10090150" y="825627"/>
                  </a:cubicBezTo>
                  <a:lnTo>
                    <a:pt x="10090150" y="12922250"/>
                  </a:lnTo>
                  <a:cubicBezTo>
                    <a:pt x="10090150" y="13378180"/>
                    <a:pt x="9720580" y="13747877"/>
                    <a:pt x="9264523" y="13747877"/>
                  </a:cubicBezTo>
                  <a:lnTo>
                    <a:pt x="825627" y="13747877"/>
                  </a:lnTo>
                  <a:cubicBezTo>
                    <a:pt x="369570" y="13747750"/>
                    <a:pt x="0" y="13378180"/>
                    <a:pt x="0" y="12922123"/>
                  </a:cubicBezTo>
                  <a:close/>
                </a:path>
              </a:pathLst>
            </a:custGeom>
            <a:solidFill>
              <a:srgbClr val="E6D6BC"/>
            </a:solidFill>
            <a:ln w="23812" cap="sq">
              <a:solidFill>
                <a:srgbClr val="A68460"/>
              </a:solidFill>
              <a:prstDash val="dash"/>
              <a:miter/>
            </a:ln>
          </p:spPr>
        </p:sp>
      </p:grpSp>
      <p:grpSp>
        <p:nvGrpSpPr>
          <p:cNvPr name="Group 7" id="7"/>
          <p:cNvGrpSpPr/>
          <p:nvPr/>
        </p:nvGrpSpPr>
        <p:grpSpPr>
          <a:xfrm rot="0">
            <a:off x="11624024" y="239744"/>
            <a:ext cx="7064312" cy="9807512"/>
            <a:chOff x="0" y="0"/>
            <a:chExt cx="9419082" cy="13076682"/>
          </a:xfrm>
        </p:grpSpPr>
        <p:sp>
          <p:nvSpPr>
            <p:cNvPr name="Freeform 8" id="8"/>
            <p:cNvSpPr/>
            <p:nvPr/>
          </p:nvSpPr>
          <p:spPr>
            <a:xfrm flipH="false" flipV="false" rot="0">
              <a:off x="0" y="0"/>
              <a:ext cx="9419082" cy="13076682"/>
            </a:xfrm>
            <a:custGeom>
              <a:avLst/>
              <a:gdLst/>
              <a:ahLst/>
              <a:cxnLst/>
              <a:rect r="r" b="b" t="t" l="l"/>
              <a:pathLst>
                <a:path h="13076682" w="9419082">
                  <a:moveTo>
                    <a:pt x="0" y="604647"/>
                  </a:moveTo>
                  <a:cubicBezTo>
                    <a:pt x="0" y="270764"/>
                    <a:pt x="270764" y="0"/>
                    <a:pt x="604647" y="0"/>
                  </a:cubicBezTo>
                  <a:lnTo>
                    <a:pt x="8814435" y="0"/>
                  </a:lnTo>
                  <a:cubicBezTo>
                    <a:pt x="9148445" y="0"/>
                    <a:pt x="9419082" y="270764"/>
                    <a:pt x="9419082" y="604647"/>
                  </a:cubicBezTo>
                  <a:lnTo>
                    <a:pt x="9419082" y="12472035"/>
                  </a:lnTo>
                  <a:cubicBezTo>
                    <a:pt x="9419082" y="12806045"/>
                    <a:pt x="9148318" y="13076682"/>
                    <a:pt x="8814435" y="13076682"/>
                  </a:cubicBezTo>
                  <a:lnTo>
                    <a:pt x="604647" y="13076682"/>
                  </a:lnTo>
                  <a:cubicBezTo>
                    <a:pt x="270637" y="13076682"/>
                    <a:pt x="0" y="12805918"/>
                    <a:pt x="0" y="12472035"/>
                  </a:cubicBezTo>
                  <a:close/>
                </a:path>
              </a:pathLst>
            </a:custGeom>
            <a:blipFill>
              <a:blip r:embed="rId3">
                <a:alphaModFix amt="0"/>
              </a:blip>
              <a:stretch>
                <a:fillRect l="-128126" t="0" r="-128126" b="0"/>
              </a:stretch>
            </a:blipFill>
            <a:ln w="14288" cap="sq">
              <a:solidFill>
                <a:srgbClr val="8C5A35"/>
              </a:solidFill>
              <a:prstDash val="solid"/>
              <a:miter/>
            </a:ln>
          </p:spPr>
        </p:sp>
      </p:grpSp>
      <p:grpSp>
        <p:nvGrpSpPr>
          <p:cNvPr name="Group 9" id="9"/>
          <p:cNvGrpSpPr/>
          <p:nvPr/>
        </p:nvGrpSpPr>
        <p:grpSpPr>
          <a:xfrm rot="0">
            <a:off x="13667994" y="3086100"/>
            <a:ext cx="2331720" cy="2331720"/>
            <a:chOff x="0" y="0"/>
            <a:chExt cx="3108960" cy="3108960"/>
          </a:xfrm>
        </p:grpSpPr>
        <p:sp>
          <p:nvSpPr>
            <p:cNvPr name="Freeform 10" id="10" descr="preencoded.png"/>
            <p:cNvSpPr/>
            <p:nvPr/>
          </p:nvSpPr>
          <p:spPr>
            <a:xfrm flipH="false" flipV="false" rot="0">
              <a:off x="0" y="0"/>
              <a:ext cx="3108960" cy="3108960"/>
            </a:xfrm>
            <a:custGeom>
              <a:avLst/>
              <a:gdLst/>
              <a:ahLst/>
              <a:cxnLst/>
              <a:rect r="r" b="b" t="t" l="l"/>
              <a:pathLst>
                <a:path h="3108960" w="3108960">
                  <a:moveTo>
                    <a:pt x="0" y="0"/>
                  </a:moveTo>
                  <a:lnTo>
                    <a:pt x="3108960" y="0"/>
                  </a:lnTo>
                  <a:lnTo>
                    <a:pt x="3108960" y="3108960"/>
                  </a:lnTo>
                  <a:lnTo>
                    <a:pt x="0" y="3108960"/>
                  </a:lnTo>
                  <a:lnTo>
                    <a:pt x="0" y="0"/>
                  </a:lnTo>
                  <a:close/>
                </a:path>
              </a:pathLst>
            </a:custGeom>
            <a:blipFill>
              <a:blip r:embed="rId4">
                <a:alphaModFix amt="65000"/>
              </a:blip>
              <a:stretch>
                <a:fillRect l="0" t="0" r="0" b="0"/>
              </a:stretch>
            </a:blipFill>
          </p:spPr>
        </p:sp>
      </p:grpSp>
      <p:grpSp>
        <p:nvGrpSpPr>
          <p:cNvPr name="Group 11" id="11"/>
          <p:cNvGrpSpPr/>
          <p:nvPr/>
        </p:nvGrpSpPr>
        <p:grpSpPr>
          <a:xfrm rot="0">
            <a:off x="11384280" y="5760720"/>
            <a:ext cx="6899148" cy="548640"/>
            <a:chOff x="0" y="0"/>
            <a:chExt cx="9198864" cy="731520"/>
          </a:xfrm>
        </p:grpSpPr>
        <p:sp>
          <p:nvSpPr>
            <p:cNvPr name="Freeform 12" id="12"/>
            <p:cNvSpPr/>
            <p:nvPr/>
          </p:nvSpPr>
          <p:spPr>
            <a:xfrm flipH="false" flipV="false" rot="0">
              <a:off x="0" y="0"/>
              <a:ext cx="9198864" cy="731520"/>
            </a:xfrm>
            <a:custGeom>
              <a:avLst/>
              <a:gdLst/>
              <a:ahLst/>
              <a:cxnLst/>
              <a:rect r="r" b="b" t="t" l="l"/>
              <a:pathLst>
                <a:path h="731520" w="9198864">
                  <a:moveTo>
                    <a:pt x="0" y="0"/>
                  </a:moveTo>
                  <a:lnTo>
                    <a:pt x="9198864" y="0"/>
                  </a:lnTo>
                  <a:lnTo>
                    <a:pt x="9198864" y="731520"/>
                  </a:lnTo>
                  <a:lnTo>
                    <a:pt x="0" y="731520"/>
                  </a:lnTo>
                  <a:close/>
                </a:path>
              </a:pathLst>
            </a:custGeom>
            <a:blipFill>
              <a:blip r:embed="rId3">
                <a:alphaModFix amt="0"/>
              </a:blip>
              <a:stretch>
                <a:fillRect l="0" t="-195024" r="0" b="-195024"/>
              </a:stretch>
            </a:blipFill>
          </p:spPr>
        </p:sp>
        <p:sp>
          <p:nvSpPr>
            <p:cNvPr name="TextBox 13" id="13"/>
            <p:cNvSpPr txBox="true"/>
            <p:nvPr/>
          </p:nvSpPr>
          <p:spPr>
            <a:xfrm>
              <a:off x="0" y="-9525"/>
              <a:ext cx="9198864" cy="741045"/>
            </a:xfrm>
            <a:prstGeom prst="rect">
              <a:avLst/>
            </a:prstGeom>
          </p:spPr>
          <p:txBody>
            <a:bodyPr anchor="ctr" rtlCol="false" tIns="0" lIns="0" bIns="0" rIns="0"/>
            <a:lstStyle/>
            <a:p>
              <a:pPr algn="ctr" rtl="true">
                <a:lnSpc>
                  <a:spcPts val="3240"/>
                </a:lnSpc>
              </a:pPr>
              <a:r>
                <a:rPr lang="ar-EG" b="true" sz="2700" spc="27">
                  <a:solidFill>
                    <a:srgbClr val="7A5C44"/>
                  </a:solidFill>
                  <a:latin typeface="XM Traffic Bold"/>
                  <a:ea typeface="XM Traffic Bold"/>
                  <a:cs typeface="XM Traffic Bold"/>
                  <a:sym typeface="XM Traffic Bold"/>
                  <a:rtl val="true"/>
                </a:rPr>
                <a:t>مساحة الصورة</a:t>
              </a:r>
            </a:p>
          </p:txBody>
        </p:sp>
      </p:grpSp>
      <p:grpSp>
        <p:nvGrpSpPr>
          <p:cNvPr name="Group 14" id="14"/>
          <p:cNvGrpSpPr/>
          <p:nvPr/>
        </p:nvGrpSpPr>
        <p:grpSpPr>
          <a:xfrm rot="0">
            <a:off x="11384280" y="6377940"/>
            <a:ext cx="6899148" cy="411480"/>
            <a:chOff x="0" y="0"/>
            <a:chExt cx="9198864" cy="548640"/>
          </a:xfrm>
        </p:grpSpPr>
        <p:sp>
          <p:nvSpPr>
            <p:cNvPr name="Freeform 15" id="15"/>
            <p:cNvSpPr/>
            <p:nvPr/>
          </p:nvSpPr>
          <p:spPr>
            <a:xfrm flipH="false" flipV="false" rot="0">
              <a:off x="0" y="0"/>
              <a:ext cx="9198864" cy="548640"/>
            </a:xfrm>
            <a:custGeom>
              <a:avLst/>
              <a:gdLst/>
              <a:ahLst/>
              <a:cxnLst/>
              <a:rect r="r" b="b" t="t" l="l"/>
              <a:pathLst>
                <a:path h="548640" w="9198864">
                  <a:moveTo>
                    <a:pt x="0" y="0"/>
                  </a:moveTo>
                  <a:lnTo>
                    <a:pt x="9198864" y="0"/>
                  </a:lnTo>
                  <a:lnTo>
                    <a:pt x="9198864" y="548640"/>
                  </a:lnTo>
                  <a:lnTo>
                    <a:pt x="0" y="548640"/>
                  </a:lnTo>
                  <a:close/>
                </a:path>
              </a:pathLst>
            </a:custGeom>
            <a:blipFill>
              <a:blip r:embed="rId3">
                <a:alphaModFix amt="0"/>
              </a:blip>
              <a:stretch>
                <a:fillRect l="0" t="-276699" r="0" b="-276699"/>
              </a:stretch>
            </a:blipFill>
          </p:spPr>
        </p:sp>
        <p:sp>
          <p:nvSpPr>
            <p:cNvPr name="TextBox 16" id="16"/>
            <p:cNvSpPr txBox="true"/>
            <p:nvPr/>
          </p:nvSpPr>
          <p:spPr>
            <a:xfrm>
              <a:off x="0" y="0"/>
              <a:ext cx="9198864" cy="548640"/>
            </a:xfrm>
            <a:prstGeom prst="rect">
              <a:avLst/>
            </a:prstGeom>
          </p:spPr>
          <p:txBody>
            <a:bodyPr anchor="ctr" rtlCol="false" tIns="0" lIns="0" bIns="0" rIns="0"/>
            <a:lstStyle/>
            <a:p>
              <a:pPr algn="ctr" rtl="true">
                <a:lnSpc>
                  <a:spcPts val="2160"/>
                </a:lnSpc>
              </a:pPr>
              <a:r>
                <a:rPr lang="ar-EG" sz="1800" spc="18">
                  <a:solidFill>
                    <a:srgbClr val="7A5C44"/>
                  </a:solidFill>
                  <a:latin typeface="XM Traffic"/>
                  <a:ea typeface="XM Traffic"/>
                  <a:cs typeface="XM Traffic"/>
                  <a:sym typeface="XM Traffic"/>
                  <a:rtl val="true"/>
                </a:rPr>
                <a:t>صورة </a:t>
              </a:r>
              <a:r>
                <a:rPr lang="en-US" sz="1800" spc="18">
                  <a:solidFill>
                    <a:srgbClr val="7A5C44"/>
                  </a:solidFill>
                  <a:latin typeface="XM Traffic"/>
                  <a:ea typeface="XM Traffic"/>
                  <a:cs typeface="XM Traffic"/>
                  <a:sym typeface="XM Traffic"/>
                </a:rPr>
                <a:t>٢</a:t>
              </a:r>
            </a:p>
          </p:txBody>
        </p:sp>
      </p:grpSp>
      <p:grpSp>
        <p:nvGrpSpPr>
          <p:cNvPr name="Group 17" id="17"/>
          <p:cNvGrpSpPr/>
          <p:nvPr/>
        </p:nvGrpSpPr>
        <p:grpSpPr>
          <a:xfrm rot="0">
            <a:off x="5204936" y="815816"/>
            <a:ext cx="5363528" cy="562928"/>
            <a:chOff x="0" y="0"/>
            <a:chExt cx="7151370" cy="750570"/>
          </a:xfrm>
        </p:grpSpPr>
        <p:sp>
          <p:nvSpPr>
            <p:cNvPr name="Freeform 18" id="18"/>
            <p:cNvSpPr/>
            <p:nvPr/>
          </p:nvSpPr>
          <p:spPr>
            <a:xfrm flipH="false" flipV="false" rot="0">
              <a:off x="0" y="0"/>
              <a:ext cx="7151370" cy="750570"/>
            </a:xfrm>
            <a:custGeom>
              <a:avLst/>
              <a:gdLst/>
              <a:ahLst/>
              <a:cxnLst/>
              <a:rect r="r" b="b" t="t" l="l"/>
              <a:pathLst>
                <a:path h="750570" w="7151370">
                  <a:moveTo>
                    <a:pt x="0" y="375285"/>
                  </a:moveTo>
                  <a:cubicBezTo>
                    <a:pt x="0" y="168021"/>
                    <a:pt x="168021" y="0"/>
                    <a:pt x="375285" y="0"/>
                  </a:cubicBezTo>
                  <a:lnTo>
                    <a:pt x="6776085" y="0"/>
                  </a:lnTo>
                  <a:cubicBezTo>
                    <a:pt x="6983349" y="0"/>
                    <a:pt x="7151370" y="168021"/>
                    <a:pt x="7151370" y="375285"/>
                  </a:cubicBezTo>
                  <a:cubicBezTo>
                    <a:pt x="7151370" y="582549"/>
                    <a:pt x="6983349" y="750570"/>
                    <a:pt x="6776085" y="750570"/>
                  </a:cubicBezTo>
                  <a:lnTo>
                    <a:pt x="375285" y="750570"/>
                  </a:lnTo>
                  <a:cubicBezTo>
                    <a:pt x="168021" y="750570"/>
                    <a:pt x="0" y="582549"/>
                    <a:pt x="0" y="375285"/>
                  </a:cubicBezTo>
                  <a:close/>
                </a:path>
              </a:pathLst>
            </a:custGeom>
            <a:solidFill>
              <a:srgbClr val="8C5A35">
                <a:alpha val="3137"/>
              </a:srgbClr>
            </a:solidFill>
            <a:ln w="14288" cap="sq">
              <a:solidFill>
                <a:srgbClr val="8C5A35"/>
              </a:solidFill>
              <a:prstDash val="solid"/>
              <a:miter/>
            </a:ln>
          </p:spPr>
        </p:sp>
      </p:grpSp>
      <p:grpSp>
        <p:nvGrpSpPr>
          <p:cNvPr name="Group 19" id="19"/>
          <p:cNvGrpSpPr/>
          <p:nvPr/>
        </p:nvGrpSpPr>
        <p:grpSpPr>
          <a:xfrm rot="0">
            <a:off x="10040112" y="946404"/>
            <a:ext cx="301752" cy="301752"/>
            <a:chOff x="0" y="0"/>
            <a:chExt cx="402336" cy="402336"/>
          </a:xfrm>
        </p:grpSpPr>
        <p:sp>
          <p:nvSpPr>
            <p:cNvPr name="Freeform 20" id="20"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4"/>
              <a:stretch>
                <a:fillRect l="0" t="0" r="0" b="0"/>
              </a:stretch>
            </a:blipFill>
          </p:spPr>
        </p:sp>
      </p:grpSp>
      <p:grpSp>
        <p:nvGrpSpPr>
          <p:cNvPr name="Group 21" id="21"/>
          <p:cNvGrpSpPr/>
          <p:nvPr/>
        </p:nvGrpSpPr>
        <p:grpSpPr>
          <a:xfrm rot="0">
            <a:off x="5376672" y="822960"/>
            <a:ext cx="4526280" cy="548640"/>
            <a:chOff x="0" y="0"/>
            <a:chExt cx="6035040" cy="731520"/>
          </a:xfrm>
        </p:grpSpPr>
        <p:sp>
          <p:nvSpPr>
            <p:cNvPr name="Freeform 22" id="22"/>
            <p:cNvSpPr/>
            <p:nvPr/>
          </p:nvSpPr>
          <p:spPr>
            <a:xfrm flipH="false" flipV="false" rot="0">
              <a:off x="0" y="0"/>
              <a:ext cx="6035040" cy="731520"/>
            </a:xfrm>
            <a:custGeom>
              <a:avLst/>
              <a:gdLst/>
              <a:ahLst/>
              <a:cxnLst/>
              <a:rect r="r" b="b" t="t" l="l"/>
              <a:pathLst>
                <a:path h="731520" w="6035040">
                  <a:moveTo>
                    <a:pt x="0" y="0"/>
                  </a:moveTo>
                  <a:lnTo>
                    <a:pt x="6035040" y="0"/>
                  </a:lnTo>
                  <a:lnTo>
                    <a:pt x="6035040" y="731520"/>
                  </a:lnTo>
                  <a:lnTo>
                    <a:pt x="0" y="731520"/>
                  </a:lnTo>
                  <a:close/>
                </a:path>
              </a:pathLst>
            </a:custGeom>
            <a:blipFill>
              <a:blip r:embed="rId3">
                <a:alphaModFix amt="0"/>
              </a:blip>
              <a:stretch>
                <a:fillRect l="0" t="-110751" r="0" b="-110751"/>
              </a:stretch>
            </a:blipFill>
          </p:spPr>
        </p:sp>
        <p:sp>
          <p:nvSpPr>
            <p:cNvPr name="TextBox 23" id="23"/>
            <p:cNvSpPr txBox="true"/>
            <p:nvPr/>
          </p:nvSpPr>
          <p:spPr>
            <a:xfrm>
              <a:off x="0" y="-9525"/>
              <a:ext cx="6035040" cy="741045"/>
            </a:xfrm>
            <a:prstGeom prst="rect">
              <a:avLst/>
            </a:prstGeom>
          </p:spPr>
          <p:txBody>
            <a:bodyPr anchor="ctr" rtlCol="false" tIns="0" lIns="0" bIns="0" rIns="0"/>
            <a:lstStyle/>
            <a:p>
              <a:pPr algn="r" rtl="true">
                <a:lnSpc>
                  <a:spcPts val="2340"/>
                </a:lnSpc>
              </a:pPr>
              <a:r>
                <a:rPr lang="ar-EG" b="true" sz="1950" spc="20">
                  <a:solidFill>
                    <a:srgbClr val="8C5A35"/>
                  </a:solidFill>
                  <a:latin typeface="XM Traffic Bold"/>
                  <a:ea typeface="XM Traffic Bold"/>
                  <a:cs typeface="XM Traffic Bold"/>
                  <a:sym typeface="XM Traffic Bold"/>
                  <a:rtl val="true"/>
                </a:rPr>
                <a:t>ملهم — تجارب على مهل</a:t>
              </a:r>
            </a:p>
          </p:txBody>
        </p:sp>
      </p:grpSp>
      <p:sp>
        <p:nvSpPr>
          <p:cNvPr name="TextBox 24" id="24"/>
          <p:cNvSpPr txBox="true"/>
          <p:nvPr/>
        </p:nvSpPr>
        <p:spPr>
          <a:xfrm rot="0">
            <a:off x="822960" y="1508760"/>
            <a:ext cx="9738360" cy="1714500"/>
          </a:xfrm>
          <a:prstGeom prst="rect">
            <a:avLst/>
          </a:prstGeom>
        </p:spPr>
        <p:txBody>
          <a:bodyPr anchor="t" rtlCol="false" tIns="0" lIns="0" bIns="0" rIns="0">
            <a:spAutoFit/>
          </a:bodyPr>
          <a:lstStyle/>
          <a:p>
            <a:pPr algn="r" rtl="true">
              <a:lnSpc>
                <a:spcPts val="6480"/>
              </a:lnSpc>
            </a:pPr>
            <a:r>
              <a:rPr lang="ar-EG" b="true" sz="5400" spc="55">
                <a:solidFill>
                  <a:srgbClr val="3B2A1E"/>
                </a:solidFill>
                <a:latin typeface="XM Traffic Bold"/>
                <a:ea typeface="XM Traffic Bold"/>
                <a:cs typeface="XM Traffic Bold"/>
                <a:sym typeface="XM Traffic Bold"/>
                <a:rtl val="true"/>
              </a:rPr>
              <a:t>موعدك مع الطبيعة</a:t>
            </a:r>
          </a:p>
        </p:txBody>
      </p:sp>
      <p:sp>
        <p:nvSpPr>
          <p:cNvPr name="TextBox 25" id="25"/>
          <p:cNvSpPr txBox="true"/>
          <p:nvPr/>
        </p:nvSpPr>
        <p:spPr>
          <a:xfrm rot="0">
            <a:off x="822960" y="3253740"/>
            <a:ext cx="9738360" cy="1958340"/>
          </a:xfrm>
          <a:prstGeom prst="rect">
            <a:avLst/>
          </a:prstGeom>
        </p:spPr>
        <p:txBody>
          <a:bodyPr anchor="t" rtlCol="false" tIns="0" lIns="0" bIns="0" rIns="0">
            <a:spAutoFit/>
          </a:bodyPr>
          <a:lstStyle/>
          <a:p>
            <a:pPr algn="r">
              <a:lnSpc>
                <a:spcPts val="3104"/>
              </a:lnSpc>
            </a:pPr>
            <a:r>
              <a:rPr lang="ar-EG" sz="2250" spc="23">
                <a:solidFill>
                  <a:srgbClr val="4A3628"/>
                </a:solidFill>
                <a:latin typeface="XM Traffic"/>
                <a:ea typeface="XM Traffic"/>
                <a:cs typeface="XM Traffic"/>
                <a:sym typeface="XM Traffic"/>
                <a:rtl val="true"/>
              </a:rPr>
              <a:t>التجربة في ملهم أكبر من مجرد التخييم؛ هي فرصة لصناعة وقت مختلف، ومشاركة اللحظات، واكتشاف أنشطة جديدة في بيئة مريحة صُممت لتناسب اهتمامات النساء</a:t>
            </a:r>
            <a:r>
              <a:rPr lang="en-US" sz="2250" spc="23">
                <a:solidFill>
                  <a:srgbClr val="4A3628"/>
                </a:solidFill>
                <a:latin typeface="XM Traffic"/>
                <a:ea typeface="XM Traffic"/>
                <a:cs typeface="XM Traffic"/>
                <a:sym typeface="XM Traffic"/>
              </a:rPr>
              <a:t>.</a:t>
            </a:r>
          </a:p>
        </p:txBody>
      </p:sp>
      <p:grpSp>
        <p:nvGrpSpPr>
          <p:cNvPr name="Group 26" id="26"/>
          <p:cNvGrpSpPr/>
          <p:nvPr/>
        </p:nvGrpSpPr>
        <p:grpSpPr>
          <a:xfrm rot="0">
            <a:off x="822960" y="5239512"/>
            <a:ext cx="9738360" cy="411480"/>
            <a:chOff x="0" y="0"/>
            <a:chExt cx="12984480" cy="548640"/>
          </a:xfrm>
        </p:grpSpPr>
        <p:sp>
          <p:nvSpPr>
            <p:cNvPr name="Freeform 27" id="27"/>
            <p:cNvSpPr/>
            <p:nvPr/>
          </p:nvSpPr>
          <p:spPr>
            <a:xfrm flipH="false" flipV="false" rot="0">
              <a:off x="0" y="0"/>
              <a:ext cx="12984480" cy="548640"/>
            </a:xfrm>
            <a:custGeom>
              <a:avLst/>
              <a:gdLst/>
              <a:ahLst/>
              <a:cxnLst/>
              <a:rect r="r" b="b" t="t" l="l"/>
              <a:pathLst>
                <a:path h="548640" w="12984480">
                  <a:moveTo>
                    <a:pt x="0" y="0"/>
                  </a:moveTo>
                  <a:lnTo>
                    <a:pt x="12984480" y="0"/>
                  </a:lnTo>
                  <a:lnTo>
                    <a:pt x="12984480" y="548640"/>
                  </a:lnTo>
                  <a:lnTo>
                    <a:pt x="0" y="548640"/>
                  </a:lnTo>
                  <a:close/>
                </a:path>
              </a:pathLst>
            </a:custGeom>
            <a:blipFill>
              <a:blip r:embed="rId3">
                <a:alphaModFix amt="0"/>
              </a:blip>
              <a:stretch>
                <a:fillRect l="0" t="-411145" r="0" b="-411145"/>
              </a:stretch>
            </a:blipFill>
          </p:spPr>
        </p:sp>
        <p:sp>
          <p:nvSpPr>
            <p:cNvPr name="TextBox 28" id="28"/>
            <p:cNvSpPr txBox="true"/>
            <p:nvPr/>
          </p:nvSpPr>
          <p:spPr>
            <a:xfrm>
              <a:off x="0" y="0"/>
              <a:ext cx="12984480" cy="548640"/>
            </a:xfrm>
            <a:prstGeom prst="rect">
              <a:avLst/>
            </a:prstGeom>
          </p:spPr>
          <p:txBody>
            <a:bodyPr anchor="ctr" rtlCol="false" tIns="0" lIns="0" bIns="0" rIns="0"/>
            <a:lstStyle/>
            <a:p>
              <a:pPr algn="r" rtl="true">
                <a:lnSpc>
                  <a:spcPts val="2520"/>
                </a:lnSpc>
              </a:pPr>
              <a:r>
                <a:rPr lang="ar-EG" b="true" sz="2100" spc="21">
                  <a:solidFill>
                    <a:srgbClr val="8C5A35"/>
                  </a:solidFill>
                  <a:latin typeface="XM Traffic Bold"/>
                  <a:ea typeface="XM Traffic Bold"/>
                  <a:cs typeface="XM Traffic Bold"/>
                  <a:sym typeface="XM Traffic Bold"/>
                  <a:rtl val="true"/>
                </a:rPr>
                <a:t>التجارب المقترحة</a:t>
              </a:r>
            </a:p>
          </p:txBody>
        </p:sp>
      </p:grpSp>
      <p:grpSp>
        <p:nvGrpSpPr>
          <p:cNvPr name="Group 29" id="29"/>
          <p:cNvGrpSpPr/>
          <p:nvPr/>
        </p:nvGrpSpPr>
        <p:grpSpPr>
          <a:xfrm rot="0">
            <a:off x="5822156" y="5781008"/>
            <a:ext cx="4746308" cy="837248"/>
            <a:chOff x="0" y="0"/>
            <a:chExt cx="6328410" cy="1116330"/>
          </a:xfrm>
        </p:grpSpPr>
        <p:sp>
          <p:nvSpPr>
            <p:cNvPr name="Freeform 30" id="30"/>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31" id="31"/>
          <p:cNvGrpSpPr/>
          <p:nvPr/>
        </p:nvGrpSpPr>
        <p:grpSpPr>
          <a:xfrm rot="0">
            <a:off x="9820656" y="5911596"/>
            <a:ext cx="576072" cy="576072"/>
            <a:chOff x="0" y="0"/>
            <a:chExt cx="768096" cy="768096"/>
          </a:xfrm>
        </p:grpSpPr>
        <p:sp>
          <p:nvSpPr>
            <p:cNvPr name="Freeform 32" id="32"/>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C5A35"/>
            </a:solidFill>
          </p:spPr>
        </p:sp>
      </p:grpSp>
      <p:grpSp>
        <p:nvGrpSpPr>
          <p:cNvPr name="Group 33" id="33"/>
          <p:cNvGrpSpPr/>
          <p:nvPr/>
        </p:nvGrpSpPr>
        <p:grpSpPr>
          <a:xfrm rot="0">
            <a:off x="9964674" y="6055614"/>
            <a:ext cx="288036" cy="288036"/>
            <a:chOff x="0" y="0"/>
            <a:chExt cx="384048" cy="384048"/>
          </a:xfrm>
        </p:grpSpPr>
        <p:sp>
          <p:nvSpPr>
            <p:cNvPr name="Freeform 34" id="34"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5"/>
              <a:stretch>
                <a:fillRect l="0" t="0" r="0" b="0"/>
              </a:stretch>
            </a:blipFill>
          </p:spPr>
        </p:sp>
      </p:grpSp>
      <p:grpSp>
        <p:nvGrpSpPr>
          <p:cNvPr name="Group 35" id="35"/>
          <p:cNvGrpSpPr/>
          <p:nvPr/>
        </p:nvGrpSpPr>
        <p:grpSpPr>
          <a:xfrm rot="0">
            <a:off x="5993892" y="5788152"/>
            <a:ext cx="3662172" cy="822960"/>
            <a:chOff x="0" y="0"/>
            <a:chExt cx="4882896" cy="1097280"/>
          </a:xfrm>
        </p:grpSpPr>
        <p:sp>
          <p:nvSpPr>
            <p:cNvPr name="Freeform 36" id="36"/>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3">
                <a:alphaModFix amt="0"/>
              </a:blip>
              <a:stretch>
                <a:fillRect l="0" t="-36708" r="0" b="-36708"/>
              </a:stretch>
            </a:blipFill>
          </p:spPr>
        </p:sp>
        <p:sp>
          <p:nvSpPr>
            <p:cNvPr name="TextBox 37" id="37"/>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جلسات حول النار وتجارب المشروبات الساخنة</a:t>
              </a:r>
            </a:p>
          </p:txBody>
        </p:sp>
      </p:grpSp>
      <p:grpSp>
        <p:nvGrpSpPr>
          <p:cNvPr name="Group 38" id="38"/>
          <p:cNvGrpSpPr/>
          <p:nvPr/>
        </p:nvGrpSpPr>
        <p:grpSpPr>
          <a:xfrm rot="0">
            <a:off x="815816" y="5781008"/>
            <a:ext cx="4746308" cy="837248"/>
            <a:chOff x="0" y="0"/>
            <a:chExt cx="6328410" cy="1116330"/>
          </a:xfrm>
        </p:grpSpPr>
        <p:sp>
          <p:nvSpPr>
            <p:cNvPr name="Freeform 39" id="39"/>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40" id="40"/>
          <p:cNvGrpSpPr/>
          <p:nvPr/>
        </p:nvGrpSpPr>
        <p:grpSpPr>
          <a:xfrm rot="0">
            <a:off x="4814316" y="5911596"/>
            <a:ext cx="576072" cy="576072"/>
            <a:chOff x="0" y="0"/>
            <a:chExt cx="768096" cy="768096"/>
          </a:xfrm>
        </p:grpSpPr>
        <p:sp>
          <p:nvSpPr>
            <p:cNvPr name="Freeform 41" id="4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C5A35"/>
            </a:solidFill>
          </p:spPr>
        </p:sp>
      </p:grpSp>
      <p:grpSp>
        <p:nvGrpSpPr>
          <p:cNvPr name="Group 42" id="42"/>
          <p:cNvGrpSpPr/>
          <p:nvPr/>
        </p:nvGrpSpPr>
        <p:grpSpPr>
          <a:xfrm rot="0">
            <a:off x="4958334" y="6055614"/>
            <a:ext cx="288036" cy="288036"/>
            <a:chOff x="0" y="0"/>
            <a:chExt cx="384048" cy="384048"/>
          </a:xfrm>
        </p:grpSpPr>
        <p:sp>
          <p:nvSpPr>
            <p:cNvPr name="Freeform 43" id="43"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6"/>
              <a:stretch>
                <a:fillRect l="0" t="0" r="0" b="0"/>
              </a:stretch>
            </a:blipFill>
          </p:spPr>
        </p:sp>
      </p:grpSp>
      <p:grpSp>
        <p:nvGrpSpPr>
          <p:cNvPr name="Group 44" id="44"/>
          <p:cNvGrpSpPr/>
          <p:nvPr/>
        </p:nvGrpSpPr>
        <p:grpSpPr>
          <a:xfrm rot="0">
            <a:off x="987552" y="5788152"/>
            <a:ext cx="3662172" cy="822960"/>
            <a:chOff x="0" y="0"/>
            <a:chExt cx="4882896" cy="1097280"/>
          </a:xfrm>
        </p:grpSpPr>
        <p:sp>
          <p:nvSpPr>
            <p:cNvPr name="Freeform 45" id="45"/>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3">
                <a:alphaModFix amt="0"/>
              </a:blip>
              <a:stretch>
                <a:fillRect l="0" t="-36708" r="0" b="-36708"/>
              </a:stretch>
            </a:blipFill>
          </p:spPr>
        </p:sp>
        <p:sp>
          <p:nvSpPr>
            <p:cNvPr name="TextBox 46" id="46"/>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ورش إبداعية وحرف يدوية</a:t>
              </a:r>
            </a:p>
          </p:txBody>
        </p:sp>
      </p:grpSp>
      <p:grpSp>
        <p:nvGrpSpPr>
          <p:cNvPr name="Group 47" id="47"/>
          <p:cNvGrpSpPr/>
          <p:nvPr/>
        </p:nvGrpSpPr>
        <p:grpSpPr>
          <a:xfrm rot="0">
            <a:off x="5822156" y="6713696"/>
            <a:ext cx="4746308" cy="837248"/>
            <a:chOff x="0" y="0"/>
            <a:chExt cx="6328410" cy="1116330"/>
          </a:xfrm>
        </p:grpSpPr>
        <p:sp>
          <p:nvSpPr>
            <p:cNvPr name="Freeform 48" id="48"/>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49" id="49"/>
          <p:cNvGrpSpPr/>
          <p:nvPr/>
        </p:nvGrpSpPr>
        <p:grpSpPr>
          <a:xfrm rot="0">
            <a:off x="9820656" y="6844284"/>
            <a:ext cx="576072" cy="576072"/>
            <a:chOff x="0" y="0"/>
            <a:chExt cx="768096" cy="768096"/>
          </a:xfrm>
        </p:grpSpPr>
        <p:sp>
          <p:nvSpPr>
            <p:cNvPr name="Freeform 50" id="5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C5A35"/>
            </a:solidFill>
          </p:spPr>
        </p:sp>
      </p:grpSp>
      <p:grpSp>
        <p:nvGrpSpPr>
          <p:cNvPr name="Group 51" id="51"/>
          <p:cNvGrpSpPr/>
          <p:nvPr/>
        </p:nvGrpSpPr>
        <p:grpSpPr>
          <a:xfrm rot="0">
            <a:off x="9964674" y="6988302"/>
            <a:ext cx="288036" cy="288036"/>
            <a:chOff x="0" y="0"/>
            <a:chExt cx="384048" cy="384048"/>
          </a:xfrm>
        </p:grpSpPr>
        <p:sp>
          <p:nvSpPr>
            <p:cNvPr name="Freeform 52" id="52"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7"/>
              <a:stretch>
                <a:fillRect l="0" t="0" r="0" b="0"/>
              </a:stretch>
            </a:blipFill>
          </p:spPr>
        </p:sp>
      </p:grpSp>
      <p:grpSp>
        <p:nvGrpSpPr>
          <p:cNvPr name="Group 53" id="53"/>
          <p:cNvGrpSpPr/>
          <p:nvPr/>
        </p:nvGrpSpPr>
        <p:grpSpPr>
          <a:xfrm rot="0">
            <a:off x="5993892" y="6720840"/>
            <a:ext cx="3662172" cy="822960"/>
            <a:chOff x="0" y="0"/>
            <a:chExt cx="4882896" cy="1097280"/>
          </a:xfrm>
        </p:grpSpPr>
        <p:sp>
          <p:nvSpPr>
            <p:cNvPr name="Freeform 54" id="54"/>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3">
                <a:alphaModFix amt="0"/>
              </a:blip>
              <a:stretch>
                <a:fillRect l="0" t="-36708" r="0" b="-36708"/>
              </a:stretch>
            </a:blipFill>
          </p:spPr>
        </p:sp>
        <p:sp>
          <p:nvSpPr>
            <p:cNvPr name="TextBox 55" id="55"/>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تجارب طهي وضيافة خارجية</a:t>
              </a:r>
            </a:p>
          </p:txBody>
        </p:sp>
      </p:grpSp>
      <p:grpSp>
        <p:nvGrpSpPr>
          <p:cNvPr name="Group 56" id="56"/>
          <p:cNvGrpSpPr/>
          <p:nvPr/>
        </p:nvGrpSpPr>
        <p:grpSpPr>
          <a:xfrm rot="0">
            <a:off x="815816" y="6713696"/>
            <a:ext cx="4746308" cy="837248"/>
            <a:chOff x="0" y="0"/>
            <a:chExt cx="6328410" cy="1116330"/>
          </a:xfrm>
        </p:grpSpPr>
        <p:sp>
          <p:nvSpPr>
            <p:cNvPr name="Freeform 57" id="57"/>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58" id="58"/>
          <p:cNvGrpSpPr/>
          <p:nvPr/>
        </p:nvGrpSpPr>
        <p:grpSpPr>
          <a:xfrm rot="0">
            <a:off x="4814316" y="6844284"/>
            <a:ext cx="576072" cy="576072"/>
            <a:chOff x="0" y="0"/>
            <a:chExt cx="768096" cy="768096"/>
          </a:xfrm>
        </p:grpSpPr>
        <p:sp>
          <p:nvSpPr>
            <p:cNvPr name="Freeform 59" id="59"/>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C5A35"/>
            </a:solidFill>
          </p:spPr>
        </p:sp>
      </p:grpSp>
      <p:grpSp>
        <p:nvGrpSpPr>
          <p:cNvPr name="Group 60" id="60"/>
          <p:cNvGrpSpPr/>
          <p:nvPr/>
        </p:nvGrpSpPr>
        <p:grpSpPr>
          <a:xfrm rot="0">
            <a:off x="4958334" y="6988302"/>
            <a:ext cx="288036" cy="288036"/>
            <a:chOff x="0" y="0"/>
            <a:chExt cx="384048" cy="384048"/>
          </a:xfrm>
        </p:grpSpPr>
        <p:sp>
          <p:nvSpPr>
            <p:cNvPr name="Freeform 61" id="61"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8"/>
              <a:stretch>
                <a:fillRect l="0" t="0" r="0" b="0"/>
              </a:stretch>
            </a:blipFill>
          </p:spPr>
        </p:sp>
      </p:grpSp>
      <p:grpSp>
        <p:nvGrpSpPr>
          <p:cNvPr name="Group 62" id="62"/>
          <p:cNvGrpSpPr/>
          <p:nvPr/>
        </p:nvGrpSpPr>
        <p:grpSpPr>
          <a:xfrm rot="0">
            <a:off x="987552" y="6720840"/>
            <a:ext cx="3662172" cy="822960"/>
            <a:chOff x="0" y="0"/>
            <a:chExt cx="4882896" cy="1097280"/>
          </a:xfrm>
        </p:grpSpPr>
        <p:sp>
          <p:nvSpPr>
            <p:cNvPr name="Freeform 63" id="63"/>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3">
                <a:alphaModFix amt="0"/>
              </a:blip>
              <a:stretch>
                <a:fillRect l="0" t="-36708" r="0" b="-36708"/>
              </a:stretch>
            </a:blipFill>
          </p:spPr>
        </p:sp>
        <p:sp>
          <p:nvSpPr>
            <p:cNvPr name="TextBox 64" id="64"/>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جلسات يوغا أو استرخاء بإشراف مختصات</a:t>
              </a:r>
            </a:p>
          </p:txBody>
        </p:sp>
      </p:grpSp>
      <p:grpSp>
        <p:nvGrpSpPr>
          <p:cNvPr name="Group 65" id="65"/>
          <p:cNvGrpSpPr/>
          <p:nvPr/>
        </p:nvGrpSpPr>
        <p:grpSpPr>
          <a:xfrm rot="0">
            <a:off x="5822156" y="7646384"/>
            <a:ext cx="4746308" cy="837248"/>
            <a:chOff x="0" y="0"/>
            <a:chExt cx="6328410" cy="1116330"/>
          </a:xfrm>
        </p:grpSpPr>
        <p:sp>
          <p:nvSpPr>
            <p:cNvPr name="Freeform 66" id="66"/>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67" id="67"/>
          <p:cNvGrpSpPr/>
          <p:nvPr/>
        </p:nvGrpSpPr>
        <p:grpSpPr>
          <a:xfrm rot="0">
            <a:off x="9820656" y="7776972"/>
            <a:ext cx="576072" cy="576072"/>
            <a:chOff x="0" y="0"/>
            <a:chExt cx="768096" cy="768096"/>
          </a:xfrm>
        </p:grpSpPr>
        <p:sp>
          <p:nvSpPr>
            <p:cNvPr name="Freeform 68" id="68"/>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C5A35"/>
            </a:solidFill>
          </p:spPr>
        </p:sp>
      </p:grpSp>
      <p:grpSp>
        <p:nvGrpSpPr>
          <p:cNvPr name="Group 69" id="69"/>
          <p:cNvGrpSpPr/>
          <p:nvPr/>
        </p:nvGrpSpPr>
        <p:grpSpPr>
          <a:xfrm rot="0">
            <a:off x="9964674" y="7920990"/>
            <a:ext cx="288036" cy="288036"/>
            <a:chOff x="0" y="0"/>
            <a:chExt cx="384048" cy="384048"/>
          </a:xfrm>
        </p:grpSpPr>
        <p:sp>
          <p:nvSpPr>
            <p:cNvPr name="Freeform 70" id="70"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9"/>
              <a:stretch>
                <a:fillRect l="0" t="0" r="0" b="0"/>
              </a:stretch>
            </a:blipFill>
          </p:spPr>
        </p:sp>
      </p:grpSp>
      <p:grpSp>
        <p:nvGrpSpPr>
          <p:cNvPr name="Group 71" id="71"/>
          <p:cNvGrpSpPr/>
          <p:nvPr/>
        </p:nvGrpSpPr>
        <p:grpSpPr>
          <a:xfrm rot="0">
            <a:off x="5993892" y="7653528"/>
            <a:ext cx="3662172" cy="822960"/>
            <a:chOff x="0" y="0"/>
            <a:chExt cx="4882896" cy="1097280"/>
          </a:xfrm>
        </p:grpSpPr>
        <p:sp>
          <p:nvSpPr>
            <p:cNvPr name="Freeform 72" id="72"/>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3">
                <a:alphaModFix amt="0"/>
              </a:blip>
              <a:stretch>
                <a:fillRect l="0" t="-36708" r="0" b="-36708"/>
              </a:stretch>
            </a:blipFill>
          </p:spPr>
        </p:sp>
        <p:sp>
          <p:nvSpPr>
            <p:cNvPr name="TextBox 73" id="73"/>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أنشطة اجتماعية وتجارب جماعية</a:t>
              </a:r>
            </a:p>
          </p:txBody>
        </p:sp>
      </p:grpSp>
      <p:grpSp>
        <p:nvGrpSpPr>
          <p:cNvPr name="Group 74" id="74"/>
          <p:cNvGrpSpPr/>
          <p:nvPr/>
        </p:nvGrpSpPr>
        <p:grpSpPr>
          <a:xfrm rot="0">
            <a:off x="815816" y="7646384"/>
            <a:ext cx="4746308" cy="837248"/>
            <a:chOff x="0" y="0"/>
            <a:chExt cx="6328410" cy="1116330"/>
          </a:xfrm>
        </p:grpSpPr>
        <p:sp>
          <p:nvSpPr>
            <p:cNvPr name="Freeform 75" id="75"/>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76" id="76"/>
          <p:cNvGrpSpPr/>
          <p:nvPr/>
        </p:nvGrpSpPr>
        <p:grpSpPr>
          <a:xfrm rot="0">
            <a:off x="4814316" y="7776972"/>
            <a:ext cx="576072" cy="576072"/>
            <a:chOff x="0" y="0"/>
            <a:chExt cx="768096" cy="768096"/>
          </a:xfrm>
        </p:grpSpPr>
        <p:sp>
          <p:nvSpPr>
            <p:cNvPr name="Freeform 77" id="77"/>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C5A35"/>
            </a:solidFill>
          </p:spPr>
        </p:sp>
      </p:grpSp>
      <p:grpSp>
        <p:nvGrpSpPr>
          <p:cNvPr name="Group 78" id="78"/>
          <p:cNvGrpSpPr/>
          <p:nvPr/>
        </p:nvGrpSpPr>
        <p:grpSpPr>
          <a:xfrm rot="0">
            <a:off x="4958334" y="7920990"/>
            <a:ext cx="288036" cy="288036"/>
            <a:chOff x="0" y="0"/>
            <a:chExt cx="384048" cy="384048"/>
          </a:xfrm>
        </p:grpSpPr>
        <p:sp>
          <p:nvSpPr>
            <p:cNvPr name="Freeform 79" id="79"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0"/>
              <a:stretch>
                <a:fillRect l="0" t="0" r="0" b="0"/>
              </a:stretch>
            </a:blipFill>
          </p:spPr>
        </p:sp>
      </p:grpSp>
      <p:grpSp>
        <p:nvGrpSpPr>
          <p:cNvPr name="Group 80" id="80"/>
          <p:cNvGrpSpPr/>
          <p:nvPr/>
        </p:nvGrpSpPr>
        <p:grpSpPr>
          <a:xfrm rot="0">
            <a:off x="987552" y="7653528"/>
            <a:ext cx="3662172" cy="822960"/>
            <a:chOff x="0" y="0"/>
            <a:chExt cx="4882896" cy="1097280"/>
          </a:xfrm>
        </p:grpSpPr>
        <p:sp>
          <p:nvSpPr>
            <p:cNvPr name="Freeform 81" id="81"/>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3">
                <a:alphaModFix amt="0"/>
              </a:blip>
              <a:stretch>
                <a:fillRect l="0" t="-36708" r="0" b="-36708"/>
              </a:stretch>
            </a:blipFill>
          </p:spPr>
        </p:sp>
        <p:sp>
          <p:nvSpPr>
            <p:cNvPr name="TextBox 82" id="82"/>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برامج موسمية ولقاءات خاصة</a:t>
              </a:r>
            </a:p>
          </p:txBody>
        </p:sp>
      </p:grpSp>
      <p:grpSp>
        <p:nvGrpSpPr>
          <p:cNvPr name="Group 83" id="83"/>
          <p:cNvGrpSpPr/>
          <p:nvPr/>
        </p:nvGrpSpPr>
        <p:grpSpPr>
          <a:xfrm rot="0">
            <a:off x="5822156" y="8579072"/>
            <a:ext cx="4746308" cy="837248"/>
            <a:chOff x="0" y="0"/>
            <a:chExt cx="6328410" cy="1116330"/>
          </a:xfrm>
        </p:grpSpPr>
        <p:sp>
          <p:nvSpPr>
            <p:cNvPr name="Freeform 84" id="84"/>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85" id="85"/>
          <p:cNvGrpSpPr/>
          <p:nvPr/>
        </p:nvGrpSpPr>
        <p:grpSpPr>
          <a:xfrm rot="0">
            <a:off x="9820656" y="8709660"/>
            <a:ext cx="576072" cy="576072"/>
            <a:chOff x="0" y="0"/>
            <a:chExt cx="768096" cy="768096"/>
          </a:xfrm>
        </p:grpSpPr>
        <p:sp>
          <p:nvSpPr>
            <p:cNvPr name="Freeform 86" id="8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C5A35"/>
            </a:solidFill>
          </p:spPr>
        </p:sp>
      </p:grpSp>
      <p:grpSp>
        <p:nvGrpSpPr>
          <p:cNvPr name="Group 87" id="87"/>
          <p:cNvGrpSpPr/>
          <p:nvPr/>
        </p:nvGrpSpPr>
        <p:grpSpPr>
          <a:xfrm rot="0">
            <a:off x="9964674" y="8853678"/>
            <a:ext cx="288036" cy="288036"/>
            <a:chOff x="0" y="0"/>
            <a:chExt cx="384048" cy="384048"/>
          </a:xfrm>
        </p:grpSpPr>
        <p:sp>
          <p:nvSpPr>
            <p:cNvPr name="Freeform 88" id="88"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1"/>
              <a:stretch>
                <a:fillRect l="0" t="0" r="0" b="0"/>
              </a:stretch>
            </a:blipFill>
          </p:spPr>
        </p:sp>
      </p:grpSp>
      <p:grpSp>
        <p:nvGrpSpPr>
          <p:cNvPr name="Group 89" id="89"/>
          <p:cNvGrpSpPr/>
          <p:nvPr/>
        </p:nvGrpSpPr>
        <p:grpSpPr>
          <a:xfrm rot="0">
            <a:off x="5993892" y="8586216"/>
            <a:ext cx="3662172" cy="822960"/>
            <a:chOff x="0" y="0"/>
            <a:chExt cx="4882896" cy="1097280"/>
          </a:xfrm>
        </p:grpSpPr>
        <p:sp>
          <p:nvSpPr>
            <p:cNvPr name="Freeform 90" id="90"/>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3">
                <a:alphaModFix amt="0"/>
              </a:blip>
              <a:stretch>
                <a:fillRect l="0" t="-36708" r="0" b="-36708"/>
              </a:stretch>
            </a:blipFill>
          </p:spPr>
        </p:sp>
        <p:sp>
          <p:nvSpPr>
            <p:cNvPr name="TextBox 91" id="91"/>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باقات تخييم تشمل الإقامة والضيافة والأنشطة</a:t>
              </a:r>
            </a:p>
          </p:txBody>
        </p:sp>
      </p:grpSp>
      <p:grpSp>
        <p:nvGrpSpPr>
          <p:cNvPr name="Group 92" id="92"/>
          <p:cNvGrpSpPr/>
          <p:nvPr/>
        </p:nvGrpSpPr>
        <p:grpSpPr>
          <a:xfrm rot="0">
            <a:off x="822960" y="9669780"/>
            <a:ext cx="9738360" cy="342900"/>
            <a:chOff x="0" y="0"/>
            <a:chExt cx="12984480" cy="457200"/>
          </a:xfrm>
        </p:grpSpPr>
        <p:sp>
          <p:nvSpPr>
            <p:cNvPr name="Freeform 93" id="93"/>
            <p:cNvSpPr/>
            <p:nvPr/>
          </p:nvSpPr>
          <p:spPr>
            <a:xfrm flipH="false" flipV="false" rot="0">
              <a:off x="0" y="0"/>
              <a:ext cx="12984480" cy="457200"/>
            </a:xfrm>
            <a:custGeom>
              <a:avLst/>
              <a:gdLst/>
              <a:ahLst/>
              <a:cxnLst/>
              <a:rect r="r" b="b" t="t" l="l"/>
              <a:pathLst>
                <a:path h="457200" w="12984480">
                  <a:moveTo>
                    <a:pt x="0" y="0"/>
                  </a:moveTo>
                  <a:lnTo>
                    <a:pt x="12984480" y="0"/>
                  </a:lnTo>
                  <a:lnTo>
                    <a:pt x="12984480" y="457200"/>
                  </a:lnTo>
                  <a:lnTo>
                    <a:pt x="0" y="457200"/>
                  </a:lnTo>
                  <a:close/>
                </a:path>
              </a:pathLst>
            </a:custGeom>
            <a:blipFill>
              <a:blip r:embed="rId3">
                <a:alphaModFix amt="0"/>
              </a:blip>
              <a:stretch>
                <a:fillRect l="0" t="-503375" r="0" b="-503375"/>
              </a:stretch>
            </a:blipFill>
          </p:spPr>
        </p:sp>
        <p:sp>
          <p:nvSpPr>
            <p:cNvPr name="TextBox 94" id="94"/>
            <p:cNvSpPr txBox="true"/>
            <p:nvPr/>
          </p:nvSpPr>
          <p:spPr>
            <a:xfrm>
              <a:off x="0" y="0"/>
              <a:ext cx="12984480" cy="457200"/>
            </a:xfrm>
            <a:prstGeom prst="rect">
              <a:avLst/>
            </a:prstGeom>
          </p:spPr>
          <p:txBody>
            <a:bodyPr anchor="ctr" rtlCol="false" tIns="0" lIns="0" bIns="0" rIns="0"/>
            <a:lstStyle/>
            <a:p>
              <a:pPr algn="r" rtl="true">
                <a:lnSpc>
                  <a:spcPts val="1800"/>
                </a:lnSpc>
              </a:pPr>
              <a:r>
                <a:rPr lang="ar-EG" sz="1500" spc="15">
                  <a:solidFill>
                    <a:srgbClr val="7A5C44"/>
                  </a:solidFill>
                  <a:latin typeface="XM Traffic"/>
                  <a:ea typeface="XM Traffic"/>
                  <a:cs typeface="XM Traffic"/>
                  <a:sym typeface="XM Traffic"/>
                  <a:rtl val="true"/>
                </a:rPr>
                <a:t>تصوّر تطويري مقترح</a:t>
              </a:r>
            </a:p>
          </p:txBody>
        </p:sp>
      </p:grpSp>
      <p:grpSp>
        <p:nvGrpSpPr>
          <p:cNvPr name="Group 95" id="95"/>
          <p:cNvGrpSpPr/>
          <p:nvPr/>
        </p:nvGrpSpPr>
        <p:grpSpPr>
          <a:xfrm rot="0">
            <a:off x="1724939" y="815816"/>
            <a:ext cx="3314290" cy="562928"/>
            <a:chOff x="0" y="0"/>
            <a:chExt cx="4419054" cy="750570"/>
          </a:xfrm>
        </p:grpSpPr>
        <p:sp>
          <p:nvSpPr>
            <p:cNvPr name="Freeform 96" id="96" descr="رابط الموقع على خرائط قوقل">
              <a:hlinkClick r:id="rId12" tooltip="https://www.google.com/maps/search/?api=1&amp;query=%D9%85%D9%84%D9%87%D9%85"/>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3E2D21"/>
            </a:solidFill>
            <a:ln w="14288" cap="sq">
              <a:solidFill>
                <a:srgbClr val="D9A66B"/>
              </a:solidFill>
              <a:prstDash val="solid"/>
              <a:miter/>
            </a:ln>
          </p:spPr>
        </p:sp>
      </p:grpSp>
      <p:grpSp>
        <p:nvGrpSpPr>
          <p:cNvPr name="Group 97" id="97"/>
          <p:cNvGrpSpPr/>
          <p:nvPr/>
        </p:nvGrpSpPr>
        <p:grpSpPr>
          <a:xfrm rot="0">
            <a:off x="4535329" y="946404"/>
            <a:ext cx="301752" cy="301752"/>
            <a:chOff x="0" y="0"/>
            <a:chExt cx="402336" cy="402336"/>
          </a:xfrm>
        </p:grpSpPr>
        <p:sp>
          <p:nvSpPr>
            <p:cNvPr name="Freeform 98" id="98"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3"/>
              <a:stretch>
                <a:fillRect l="0" t="0" r="0" b="0"/>
              </a:stretch>
            </a:blipFill>
          </p:spPr>
        </p:sp>
      </p:grpSp>
      <p:grpSp>
        <p:nvGrpSpPr>
          <p:cNvPr name="Group 99" id="99"/>
          <p:cNvGrpSpPr/>
          <p:nvPr/>
        </p:nvGrpSpPr>
        <p:grpSpPr>
          <a:xfrm rot="0">
            <a:off x="1882083" y="822960"/>
            <a:ext cx="2548252" cy="548640"/>
            <a:chOff x="0" y="0"/>
            <a:chExt cx="3397669" cy="731520"/>
          </a:xfrm>
        </p:grpSpPr>
        <p:sp>
          <p:nvSpPr>
            <p:cNvPr name="Freeform 100" id="100"/>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3">
                <a:alphaModFix amt="0"/>
              </a:blip>
              <a:stretch>
                <a:fillRect l="0" t="-40501" r="0" b="-40501"/>
              </a:stretch>
            </a:blipFill>
          </p:spPr>
        </p:sp>
        <p:sp>
          <p:nvSpPr>
            <p:cNvPr name="TextBox 101" id="101"/>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a:solidFill>
                    <a:srgbClr val="F3E3C8"/>
                  </a:solidFill>
                  <a:latin typeface="XM Traffic Bold"/>
                  <a:ea typeface="XM Traffic Bold"/>
                  <a:cs typeface="XM Traffic Bold"/>
                  <a:sym typeface="XM Traffic Bold"/>
                  <a:rtl val="true"/>
                </a:rPr>
                <a:t>الموقع على قوقل ماب</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7688104" y="2091690"/>
            <a:ext cx="9779508" cy="819150"/>
          </a:xfrm>
          <a:prstGeom prst="rect">
            <a:avLst/>
          </a:prstGeom>
        </p:spPr>
        <p:txBody>
          <a:bodyPr anchor="t" rtlCol="false" tIns="0" lIns="0" bIns="0" rIns="0">
            <a:spAutoFit/>
          </a:bodyPr>
          <a:lstStyle/>
          <a:p>
            <a:pPr algn="r" rtl="true">
              <a:lnSpc>
                <a:spcPts val="6480"/>
              </a:lnSpc>
            </a:pPr>
            <a:r>
              <a:rPr lang="ar-EG" b="true" sz="5400" spc="55">
                <a:solidFill>
                  <a:srgbClr val="F3EADB"/>
                </a:solidFill>
                <a:latin typeface="XM Traffic Bold"/>
                <a:ea typeface="XM Traffic Bold"/>
                <a:cs typeface="XM Traffic Bold"/>
                <a:sym typeface="XM Traffic Bold"/>
                <a:rtl val="true"/>
              </a:rPr>
              <a:t>من الملح تبدأ الحكاية</a:t>
            </a:r>
          </a:p>
        </p:txBody>
      </p:sp>
      <p:sp>
        <p:nvSpPr>
          <p:cNvPr name="TextBox 4" id="4"/>
          <p:cNvSpPr txBox="true"/>
          <p:nvPr/>
        </p:nvSpPr>
        <p:spPr>
          <a:xfrm rot="0">
            <a:off x="7680960" y="3253740"/>
            <a:ext cx="9779508" cy="1548765"/>
          </a:xfrm>
          <a:prstGeom prst="rect">
            <a:avLst/>
          </a:prstGeom>
        </p:spPr>
        <p:txBody>
          <a:bodyPr anchor="t" rtlCol="false" tIns="0" lIns="0" bIns="0" rIns="0">
            <a:spAutoFit/>
          </a:bodyPr>
          <a:lstStyle/>
          <a:p>
            <a:pPr algn="r">
              <a:lnSpc>
                <a:spcPts val="3104"/>
              </a:lnSpc>
            </a:pPr>
            <a:r>
              <a:rPr lang="ar-EG" sz="2250" spc="23">
                <a:solidFill>
                  <a:srgbClr val="E3D4BC"/>
                </a:solidFill>
                <a:latin typeface="XM Traffic"/>
                <a:ea typeface="XM Traffic"/>
                <a:cs typeface="XM Traffic"/>
                <a:sym typeface="XM Traffic"/>
                <a:rtl val="true"/>
              </a:rPr>
              <a:t>في القصب، حيث يرتبط المكان بإرث الملح، نصنع تجربة استجمام مختلفة تستلهم هويتها من ثروات الأرض المحلية، وتحوّل الملح من منتج تقليدي إلى تجربة حسية متكاملة</a:t>
            </a:r>
          </a:p>
          <a:p>
            <a:pPr algn="r">
              <a:lnSpc>
                <a:spcPts val="3104"/>
              </a:lnSpc>
            </a:pPr>
            <a:r>
              <a:rPr lang="ar-EG" sz="2250" spc="22">
                <a:solidFill>
                  <a:srgbClr val="E3D4BC"/>
                </a:solidFill>
                <a:latin typeface="XM Traffic"/>
                <a:ea typeface="XM Traffic"/>
                <a:cs typeface="XM Traffic"/>
                <a:sym typeface="XM Traffic"/>
                <a:rtl val="true"/>
              </a:rPr>
              <a:t>وجهة تجمع بين الاسترخاء، والتعرّف على استخدامات الملح، واكتشاف منتجات مستوحاة من طبيعته</a:t>
            </a:r>
          </a:p>
        </p:txBody>
      </p:sp>
      <p:grpSp>
        <p:nvGrpSpPr>
          <p:cNvPr name="Group 5" id="5"/>
          <p:cNvGrpSpPr/>
          <p:nvPr/>
        </p:nvGrpSpPr>
        <p:grpSpPr>
          <a:xfrm rot="0">
            <a:off x="12296108" y="1367334"/>
            <a:ext cx="5171504" cy="562928"/>
            <a:chOff x="0" y="0"/>
            <a:chExt cx="6895338" cy="750570"/>
          </a:xfrm>
        </p:grpSpPr>
        <p:sp>
          <p:nvSpPr>
            <p:cNvPr name="Freeform 6" id="6"/>
            <p:cNvSpPr/>
            <p:nvPr/>
          </p:nvSpPr>
          <p:spPr>
            <a:xfrm flipH="false" flipV="false" rot="0">
              <a:off x="0" y="0"/>
              <a:ext cx="6895338" cy="750570"/>
            </a:xfrm>
            <a:custGeom>
              <a:avLst/>
              <a:gdLst/>
              <a:ahLst/>
              <a:cxnLst/>
              <a:rect r="r" b="b" t="t" l="l"/>
              <a:pathLst>
                <a:path h="750570" w="6895338">
                  <a:moveTo>
                    <a:pt x="0" y="375285"/>
                  </a:moveTo>
                  <a:cubicBezTo>
                    <a:pt x="0" y="168021"/>
                    <a:pt x="168021" y="0"/>
                    <a:pt x="375285" y="0"/>
                  </a:cubicBezTo>
                  <a:lnTo>
                    <a:pt x="6520053" y="0"/>
                  </a:lnTo>
                  <a:cubicBezTo>
                    <a:pt x="6727317" y="0"/>
                    <a:pt x="6895338" y="168021"/>
                    <a:pt x="6895338" y="375285"/>
                  </a:cubicBezTo>
                  <a:cubicBezTo>
                    <a:pt x="6895338" y="582549"/>
                    <a:pt x="6727317" y="750570"/>
                    <a:pt x="6520053" y="750570"/>
                  </a:cubicBezTo>
                  <a:lnTo>
                    <a:pt x="375285" y="750570"/>
                  </a:lnTo>
                  <a:cubicBezTo>
                    <a:pt x="168021" y="750570"/>
                    <a:pt x="0" y="582549"/>
                    <a:pt x="0" y="375285"/>
                  </a:cubicBezTo>
                  <a:close/>
                </a:path>
              </a:pathLst>
            </a:custGeom>
            <a:solidFill>
              <a:srgbClr val="E8D5B5">
                <a:alpha val="5882"/>
              </a:srgbClr>
            </a:solidFill>
            <a:ln w="14288" cap="sq">
              <a:solidFill>
                <a:srgbClr val="E8D5B5"/>
              </a:solidFill>
              <a:prstDash val="solid"/>
              <a:miter/>
            </a:ln>
          </p:spPr>
        </p:sp>
      </p:grpSp>
      <p:grpSp>
        <p:nvGrpSpPr>
          <p:cNvPr name="Group 7" id="7"/>
          <p:cNvGrpSpPr/>
          <p:nvPr/>
        </p:nvGrpSpPr>
        <p:grpSpPr>
          <a:xfrm rot="0">
            <a:off x="16939260" y="1497922"/>
            <a:ext cx="301752" cy="301752"/>
            <a:chOff x="0" y="0"/>
            <a:chExt cx="402336" cy="402336"/>
          </a:xfrm>
        </p:grpSpPr>
        <p:sp>
          <p:nvSpPr>
            <p:cNvPr name="Freeform 8" id="8"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4"/>
              <a:stretch>
                <a:fillRect l="0" t="0" r="0" b="0"/>
              </a:stretch>
            </a:blipFill>
          </p:spPr>
        </p:sp>
      </p:grpSp>
      <p:grpSp>
        <p:nvGrpSpPr>
          <p:cNvPr name="Group 9" id="9"/>
          <p:cNvGrpSpPr/>
          <p:nvPr/>
        </p:nvGrpSpPr>
        <p:grpSpPr>
          <a:xfrm rot="0">
            <a:off x="12467844" y="1374478"/>
            <a:ext cx="4334256" cy="564812"/>
            <a:chOff x="0" y="0"/>
            <a:chExt cx="5779008" cy="753083"/>
          </a:xfrm>
        </p:grpSpPr>
        <p:sp>
          <p:nvSpPr>
            <p:cNvPr name="Freeform 10" id="10"/>
            <p:cNvSpPr/>
            <p:nvPr/>
          </p:nvSpPr>
          <p:spPr>
            <a:xfrm flipH="false" flipV="false" rot="0">
              <a:off x="0" y="0"/>
              <a:ext cx="5779008" cy="753083"/>
            </a:xfrm>
            <a:custGeom>
              <a:avLst/>
              <a:gdLst/>
              <a:ahLst/>
              <a:cxnLst/>
              <a:rect r="r" b="b" t="t" l="l"/>
              <a:pathLst>
                <a:path h="753083" w="5779008">
                  <a:moveTo>
                    <a:pt x="0" y="0"/>
                  </a:moveTo>
                  <a:lnTo>
                    <a:pt x="5779008" y="0"/>
                  </a:lnTo>
                  <a:lnTo>
                    <a:pt x="5779008" y="753083"/>
                  </a:lnTo>
                  <a:lnTo>
                    <a:pt x="0" y="753083"/>
                  </a:lnTo>
                  <a:close/>
                </a:path>
              </a:pathLst>
            </a:custGeom>
            <a:blipFill>
              <a:blip r:embed="rId5">
                <a:alphaModFix amt="0"/>
              </a:blip>
              <a:stretch>
                <a:fillRect l="0" t="-100955" r="0" b="-98092"/>
              </a:stretch>
            </a:blipFill>
          </p:spPr>
        </p:sp>
        <p:sp>
          <p:nvSpPr>
            <p:cNvPr name="TextBox 11" id="11"/>
            <p:cNvSpPr txBox="true"/>
            <p:nvPr/>
          </p:nvSpPr>
          <p:spPr>
            <a:xfrm>
              <a:off x="0" y="-9525"/>
              <a:ext cx="5779008" cy="762608"/>
            </a:xfrm>
            <a:prstGeom prst="rect">
              <a:avLst/>
            </a:prstGeom>
          </p:spPr>
          <p:txBody>
            <a:bodyPr anchor="ctr" rtlCol="false" tIns="0" lIns="0" bIns="0" rIns="0"/>
            <a:lstStyle/>
            <a:p>
              <a:pPr algn="r" rtl="true">
                <a:lnSpc>
                  <a:spcPts val="2340"/>
                </a:lnSpc>
              </a:pPr>
              <a:r>
                <a:rPr lang="ar-EG" b="true" sz="1950" spc="19">
                  <a:solidFill>
                    <a:srgbClr val="E8D5B5"/>
                  </a:solidFill>
                  <a:latin typeface="XM Traffic Bold"/>
                  <a:ea typeface="XM Traffic Bold"/>
                  <a:cs typeface="XM Traffic Bold"/>
                  <a:sym typeface="XM Traffic Bold"/>
                  <a:rtl val="true"/>
                </a:rPr>
                <a:t>القصب — حكاية الملح</a:t>
              </a:r>
            </a:p>
          </p:txBody>
        </p:sp>
      </p:grpSp>
      <p:grpSp>
        <p:nvGrpSpPr>
          <p:cNvPr name="Group 12" id="12"/>
          <p:cNvGrpSpPr/>
          <p:nvPr/>
        </p:nvGrpSpPr>
        <p:grpSpPr>
          <a:xfrm rot="0">
            <a:off x="7858008" y="1367334"/>
            <a:ext cx="4272393" cy="562928"/>
            <a:chOff x="0" y="0"/>
            <a:chExt cx="5696524" cy="750570"/>
          </a:xfrm>
        </p:grpSpPr>
        <p:sp>
          <p:nvSpPr>
            <p:cNvPr name="Freeform 13" id="13" descr="رابط الموقع على خرائط قوقل">
              <a:hlinkClick r:id="rId6" tooltip="https://www.google.com/maps/search/?api=1&amp;query=%D8%A7%D9%84%D9%82%D8%B5%D8%A8%20%D8%A7%D9%84%D9%85%D8%AC%D9%85%D8%B9%D8%A9"/>
            </p:cNvPr>
            <p:cNvSpPr/>
            <p:nvPr/>
          </p:nvSpPr>
          <p:spPr>
            <a:xfrm flipH="false" flipV="false" rot="0">
              <a:off x="0" y="0"/>
              <a:ext cx="5696562" cy="750570"/>
            </a:xfrm>
            <a:custGeom>
              <a:avLst/>
              <a:gdLst/>
              <a:ahLst/>
              <a:cxnLst/>
              <a:rect r="r" b="b" t="t" l="l"/>
              <a:pathLst>
                <a:path h="750570" w="5696562">
                  <a:moveTo>
                    <a:pt x="0" y="375285"/>
                  </a:moveTo>
                  <a:cubicBezTo>
                    <a:pt x="0" y="168021"/>
                    <a:pt x="216593" y="0"/>
                    <a:pt x="483773" y="0"/>
                  </a:cubicBezTo>
                  <a:lnTo>
                    <a:pt x="5212800" y="0"/>
                  </a:lnTo>
                  <a:cubicBezTo>
                    <a:pt x="5479981" y="0"/>
                    <a:pt x="5696562" y="168021"/>
                    <a:pt x="5696562" y="375285"/>
                  </a:cubicBezTo>
                  <a:cubicBezTo>
                    <a:pt x="5696562" y="582549"/>
                    <a:pt x="5479981" y="750570"/>
                    <a:pt x="5212800" y="750570"/>
                  </a:cubicBezTo>
                  <a:lnTo>
                    <a:pt x="483773" y="750570"/>
                  </a:lnTo>
                  <a:cubicBezTo>
                    <a:pt x="216593" y="750570"/>
                    <a:pt x="0" y="582549"/>
                    <a:pt x="0" y="375285"/>
                  </a:cubicBezTo>
                  <a:close/>
                </a:path>
              </a:pathLst>
            </a:custGeom>
            <a:solidFill>
              <a:srgbClr val="D9A66B"/>
            </a:solidFill>
            <a:ln w="14288" cap="sq">
              <a:solidFill>
                <a:srgbClr val="D9A66B"/>
              </a:solidFill>
              <a:prstDash val="solid"/>
              <a:miter/>
            </a:ln>
          </p:spPr>
        </p:sp>
      </p:grpSp>
      <p:grpSp>
        <p:nvGrpSpPr>
          <p:cNvPr name="Group 14" id="14"/>
          <p:cNvGrpSpPr/>
          <p:nvPr/>
        </p:nvGrpSpPr>
        <p:grpSpPr>
          <a:xfrm rot="0">
            <a:off x="11626501" y="1497922"/>
            <a:ext cx="301752" cy="301752"/>
            <a:chOff x="0" y="0"/>
            <a:chExt cx="402336" cy="402336"/>
          </a:xfrm>
        </p:grpSpPr>
        <p:sp>
          <p:nvSpPr>
            <p:cNvPr name="Freeform 15" id="15"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7"/>
              <a:stretch>
                <a:fillRect l="0" t="0" r="0" b="0"/>
              </a:stretch>
            </a:blipFill>
          </p:spPr>
        </p:sp>
      </p:grpSp>
      <p:grpSp>
        <p:nvGrpSpPr>
          <p:cNvPr name="Group 16" id="16"/>
          <p:cNvGrpSpPr/>
          <p:nvPr/>
        </p:nvGrpSpPr>
        <p:grpSpPr>
          <a:xfrm rot="0">
            <a:off x="8348472" y="1374478"/>
            <a:ext cx="3173035" cy="564812"/>
            <a:chOff x="0" y="0"/>
            <a:chExt cx="4230713" cy="753083"/>
          </a:xfrm>
        </p:grpSpPr>
        <p:sp>
          <p:nvSpPr>
            <p:cNvPr name="Freeform 17" id="17"/>
            <p:cNvSpPr/>
            <p:nvPr/>
          </p:nvSpPr>
          <p:spPr>
            <a:xfrm flipH="false" flipV="false" rot="0">
              <a:off x="0" y="0"/>
              <a:ext cx="4230706" cy="753083"/>
            </a:xfrm>
            <a:custGeom>
              <a:avLst/>
              <a:gdLst/>
              <a:ahLst/>
              <a:cxnLst/>
              <a:rect r="r" b="b" t="t" l="l"/>
              <a:pathLst>
                <a:path h="753083" w="4230706">
                  <a:moveTo>
                    <a:pt x="0" y="0"/>
                  </a:moveTo>
                  <a:lnTo>
                    <a:pt x="4230706" y="0"/>
                  </a:lnTo>
                  <a:lnTo>
                    <a:pt x="4230706" y="753083"/>
                  </a:lnTo>
                  <a:lnTo>
                    <a:pt x="0" y="753083"/>
                  </a:lnTo>
                  <a:close/>
                </a:path>
              </a:pathLst>
            </a:custGeom>
            <a:blipFill>
              <a:blip r:embed="rId5">
                <a:alphaModFix amt="0"/>
              </a:blip>
              <a:stretch>
                <a:fillRect l="0" t="-39341" r="19690" b="-36478"/>
              </a:stretch>
            </a:blipFill>
          </p:spPr>
        </p:sp>
        <p:sp>
          <p:nvSpPr>
            <p:cNvPr name="TextBox 18" id="18"/>
            <p:cNvSpPr txBox="true"/>
            <p:nvPr/>
          </p:nvSpPr>
          <p:spPr>
            <a:xfrm>
              <a:off x="0" y="-9525"/>
              <a:ext cx="4230713" cy="762608"/>
            </a:xfrm>
            <a:prstGeom prst="rect">
              <a:avLst/>
            </a:prstGeom>
          </p:spPr>
          <p:txBody>
            <a:bodyPr anchor="ctr" rtlCol="false" tIns="0" lIns="0" bIns="0" rIns="0"/>
            <a:lstStyle/>
            <a:p>
              <a:pPr algn="r" rtl="true">
                <a:lnSpc>
                  <a:spcPts val="2340"/>
                </a:lnSpc>
              </a:pPr>
              <a:r>
                <a:rPr lang="ar-EG" b="true" sz="1950" spc="20" u="sng">
                  <a:solidFill>
                    <a:srgbClr val="3E2D21"/>
                  </a:solidFill>
                  <a:latin typeface="XM Traffic Bold"/>
                  <a:ea typeface="XM Traffic Bold"/>
                  <a:cs typeface="XM Traffic Bold"/>
                  <a:sym typeface="XM Traffic Bold"/>
                  <a:hlinkClick r:id="rId8" tooltip="https://maps.app.goo.gl/hdbMGtBSv38Tk5o3A?g_st=iw"/>
                  <a:rtl val="true"/>
                </a:rPr>
                <a:t>موقع </a:t>
              </a:r>
              <a:r>
                <a:rPr lang="ar-EG" b="true" sz="1950" spc="20" u="sng">
                  <a:solidFill>
                    <a:srgbClr val="3E2D21"/>
                  </a:solidFill>
                  <a:latin typeface="XM Traffic Bold"/>
                  <a:ea typeface="XM Traffic Bold"/>
                  <a:cs typeface="XM Traffic Bold"/>
                  <a:sym typeface="XM Traffic Bold"/>
                  <a:hlinkClick r:id="rId9" tooltip="https://maps.app.goo.gl/hdbMGtBSv38Tk5o3A?g_st=iw"/>
                  <a:rtl val="true"/>
                </a:rPr>
                <a:t>القصب (مملحه المقحم)</a:t>
              </a:r>
            </a:p>
          </p:txBody>
        </p:sp>
      </p:grpSp>
      <p:grpSp>
        <p:nvGrpSpPr>
          <p:cNvPr name="Group 19" id="19"/>
          <p:cNvGrpSpPr/>
          <p:nvPr/>
        </p:nvGrpSpPr>
        <p:grpSpPr>
          <a:xfrm rot="0">
            <a:off x="8450770" y="8597629"/>
            <a:ext cx="233172" cy="233172"/>
            <a:chOff x="0" y="0"/>
            <a:chExt cx="310896" cy="310896"/>
          </a:xfrm>
        </p:grpSpPr>
        <p:sp>
          <p:nvSpPr>
            <p:cNvPr name="Freeform 20" id="20"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0"/>
              <a:stretch>
                <a:fillRect l="0" t="0" r="0" b="0"/>
              </a:stretch>
            </a:blipFill>
          </p:spPr>
        </p:sp>
      </p:grpSp>
      <p:grpSp>
        <p:nvGrpSpPr>
          <p:cNvPr name="Group 21" id="21"/>
          <p:cNvGrpSpPr/>
          <p:nvPr/>
        </p:nvGrpSpPr>
        <p:grpSpPr>
          <a:xfrm rot="0">
            <a:off x="9916668" y="5761392"/>
            <a:ext cx="7543800" cy="604596"/>
            <a:chOff x="0" y="0"/>
            <a:chExt cx="10058400" cy="806128"/>
          </a:xfrm>
        </p:grpSpPr>
        <p:sp>
          <p:nvSpPr>
            <p:cNvPr name="Freeform 22" id="22"/>
            <p:cNvSpPr/>
            <p:nvPr/>
          </p:nvSpPr>
          <p:spPr>
            <a:xfrm flipH="false" flipV="false" rot="0">
              <a:off x="0" y="0"/>
              <a:ext cx="10058400" cy="806128"/>
            </a:xfrm>
            <a:custGeom>
              <a:avLst/>
              <a:gdLst/>
              <a:ahLst/>
              <a:cxnLst/>
              <a:rect r="r" b="b" t="t" l="l"/>
              <a:pathLst>
                <a:path h="806128" w="10058400">
                  <a:moveTo>
                    <a:pt x="0" y="0"/>
                  </a:moveTo>
                  <a:lnTo>
                    <a:pt x="10058400" y="0"/>
                  </a:lnTo>
                  <a:lnTo>
                    <a:pt x="10058400" y="806128"/>
                  </a:lnTo>
                  <a:lnTo>
                    <a:pt x="0" y="806128"/>
                  </a:lnTo>
                  <a:close/>
                </a:path>
              </a:pathLst>
            </a:custGeom>
            <a:blipFill>
              <a:blip r:embed="rId5">
                <a:alphaModFix amt="0"/>
              </a:blip>
              <a:stretch>
                <a:fillRect l="0" t="-209093" r="0" b="-177152"/>
              </a:stretch>
            </a:blipFill>
          </p:spPr>
        </p:sp>
        <p:sp>
          <p:nvSpPr>
            <p:cNvPr name="TextBox 23" id="23"/>
            <p:cNvSpPr txBox="true"/>
            <p:nvPr/>
          </p:nvSpPr>
          <p:spPr>
            <a:xfrm>
              <a:off x="0" y="0"/>
              <a:ext cx="10058400" cy="806128"/>
            </a:xfrm>
            <a:prstGeom prst="rect">
              <a:avLst/>
            </a:prstGeom>
          </p:spPr>
          <p:txBody>
            <a:bodyPr anchor="ctr" rtlCol="false" tIns="0" lIns="0" bIns="0" rIns="0"/>
            <a:lstStyle/>
            <a:p>
              <a:pPr algn="r" rtl="true">
                <a:lnSpc>
                  <a:spcPts val="2520"/>
                </a:lnSpc>
              </a:pPr>
              <a:r>
                <a:rPr lang="ar-EG" b="true" sz="2100" spc="21">
                  <a:solidFill>
                    <a:srgbClr val="F3E3C8"/>
                  </a:solidFill>
                  <a:latin typeface="XM Traffic Bold"/>
                  <a:ea typeface="XM Traffic Bold"/>
                  <a:cs typeface="XM Traffic Bold"/>
                  <a:sym typeface="XM Traffic Bold"/>
                  <a:rtl val="true"/>
                </a:rPr>
                <a:t>عناصر التجربة</a:t>
              </a:r>
            </a:p>
          </p:txBody>
        </p:sp>
      </p:grpSp>
      <p:grpSp>
        <p:nvGrpSpPr>
          <p:cNvPr name="Group 24" id="24"/>
          <p:cNvGrpSpPr/>
          <p:nvPr/>
        </p:nvGrpSpPr>
        <p:grpSpPr>
          <a:xfrm rot="0">
            <a:off x="9909524" y="6302889"/>
            <a:ext cx="7558088" cy="617792"/>
            <a:chOff x="0" y="0"/>
            <a:chExt cx="10077450" cy="823722"/>
          </a:xfrm>
        </p:grpSpPr>
        <p:sp>
          <p:nvSpPr>
            <p:cNvPr name="Freeform 25" id="25"/>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26" id="26"/>
          <p:cNvGrpSpPr/>
          <p:nvPr/>
        </p:nvGrpSpPr>
        <p:grpSpPr>
          <a:xfrm rot="0">
            <a:off x="16829532" y="6378612"/>
            <a:ext cx="466344" cy="466344"/>
            <a:chOff x="0" y="0"/>
            <a:chExt cx="621792" cy="621792"/>
          </a:xfrm>
        </p:grpSpPr>
        <p:sp>
          <p:nvSpPr>
            <p:cNvPr name="Freeform 27" id="27"/>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E6248"/>
            </a:solidFill>
          </p:spPr>
        </p:sp>
      </p:grpSp>
      <p:grpSp>
        <p:nvGrpSpPr>
          <p:cNvPr name="Group 28" id="28"/>
          <p:cNvGrpSpPr/>
          <p:nvPr/>
        </p:nvGrpSpPr>
        <p:grpSpPr>
          <a:xfrm rot="0">
            <a:off x="16946118" y="6495198"/>
            <a:ext cx="233172" cy="233172"/>
            <a:chOff x="0" y="0"/>
            <a:chExt cx="310896" cy="310896"/>
          </a:xfrm>
        </p:grpSpPr>
        <p:sp>
          <p:nvSpPr>
            <p:cNvPr name="Freeform 29" id="29"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1"/>
              <a:stretch>
                <a:fillRect l="0" t="0" r="0" b="0"/>
              </a:stretch>
            </a:blipFill>
          </p:spPr>
        </p:sp>
      </p:grpSp>
      <p:grpSp>
        <p:nvGrpSpPr>
          <p:cNvPr name="Group 30" id="30"/>
          <p:cNvGrpSpPr/>
          <p:nvPr/>
        </p:nvGrpSpPr>
        <p:grpSpPr>
          <a:xfrm rot="0">
            <a:off x="10081260" y="6310032"/>
            <a:ext cx="6583680" cy="603504"/>
            <a:chOff x="0" y="0"/>
            <a:chExt cx="8778240" cy="804672"/>
          </a:xfrm>
        </p:grpSpPr>
        <p:sp>
          <p:nvSpPr>
            <p:cNvPr name="Freeform 31" id="31"/>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5">
                <a:alphaModFix amt="0"/>
              </a:blip>
              <a:stretch>
                <a:fillRect l="0" t="-162564" r="0" b="-162564"/>
              </a:stretch>
            </a:blipFill>
          </p:spPr>
        </p:sp>
        <p:sp>
          <p:nvSpPr>
            <p:cNvPr name="TextBox 32" id="32"/>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التعريف بتاريخ الملح ومصادره</a:t>
              </a:r>
            </a:p>
          </p:txBody>
        </p:sp>
      </p:grpSp>
      <p:grpSp>
        <p:nvGrpSpPr>
          <p:cNvPr name="Group 33" id="33"/>
          <p:cNvGrpSpPr/>
          <p:nvPr/>
        </p:nvGrpSpPr>
        <p:grpSpPr>
          <a:xfrm rot="0">
            <a:off x="9909524" y="6988689"/>
            <a:ext cx="7558088" cy="617792"/>
            <a:chOff x="0" y="0"/>
            <a:chExt cx="10077450" cy="823722"/>
          </a:xfrm>
        </p:grpSpPr>
        <p:sp>
          <p:nvSpPr>
            <p:cNvPr name="Freeform 34" id="34"/>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35" id="35"/>
          <p:cNvGrpSpPr/>
          <p:nvPr/>
        </p:nvGrpSpPr>
        <p:grpSpPr>
          <a:xfrm rot="0">
            <a:off x="16829532" y="7064412"/>
            <a:ext cx="466344" cy="466344"/>
            <a:chOff x="0" y="0"/>
            <a:chExt cx="621792" cy="621792"/>
          </a:xfrm>
        </p:grpSpPr>
        <p:sp>
          <p:nvSpPr>
            <p:cNvPr name="Freeform 36" id="36"/>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E6248"/>
            </a:solidFill>
          </p:spPr>
        </p:sp>
      </p:grpSp>
      <p:grpSp>
        <p:nvGrpSpPr>
          <p:cNvPr name="Group 37" id="37"/>
          <p:cNvGrpSpPr/>
          <p:nvPr/>
        </p:nvGrpSpPr>
        <p:grpSpPr>
          <a:xfrm rot="0">
            <a:off x="16946118" y="7180998"/>
            <a:ext cx="233172" cy="233172"/>
            <a:chOff x="0" y="0"/>
            <a:chExt cx="310896" cy="310896"/>
          </a:xfrm>
        </p:grpSpPr>
        <p:sp>
          <p:nvSpPr>
            <p:cNvPr name="Freeform 38" id="38"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2"/>
              <a:stretch>
                <a:fillRect l="0" t="0" r="0" b="0"/>
              </a:stretch>
            </a:blipFill>
          </p:spPr>
        </p:sp>
      </p:grpSp>
      <p:grpSp>
        <p:nvGrpSpPr>
          <p:cNvPr name="Group 39" id="39"/>
          <p:cNvGrpSpPr/>
          <p:nvPr/>
        </p:nvGrpSpPr>
        <p:grpSpPr>
          <a:xfrm rot="0">
            <a:off x="10081260" y="6995832"/>
            <a:ext cx="6583680" cy="603504"/>
            <a:chOff x="0" y="0"/>
            <a:chExt cx="8778240" cy="804672"/>
          </a:xfrm>
        </p:grpSpPr>
        <p:sp>
          <p:nvSpPr>
            <p:cNvPr name="Freeform 40" id="40"/>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5">
                <a:alphaModFix amt="0"/>
              </a:blip>
              <a:stretch>
                <a:fillRect l="0" t="-162564" r="0" b="-162564"/>
              </a:stretch>
            </a:blipFill>
          </p:spPr>
        </p:sp>
        <p:sp>
          <p:nvSpPr>
            <p:cNvPr name="TextBox 41" id="41"/>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إبراز طرق استخدامه في الحياة اليومية</a:t>
              </a:r>
            </a:p>
          </p:txBody>
        </p:sp>
      </p:grpSp>
      <p:grpSp>
        <p:nvGrpSpPr>
          <p:cNvPr name="Group 42" id="42"/>
          <p:cNvGrpSpPr/>
          <p:nvPr/>
        </p:nvGrpSpPr>
        <p:grpSpPr>
          <a:xfrm rot="0">
            <a:off x="9909524" y="7674489"/>
            <a:ext cx="7558088" cy="617792"/>
            <a:chOff x="0" y="0"/>
            <a:chExt cx="10077450" cy="823722"/>
          </a:xfrm>
        </p:grpSpPr>
        <p:sp>
          <p:nvSpPr>
            <p:cNvPr name="Freeform 43" id="43"/>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44" id="44"/>
          <p:cNvGrpSpPr/>
          <p:nvPr/>
        </p:nvGrpSpPr>
        <p:grpSpPr>
          <a:xfrm rot="0">
            <a:off x="16829532" y="7750212"/>
            <a:ext cx="466344" cy="466344"/>
            <a:chOff x="0" y="0"/>
            <a:chExt cx="621792" cy="621792"/>
          </a:xfrm>
        </p:grpSpPr>
        <p:sp>
          <p:nvSpPr>
            <p:cNvPr name="Freeform 45" id="45"/>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E6248"/>
            </a:solidFill>
          </p:spPr>
        </p:sp>
      </p:grpSp>
      <p:grpSp>
        <p:nvGrpSpPr>
          <p:cNvPr name="Group 46" id="46"/>
          <p:cNvGrpSpPr/>
          <p:nvPr/>
        </p:nvGrpSpPr>
        <p:grpSpPr>
          <a:xfrm rot="0">
            <a:off x="16946118" y="7866798"/>
            <a:ext cx="233172" cy="233172"/>
            <a:chOff x="0" y="0"/>
            <a:chExt cx="310896" cy="310896"/>
          </a:xfrm>
        </p:grpSpPr>
        <p:sp>
          <p:nvSpPr>
            <p:cNvPr name="Freeform 47" id="47"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3"/>
              <a:stretch>
                <a:fillRect l="0" t="0" r="0" b="0"/>
              </a:stretch>
            </a:blipFill>
          </p:spPr>
        </p:sp>
      </p:grpSp>
      <p:grpSp>
        <p:nvGrpSpPr>
          <p:cNvPr name="Group 48" id="48"/>
          <p:cNvGrpSpPr/>
          <p:nvPr/>
        </p:nvGrpSpPr>
        <p:grpSpPr>
          <a:xfrm rot="0">
            <a:off x="10081260" y="7681632"/>
            <a:ext cx="6583680" cy="603504"/>
            <a:chOff x="0" y="0"/>
            <a:chExt cx="8778240" cy="804672"/>
          </a:xfrm>
        </p:grpSpPr>
        <p:sp>
          <p:nvSpPr>
            <p:cNvPr name="Freeform 49" id="49"/>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5">
                <a:alphaModFix amt="0"/>
              </a:blip>
              <a:stretch>
                <a:fillRect l="0" t="-162564" r="0" b="-162564"/>
              </a:stretch>
            </a:blipFill>
          </p:spPr>
        </p:sp>
        <p:sp>
          <p:nvSpPr>
            <p:cNvPr name="TextBox 50" id="50"/>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عرض المنتجات المحلية المرتبطة بالملح</a:t>
              </a:r>
            </a:p>
          </p:txBody>
        </p:sp>
      </p:grpSp>
      <p:grpSp>
        <p:nvGrpSpPr>
          <p:cNvPr name="Group 51" id="51"/>
          <p:cNvGrpSpPr/>
          <p:nvPr/>
        </p:nvGrpSpPr>
        <p:grpSpPr>
          <a:xfrm rot="0">
            <a:off x="9909524" y="8360289"/>
            <a:ext cx="7558088" cy="617792"/>
            <a:chOff x="0" y="0"/>
            <a:chExt cx="10077450" cy="823722"/>
          </a:xfrm>
        </p:grpSpPr>
        <p:sp>
          <p:nvSpPr>
            <p:cNvPr name="Freeform 52" id="52"/>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53" id="53"/>
          <p:cNvGrpSpPr/>
          <p:nvPr/>
        </p:nvGrpSpPr>
        <p:grpSpPr>
          <a:xfrm rot="0">
            <a:off x="16829532" y="8436012"/>
            <a:ext cx="466344" cy="466344"/>
            <a:chOff x="0" y="0"/>
            <a:chExt cx="621792" cy="621792"/>
          </a:xfrm>
        </p:grpSpPr>
        <p:sp>
          <p:nvSpPr>
            <p:cNvPr name="Freeform 54" id="54"/>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E6248"/>
            </a:solidFill>
          </p:spPr>
        </p:sp>
      </p:grpSp>
      <p:grpSp>
        <p:nvGrpSpPr>
          <p:cNvPr name="Group 55" id="55"/>
          <p:cNvGrpSpPr/>
          <p:nvPr/>
        </p:nvGrpSpPr>
        <p:grpSpPr>
          <a:xfrm rot="0">
            <a:off x="16946118" y="8552598"/>
            <a:ext cx="233172" cy="233172"/>
            <a:chOff x="0" y="0"/>
            <a:chExt cx="310896" cy="310896"/>
          </a:xfrm>
        </p:grpSpPr>
        <p:sp>
          <p:nvSpPr>
            <p:cNvPr name="Freeform 56" id="56"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4"/>
              <a:stretch>
                <a:fillRect l="0" t="0" r="0" b="0"/>
              </a:stretch>
            </a:blipFill>
          </p:spPr>
        </p:sp>
      </p:grpSp>
      <p:grpSp>
        <p:nvGrpSpPr>
          <p:cNvPr name="Group 57" id="57"/>
          <p:cNvGrpSpPr/>
          <p:nvPr/>
        </p:nvGrpSpPr>
        <p:grpSpPr>
          <a:xfrm rot="0">
            <a:off x="10081260" y="8367432"/>
            <a:ext cx="6583680" cy="603504"/>
            <a:chOff x="0" y="0"/>
            <a:chExt cx="8778240" cy="804672"/>
          </a:xfrm>
        </p:grpSpPr>
        <p:sp>
          <p:nvSpPr>
            <p:cNvPr name="Freeform 58" id="58"/>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5">
                <a:alphaModFix amt="0"/>
              </a:blip>
              <a:stretch>
                <a:fillRect l="0" t="-162564" r="0" b="-162564"/>
              </a:stretch>
            </a:blipFill>
          </p:spPr>
        </p:sp>
        <p:sp>
          <p:nvSpPr>
            <p:cNvPr name="TextBox 59" id="59"/>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تصميم مساحة حسية مستوحاة من خامات الملح</a:t>
              </a:r>
            </a:p>
          </p:txBody>
        </p:sp>
      </p:grpSp>
      <p:grpSp>
        <p:nvGrpSpPr>
          <p:cNvPr name="Group 60" id="60"/>
          <p:cNvGrpSpPr/>
          <p:nvPr/>
        </p:nvGrpSpPr>
        <p:grpSpPr>
          <a:xfrm rot="0">
            <a:off x="9909524" y="9046089"/>
            <a:ext cx="7558088" cy="617792"/>
            <a:chOff x="0" y="0"/>
            <a:chExt cx="10077450" cy="823722"/>
          </a:xfrm>
        </p:grpSpPr>
        <p:sp>
          <p:nvSpPr>
            <p:cNvPr name="Freeform 61" id="61"/>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62" id="62"/>
          <p:cNvGrpSpPr/>
          <p:nvPr/>
        </p:nvGrpSpPr>
        <p:grpSpPr>
          <a:xfrm rot="0">
            <a:off x="16829532" y="9121812"/>
            <a:ext cx="466344" cy="466344"/>
            <a:chOff x="0" y="0"/>
            <a:chExt cx="621792" cy="621792"/>
          </a:xfrm>
        </p:grpSpPr>
        <p:sp>
          <p:nvSpPr>
            <p:cNvPr name="Freeform 63" id="63"/>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E6248"/>
            </a:solidFill>
          </p:spPr>
        </p:sp>
      </p:grpSp>
      <p:grpSp>
        <p:nvGrpSpPr>
          <p:cNvPr name="Group 64" id="64"/>
          <p:cNvGrpSpPr/>
          <p:nvPr/>
        </p:nvGrpSpPr>
        <p:grpSpPr>
          <a:xfrm rot="0">
            <a:off x="16946118" y="9238398"/>
            <a:ext cx="233172" cy="233172"/>
            <a:chOff x="0" y="0"/>
            <a:chExt cx="310896" cy="310896"/>
          </a:xfrm>
        </p:grpSpPr>
        <p:sp>
          <p:nvSpPr>
            <p:cNvPr name="Freeform 65" id="65"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0"/>
              <a:stretch>
                <a:fillRect l="0" t="0" r="0" b="0"/>
              </a:stretch>
            </a:blipFill>
          </p:spPr>
        </p:sp>
      </p:grpSp>
      <p:grpSp>
        <p:nvGrpSpPr>
          <p:cNvPr name="Group 66" id="66"/>
          <p:cNvGrpSpPr/>
          <p:nvPr/>
        </p:nvGrpSpPr>
        <p:grpSpPr>
          <a:xfrm rot="0">
            <a:off x="10081260" y="9053232"/>
            <a:ext cx="6583680" cy="603504"/>
            <a:chOff x="0" y="0"/>
            <a:chExt cx="8778240" cy="804672"/>
          </a:xfrm>
        </p:grpSpPr>
        <p:sp>
          <p:nvSpPr>
            <p:cNvPr name="Freeform 67" id="67"/>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5">
                <a:alphaModFix amt="0"/>
              </a:blip>
              <a:stretch>
                <a:fillRect l="0" t="-162564" r="0" b="-162564"/>
              </a:stretch>
            </a:blipFill>
          </p:spPr>
        </p:sp>
        <p:sp>
          <p:nvSpPr>
            <p:cNvPr name="TextBox 68" id="68"/>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تقديم تجربة استجمام بهوية محلية</a:t>
              </a:r>
            </a:p>
          </p:txBody>
        </p:sp>
      </p:grpSp>
      <p:grpSp>
        <p:nvGrpSpPr>
          <p:cNvPr name="Group 69" id="69"/>
          <p:cNvGrpSpPr/>
          <p:nvPr/>
        </p:nvGrpSpPr>
        <p:grpSpPr>
          <a:xfrm rot="0">
            <a:off x="-697706" y="-11906"/>
            <a:ext cx="7567612" cy="10310812"/>
            <a:chOff x="0" y="0"/>
            <a:chExt cx="10090150" cy="13747750"/>
          </a:xfrm>
        </p:grpSpPr>
        <p:sp>
          <p:nvSpPr>
            <p:cNvPr name="Freeform 70" id="70"/>
            <p:cNvSpPr/>
            <p:nvPr/>
          </p:nvSpPr>
          <p:spPr>
            <a:xfrm flipH="false" flipV="false" rot="0">
              <a:off x="0" y="0"/>
              <a:ext cx="10090150" cy="13747877"/>
            </a:xfrm>
            <a:custGeom>
              <a:avLst/>
              <a:gdLst/>
              <a:ahLst/>
              <a:cxnLst/>
              <a:rect r="r" b="b" t="t" l="l"/>
              <a:pathLst>
                <a:path h="13747877" w="10090150">
                  <a:moveTo>
                    <a:pt x="0" y="825627"/>
                  </a:moveTo>
                  <a:cubicBezTo>
                    <a:pt x="0" y="369570"/>
                    <a:pt x="369570" y="0"/>
                    <a:pt x="825627" y="0"/>
                  </a:cubicBezTo>
                  <a:lnTo>
                    <a:pt x="9264523" y="0"/>
                  </a:lnTo>
                  <a:cubicBezTo>
                    <a:pt x="9720453" y="0"/>
                    <a:pt x="10090150" y="369570"/>
                    <a:pt x="10090150" y="825627"/>
                  </a:cubicBezTo>
                  <a:lnTo>
                    <a:pt x="10090150" y="12922250"/>
                  </a:lnTo>
                  <a:cubicBezTo>
                    <a:pt x="10090150" y="13378180"/>
                    <a:pt x="9720580" y="13747877"/>
                    <a:pt x="9264523" y="13747877"/>
                  </a:cubicBezTo>
                  <a:lnTo>
                    <a:pt x="825627" y="13747877"/>
                  </a:lnTo>
                  <a:cubicBezTo>
                    <a:pt x="369570" y="13747750"/>
                    <a:pt x="0" y="13378180"/>
                    <a:pt x="0" y="12922123"/>
                  </a:cubicBezTo>
                  <a:close/>
                </a:path>
              </a:pathLst>
            </a:custGeom>
            <a:solidFill>
              <a:srgbClr val="3E2D21"/>
            </a:solidFill>
            <a:ln w="23812" cap="sq">
              <a:solidFill>
                <a:srgbClr val="D9A66B"/>
              </a:solidFill>
              <a:prstDash val="dash"/>
              <a:miter/>
            </a:ln>
          </p:spPr>
        </p:sp>
      </p:grpSp>
      <p:grpSp>
        <p:nvGrpSpPr>
          <p:cNvPr name="Group 71" id="71"/>
          <p:cNvGrpSpPr/>
          <p:nvPr/>
        </p:nvGrpSpPr>
        <p:grpSpPr>
          <a:xfrm rot="0">
            <a:off x="-446056" y="239744"/>
            <a:ext cx="7064312" cy="9807512"/>
            <a:chOff x="0" y="0"/>
            <a:chExt cx="9419082" cy="13076682"/>
          </a:xfrm>
        </p:grpSpPr>
        <p:sp>
          <p:nvSpPr>
            <p:cNvPr name="Freeform 72" id="72"/>
            <p:cNvSpPr/>
            <p:nvPr/>
          </p:nvSpPr>
          <p:spPr>
            <a:xfrm flipH="false" flipV="false" rot="0">
              <a:off x="0" y="0"/>
              <a:ext cx="9419082" cy="13076682"/>
            </a:xfrm>
            <a:custGeom>
              <a:avLst/>
              <a:gdLst/>
              <a:ahLst/>
              <a:cxnLst/>
              <a:rect r="r" b="b" t="t" l="l"/>
              <a:pathLst>
                <a:path h="13076682" w="9419082">
                  <a:moveTo>
                    <a:pt x="0" y="604647"/>
                  </a:moveTo>
                  <a:cubicBezTo>
                    <a:pt x="0" y="270764"/>
                    <a:pt x="270764" y="0"/>
                    <a:pt x="604647" y="0"/>
                  </a:cubicBezTo>
                  <a:lnTo>
                    <a:pt x="8814435" y="0"/>
                  </a:lnTo>
                  <a:cubicBezTo>
                    <a:pt x="9148445" y="0"/>
                    <a:pt x="9419082" y="270764"/>
                    <a:pt x="9419082" y="604647"/>
                  </a:cubicBezTo>
                  <a:lnTo>
                    <a:pt x="9419082" y="12472035"/>
                  </a:lnTo>
                  <a:cubicBezTo>
                    <a:pt x="9419082" y="12806045"/>
                    <a:pt x="9148318" y="13076682"/>
                    <a:pt x="8814435" y="13076682"/>
                  </a:cubicBezTo>
                  <a:lnTo>
                    <a:pt x="604647" y="13076682"/>
                  </a:lnTo>
                  <a:cubicBezTo>
                    <a:pt x="270637" y="13076682"/>
                    <a:pt x="0" y="12805918"/>
                    <a:pt x="0" y="12472035"/>
                  </a:cubicBezTo>
                  <a:close/>
                </a:path>
              </a:pathLst>
            </a:custGeom>
            <a:blipFill>
              <a:blip r:embed="rId5">
                <a:alphaModFix amt="0"/>
              </a:blip>
              <a:stretch>
                <a:fillRect l="-128126" t="0" r="-128126" b="0"/>
              </a:stretch>
            </a:blipFill>
            <a:ln w="14288" cap="sq">
              <a:solidFill>
                <a:srgbClr val="D9A66B"/>
              </a:solidFill>
              <a:prstDash val="solid"/>
              <a:miter/>
            </a:ln>
          </p:spPr>
        </p:sp>
      </p:grpSp>
      <p:grpSp>
        <p:nvGrpSpPr>
          <p:cNvPr name="Group 73" id="73"/>
          <p:cNvGrpSpPr/>
          <p:nvPr/>
        </p:nvGrpSpPr>
        <p:grpSpPr>
          <a:xfrm rot="0">
            <a:off x="0" y="239744"/>
            <a:ext cx="6618256" cy="9807512"/>
            <a:chOff x="0" y="0"/>
            <a:chExt cx="8824341" cy="13076682"/>
          </a:xfrm>
        </p:grpSpPr>
        <p:sp>
          <p:nvSpPr>
            <p:cNvPr name="Freeform 74" id="74"/>
            <p:cNvSpPr/>
            <p:nvPr/>
          </p:nvSpPr>
          <p:spPr>
            <a:xfrm flipH="false" flipV="false" rot="0">
              <a:off x="0" y="0"/>
              <a:ext cx="8824341" cy="13076682"/>
            </a:xfrm>
            <a:custGeom>
              <a:avLst/>
              <a:gdLst/>
              <a:ahLst/>
              <a:cxnLst/>
              <a:rect r="r" b="b" t="t" l="l"/>
              <a:pathLst>
                <a:path h="13076682" w="8824341">
                  <a:moveTo>
                    <a:pt x="192400" y="0"/>
                  </a:moveTo>
                  <a:lnTo>
                    <a:pt x="8631941" y="0"/>
                  </a:lnTo>
                  <a:cubicBezTo>
                    <a:pt x="8738201" y="0"/>
                    <a:pt x="8824341" y="86140"/>
                    <a:pt x="8824341" y="192400"/>
                  </a:cubicBezTo>
                  <a:lnTo>
                    <a:pt x="8824341" y="12884283"/>
                  </a:lnTo>
                  <a:cubicBezTo>
                    <a:pt x="8824341" y="12990542"/>
                    <a:pt x="8738201" y="13076682"/>
                    <a:pt x="8631941" y="13076682"/>
                  </a:cubicBezTo>
                  <a:lnTo>
                    <a:pt x="192400" y="13076682"/>
                  </a:lnTo>
                  <a:cubicBezTo>
                    <a:pt x="86140" y="13076682"/>
                    <a:pt x="0" y="12990542"/>
                    <a:pt x="0" y="12884283"/>
                  </a:cubicBezTo>
                  <a:lnTo>
                    <a:pt x="0" y="192400"/>
                  </a:lnTo>
                  <a:cubicBezTo>
                    <a:pt x="0" y="86140"/>
                    <a:pt x="86140" y="0"/>
                    <a:pt x="192400" y="0"/>
                  </a:cubicBezTo>
                  <a:close/>
                </a:path>
              </a:pathLst>
            </a:custGeom>
            <a:blipFill>
              <a:blip r:embed="rId15">
                <a:alphaModFix amt="65000"/>
              </a:blip>
              <a:stretch>
                <a:fillRect l="-31422" t="0" r="-31422" b="0"/>
              </a:stretch>
            </a:blipFill>
          </p:spPr>
        </p:sp>
      </p:grpSp>
      <p:sp>
        <p:nvSpPr>
          <p:cNvPr name="Freeform 75" id="75"/>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6"/>
            <a:stretch>
              <a:fillRect l="0" t="-22113" r="0" b="-17967"/>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507807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E8D5B5">
                <a:alpha val="1176"/>
              </a:srgbClr>
            </a:solidFill>
          </p:spPr>
        </p:sp>
      </p:grpSp>
      <p:grpSp>
        <p:nvGrpSpPr>
          <p:cNvPr name="Group 5" id="5"/>
          <p:cNvGrpSpPr/>
          <p:nvPr/>
        </p:nvGrpSpPr>
        <p:grpSpPr>
          <a:xfrm rot="0">
            <a:off x="673894" y="1378744"/>
            <a:ext cx="6333172" cy="4040399"/>
            <a:chOff x="0" y="0"/>
            <a:chExt cx="8444230" cy="5387198"/>
          </a:xfrm>
        </p:grpSpPr>
        <p:sp>
          <p:nvSpPr>
            <p:cNvPr name="Freeform 6" id="6"/>
            <p:cNvSpPr/>
            <p:nvPr/>
          </p:nvSpPr>
          <p:spPr>
            <a:xfrm flipH="false" flipV="false" rot="0">
              <a:off x="0" y="0"/>
              <a:ext cx="8444230" cy="5387199"/>
            </a:xfrm>
            <a:custGeom>
              <a:avLst/>
              <a:gdLst/>
              <a:ahLst/>
              <a:cxnLst/>
              <a:rect r="r" b="b" t="t" l="l"/>
              <a:pathLst>
                <a:path h="5387199" w="8444230">
                  <a:moveTo>
                    <a:pt x="0" y="342407"/>
                  </a:moveTo>
                  <a:cubicBezTo>
                    <a:pt x="0" y="153319"/>
                    <a:pt x="328803" y="0"/>
                    <a:pt x="734314" y="0"/>
                  </a:cubicBezTo>
                  <a:lnTo>
                    <a:pt x="7709916" y="0"/>
                  </a:lnTo>
                  <a:cubicBezTo>
                    <a:pt x="8115427" y="0"/>
                    <a:pt x="8444230" y="153319"/>
                    <a:pt x="8444230" y="342407"/>
                  </a:cubicBezTo>
                  <a:lnTo>
                    <a:pt x="8444230" y="5044791"/>
                  </a:lnTo>
                  <a:cubicBezTo>
                    <a:pt x="8444230" y="5233879"/>
                    <a:pt x="8115427" y="5387199"/>
                    <a:pt x="7709916" y="5387199"/>
                  </a:cubicBezTo>
                  <a:lnTo>
                    <a:pt x="734314" y="5387199"/>
                  </a:lnTo>
                  <a:cubicBezTo>
                    <a:pt x="328803" y="5387199"/>
                    <a:pt x="0" y="5233879"/>
                    <a:pt x="0" y="5044791"/>
                  </a:cubicBezTo>
                  <a:close/>
                </a:path>
              </a:pathLst>
            </a:custGeom>
            <a:solidFill>
              <a:srgbClr val="3E2D21"/>
            </a:solidFill>
            <a:ln w="23812" cap="sq">
              <a:solidFill>
                <a:srgbClr val="E8D5B5"/>
              </a:solidFill>
              <a:prstDash val="dash"/>
              <a:miter/>
            </a:ln>
          </p:spPr>
        </p:sp>
      </p:grpSp>
      <p:grpSp>
        <p:nvGrpSpPr>
          <p:cNvPr name="Group 7" id="7"/>
          <p:cNvGrpSpPr/>
          <p:nvPr/>
        </p:nvGrpSpPr>
        <p:grpSpPr>
          <a:xfrm rot="0">
            <a:off x="925544" y="1496087"/>
            <a:ext cx="5829871" cy="3805712"/>
            <a:chOff x="0" y="0"/>
            <a:chExt cx="7773162" cy="5074282"/>
          </a:xfrm>
        </p:grpSpPr>
        <p:sp>
          <p:nvSpPr>
            <p:cNvPr name="Freeform 8" id="8"/>
            <p:cNvSpPr/>
            <p:nvPr/>
          </p:nvSpPr>
          <p:spPr>
            <a:xfrm flipH="false" flipV="false" rot="0">
              <a:off x="0" y="0"/>
              <a:ext cx="7773162" cy="5074283"/>
            </a:xfrm>
            <a:custGeom>
              <a:avLst/>
              <a:gdLst/>
              <a:ahLst/>
              <a:cxnLst/>
              <a:rect r="r" b="b" t="t" l="l"/>
              <a:pathLst>
                <a:path h="5074283" w="7773162">
                  <a:moveTo>
                    <a:pt x="0" y="239365"/>
                  </a:moveTo>
                  <a:cubicBezTo>
                    <a:pt x="0" y="107187"/>
                    <a:pt x="229870" y="0"/>
                    <a:pt x="513334" y="0"/>
                  </a:cubicBezTo>
                  <a:lnTo>
                    <a:pt x="7259828" y="0"/>
                  </a:lnTo>
                  <a:cubicBezTo>
                    <a:pt x="7543292" y="0"/>
                    <a:pt x="7773162" y="107187"/>
                    <a:pt x="7773162" y="239365"/>
                  </a:cubicBezTo>
                  <a:lnTo>
                    <a:pt x="7773162" y="4834917"/>
                  </a:lnTo>
                  <a:cubicBezTo>
                    <a:pt x="7773162" y="4967095"/>
                    <a:pt x="7543292" y="5074283"/>
                    <a:pt x="7259828" y="5074283"/>
                  </a:cubicBezTo>
                  <a:lnTo>
                    <a:pt x="513334" y="5074283"/>
                  </a:lnTo>
                  <a:cubicBezTo>
                    <a:pt x="229870" y="5074283"/>
                    <a:pt x="0" y="4967095"/>
                    <a:pt x="0" y="4834917"/>
                  </a:cubicBezTo>
                  <a:close/>
                </a:path>
              </a:pathLst>
            </a:custGeom>
            <a:blipFill>
              <a:blip r:embed="rId4">
                <a:alphaModFix amt="0"/>
              </a:blip>
              <a:stretch>
                <a:fillRect l="-129619" t="0" r="-129619" b="-114456"/>
              </a:stretch>
            </a:blipFill>
            <a:ln w="14288" cap="sq">
              <a:solidFill>
                <a:srgbClr val="E8D5B5"/>
              </a:solidFill>
              <a:prstDash val="solid"/>
              <a:miter/>
            </a:ln>
          </p:spPr>
        </p:sp>
      </p:grpSp>
      <p:grpSp>
        <p:nvGrpSpPr>
          <p:cNvPr name="Group 9" id="9"/>
          <p:cNvGrpSpPr/>
          <p:nvPr/>
        </p:nvGrpSpPr>
        <p:grpSpPr>
          <a:xfrm rot="0">
            <a:off x="925544" y="1488159"/>
            <a:ext cx="5829872" cy="3821568"/>
            <a:chOff x="0" y="0"/>
            <a:chExt cx="7773162" cy="5095424"/>
          </a:xfrm>
        </p:grpSpPr>
        <p:sp>
          <p:nvSpPr>
            <p:cNvPr name="Freeform 10" id="10"/>
            <p:cNvSpPr/>
            <p:nvPr/>
          </p:nvSpPr>
          <p:spPr>
            <a:xfrm flipH="false" flipV="false" rot="0">
              <a:off x="0" y="0"/>
              <a:ext cx="7773162" cy="5095424"/>
            </a:xfrm>
            <a:custGeom>
              <a:avLst/>
              <a:gdLst/>
              <a:ahLst/>
              <a:cxnLst/>
              <a:rect r="r" b="b" t="t" l="l"/>
              <a:pathLst>
                <a:path h="5095424" w="7773162">
                  <a:moveTo>
                    <a:pt x="233657" y="0"/>
                  </a:moveTo>
                  <a:lnTo>
                    <a:pt x="7539505" y="0"/>
                  </a:lnTo>
                  <a:cubicBezTo>
                    <a:pt x="7668550" y="0"/>
                    <a:pt x="7773162" y="104612"/>
                    <a:pt x="7773162" y="233657"/>
                  </a:cubicBezTo>
                  <a:lnTo>
                    <a:pt x="7773162" y="4861767"/>
                  </a:lnTo>
                  <a:cubicBezTo>
                    <a:pt x="7773162" y="4990812"/>
                    <a:pt x="7668550" y="5095424"/>
                    <a:pt x="7539505" y="5095424"/>
                  </a:cubicBezTo>
                  <a:lnTo>
                    <a:pt x="233657" y="5095424"/>
                  </a:lnTo>
                  <a:cubicBezTo>
                    <a:pt x="104612" y="5095424"/>
                    <a:pt x="0" y="4990812"/>
                    <a:pt x="0" y="4861767"/>
                  </a:cubicBezTo>
                  <a:lnTo>
                    <a:pt x="0" y="233657"/>
                  </a:lnTo>
                  <a:cubicBezTo>
                    <a:pt x="0" y="104612"/>
                    <a:pt x="104612" y="0"/>
                    <a:pt x="233657" y="0"/>
                  </a:cubicBezTo>
                  <a:close/>
                </a:path>
              </a:pathLst>
            </a:custGeom>
            <a:blipFill>
              <a:blip r:embed="rId5">
                <a:alphaModFix amt="65000"/>
              </a:blip>
              <a:stretch>
                <a:fillRect l="0" t="-51701" r="0" b="-51701"/>
              </a:stretch>
            </a:blipFill>
          </p:spPr>
        </p:sp>
      </p:grpSp>
      <p:grpSp>
        <p:nvGrpSpPr>
          <p:cNvPr name="Group 11" id="11"/>
          <p:cNvGrpSpPr/>
          <p:nvPr/>
        </p:nvGrpSpPr>
        <p:grpSpPr>
          <a:xfrm rot="0">
            <a:off x="12296108" y="815816"/>
            <a:ext cx="5171504" cy="562928"/>
            <a:chOff x="0" y="0"/>
            <a:chExt cx="6895338" cy="750570"/>
          </a:xfrm>
        </p:grpSpPr>
        <p:sp>
          <p:nvSpPr>
            <p:cNvPr name="Freeform 12" id="12"/>
            <p:cNvSpPr/>
            <p:nvPr/>
          </p:nvSpPr>
          <p:spPr>
            <a:xfrm flipH="false" flipV="false" rot="0">
              <a:off x="0" y="0"/>
              <a:ext cx="6895338" cy="750570"/>
            </a:xfrm>
            <a:custGeom>
              <a:avLst/>
              <a:gdLst/>
              <a:ahLst/>
              <a:cxnLst/>
              <a:rect r="r" b="b" t="t" l="l"/>
              <a:pathLst>
                <a:path h="750570" w="6895338">
                  <a:moveTo>
                    <a:pt x="0" y="375285"/>
                  </a:moveTo>
                  <a:cubicBezTo>
                    <a:pt x="0" y="168021"/>
                    <a:pt x="168021" y="0"/>
                    <a:pt x="375285" y="0"/>
                  </a:cubicBezTo>
                  <a:lnTo>
                    <a:pt x="6520053" y="0"/>
                  </a:lnTo>
                  <a:cubicBezTo>
                    <a:pt x="6727317" y="0"/>
                    <a:pt x="6895338" y="168021"/>
                    <a:pt x="6895338" y="375285"/>
                  </a:cubicBezTo>
                  <a:cubicBezTo>
                    <a:pt x="6895338" y="582549"/>
                    <a:pt x="6727317" y="750570"/>
                    <a:pt x="6520053" y="750570"/>
                  </a:cubicBezTo>
                  <a:lnTo>
                    <a:pt x="375285" y="750570"/>
                  </a:lnTo>
                  <a:cubicBezTo>
                    <a:pt x="168021" y="750570"/>
                    <a:pt x="0" y="582549"/>
                    <a:pt x="0" y="375285"/>
                  </a:cubicBezTo>
                  <a:close/>
                </a:path>
              </a:pathLst>
            </a:custGeom>
            <a:solidFill>
              <a:srgbClr val="E8D5B5">
                <a:alpha val="5882"/>
              </a:srgbClr>
            </a:solidFill>
            <a:ln w="14288" cap="sq">
              <a:solidFill>
                <a:srgbClr val="E8D5B5"/>
              </a:solidFill>
              <a:prstDash val="solid"/>
              <a:miter/>
            </a:ln>
          </p:spPr>
        </p:sp>
      </p:grpSp>
      <p:grpSp>
        <p:nvGrpSpPr>
          <p:cNvPr name="Group 13" id="13"/>
          <p:cNvGrpSpPr/>
          <p:nvPr/>
        </p:nvGrpSpPr>
        <p:grpSpPr>
          <a:xfrm rot="0">
            <a:off x="16939260" y="946404"/>
            <a:ext cx="301752" cy="301752"/>
            <a:chOff x="0" y="0"/>
            <a:chExt cx="402336" cy="402336"/>
          </a:xfrm>
        </p:grpSpPr>
        <p:sp>
          <p:nvSpPr>
            <p:cNvPr name="Freeform 14" id="14"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6"/>
              <a:stretch>
                <a:fillRect l="0" t="0" r="0" b="0"/>
              </a:stretch>
            </a:blipFill>
          </p:spPr>
        </p:sp>
      </p:grpSp>
      <p:grpSp>
        <p:nvGrpSpPr>
          <p:cNvPr name="Group 15" id="15"/>
          <p:cNvGrpSpPr/>
          <p:nvPr/>
        </p:nvGrpSpPr>
        <p:grpSpPr>
          <a:xfrm rot="0">
            <a:off x="12467844" y="822960"/>
            <a:ext cx="4334256" cy="564812"/>
            <a:chOff x="0" y="0"/>
            <a:chExt cx="5779008" cy="753083"/>
          </a:xfrm>
        </p:grpSpPr>
        <p:sp>
          <p:nvSpPr>
            <p:cNvPr name="Freeform 16" id="16"/>
            <p:cNvSpPr/>
            <p:nvPr/>
          </p:nvSpPr>
          <p:spPr>
            <a:xfrm flipH="false" flipV="false" rot="0">
              <a:off x="0" y="0"/>
              <a:ext cx="5779008" cy="753083"/>
            </a:xfrm>
            <a:custGeom>
              <a:avLst/>
              <a:gdLst/>
              <a:ahLst/>
              <a:cxnLst/>
              <a:rect r="r" b="b" t="t" l="l"/>
              <a:pathLst>
                <a:path h="753083" w="5779008">
                  <a:moveTo>
                    <a:pt x="0" y="0"/>
                  </a:moveTo>
                  <a:lnTo>
                    <a:pt x="5779008" y="0"/>
                  </a:lnTo>
                  <a:lnTo>
                    <a:pt x="5779008" y="753083"/>
                  </a:lnTo>
                  <a:lnTo>
                    <a:pt x="0" y="753083"/>
                  </a:lnTo>
                  <a:close/>
                </a:path>
              </a:pathLst>
            </a:custGeom>
            <a:blipFill>
              <a:blip r:embed="rId4">
                <a:alphaModFix amt="0"/>
              </a:blip>
              <a:stretch>
                <a:fillRect l="0" t="-100955" r="0" b="-98092"/>
              </a:stretch>
            </a:blipFill>
          </p:spPr>
        </p:sp>
        <p:sp>
          <p:nvSpPr>
            <p:cNvPr name="TextBox 17" id="17"/>
            <p:cNvSpPr txBox="true"/>
            <p:nvPr/>
          </p:nvSpPr>
          <p:spPr>
            <a:xfrm>
              <a:off x="0" y="-9525"/>
              <a:ext cx="5779008" cy="762608"/>
            </a:xfrm>
            <a:prstGeom prst="rect">
              <a:avLst/>
            </a:prstGeom>
          </p:spPr>
          <p:txBody>
            <a:bodyPr anchor="ctr" rtlCol="false" tIns="0" lIns="0" bIns="0" rIns="0"/>
            <a:lstStyle/>
            <a:p>
              <a:pPr algn="r" rtl="true">
                <a:lnSpc>
                  <a:spcPts val="2340"/>
                </a:lnSpc>
              </a:pPr>
              <a:r>
                <a:rPr lang="ar-EG" b="true" sz="1950" spc="19">
                  <a:solidFill>
                    <a:srgbClr val="E8D5B5"/>
                  </a:solidFill>
                  <a:latin typeface="XM Traffic Bold"/>
                  <a:ea typeface="XM Traffic Bold"/>
                  <a:cs typeface="XM Traffic Bold"/>
                  <a:sym typeface="XM Traffic Bold"/>
                  <a:rtl val="true"/>
                </a:rPr>
                <a:t>القصب — تجربة الملح</a:t>
              </a:r>
            </a:p>
          </p:txBody>
        </p:sp>
      </p:grpSp>
      <p:sp>
        <p:nvSpPr>
          <p:cNvPr name="TextBox 18" id="18"/>
          <p:cNvSpPr txBox="true"/>
          <p:nvPr/>
        </p:nvSpPr>
        <p:spPr>
          <a:xfrm rot="0">
            <a:off x="7680960" y="1508760"/>
            <a:ext cx="9779508" cy="1714500"/>
          </a:xfrm>
          <a:prstGeom prst="rect">
            <a:avLst/>
          </a:prstGeom>
        </p:spPr>
        <p:txBody>
          <a:bodyPr anchor="t" rtlCol="false" tIns="0" lIns="0" bIns="0" rIns="0">
            <a:spAutoFit/>
          </a:bodyPr>
          <a:lstStyle/>
          <a:p>
            <a:pPr algn="r" rtl="true">
              <a:lnSpc>
                <a:spcPts val="6480"/>
              </a:lnSpc>
            </a:pPr>
            <a:r>
              <a:rPr lang="ar-EG" b="true" sz="5400" spc="55">
                <a:solidFill>
                  <a:srgbClr val="F3EADB"/>
                </a:solidFill>
                <a:latin typeface="XM Traffic Bold"/>
                <a:ea typeface="XM Traffic Bold"/>
                <a:cs typeface="XM Traffic Bold"/>
                <a:sym typeface="XM Traffic Bold"/>
                <a:rtl val="true"/>
              </a:rPr>
              <a:t>استرخاء مستوحى من الأرض</a:t>
            </a:r>
          </a:p>
        </p:txBody>
      </p:sp>
      <p:sp>
        <p:nvSpPr>
          <p:cNvPr name="TextBox 19" id="19"/>
          <p:cNvSpPr txBox="true"/>
          <p:nvPr/>
        </p:nvSpPr>
        <p:spPr>
          <a:xfrm rot="0">
            <a:off x="7680960" y="3253740"/>
            <a:ext cx="9779508" cy="1958340"/>
          </a:xfrm>
          <a:prstGeom prst="rect">
            <a:avLst/>
          </a:prstGeom>
        </p:spPr>
        <p:txBody>
          <a:bodyPr anchor="t" rtlCol="false" tIns="0" lIns="0" bIns="0" rIns="0">
            <a:spAutoFit/>
          </a:bodyPr>
          <a:lstStyle/>
          <a:p>
            <a:pPr algn="r">
              <a:lnSpc>
                <a:spcPts val="3104"/>
              </a:lnSpc>
            </a:pPr>
            <a:r>
              <a:rPr lang="ar-EG" sz="2250" spc="23">
                <a:solidFill>
                  <a:srgbClr val="E3D4BC"/>
                </a:solidFill>
                <a:latin typeface="XM Traffic"/>
                <a:ea typeface="XM Traffic"/>
                <a:cs typeface="XM Traffic"/>
                <a:sym typeface="XM Traffic"/>
                <a:rtl val="true"/>
              </a:rPr>
              <a:t>تجربة تجمع بين الاستجمام والتوعية والاكتشاف؛ يتعرّف الزائر فيها على عالم الملح واستخداماته، ويستكشف منتجات العناية والتنظيف المستوحاة منه، ضمن مساحة تمنحه تجربة مختلفة عن المحطات التقليدية</a:t>
            </a:r>
            <a:r>
              <a:rPr lang="en-US" sz="2250" spc="23">
                <a:solidFill>
                  <a:srgbClr val="E3D4BC"/>
                </a:solidFill>
                <a:latin typeface="XM Traffic"/>
                <a:ea typeface="XM Traffic"/>
                <a:cs typeface="XM Traffic"/>
                <a:sym typeface="XM Traffic"/>
              </a:rPr>
              <a:t>.</a:t>
            </a:r>
          </a:p>
        </p:txBody>
      </p:sp>
      <p:grpSp>
        <p:nvGrpSpPr>
          <p:cNvPr name="Group 20" id="20"/>
          <p:cNvGrpSpPr/>
          <p:nvPr/>
        </p:nvGrpSpPr>
        <p:grpSpPr>
          <a:xfrm rot="0">
            <a:off x="7680960" y="5239512"/>
            <a:ext cx="9779508" cy="411480"/>
            <a:chOff x="0" y="0"/>
            <a:chExt cx="13039344" cy="548640"/>
          </a:xfrm>
        </p:grpSpPr>
        <p:sp>
          <p:nvSpPr>
            <p:cNvPr name="Freeform 21" id="21"/>
            <p:cNvSpPr/>
            <p:nvPr/>
          </p:nvSpPr>
          <p:spPr>
            <a:xfrm flipH="false" flipV="false" rot="0">
              <a:off x="0" y="0"/>
              <a:ext cx="13039344" cy="548640"/>
            </a:xfrm>
            <a:custGeom>
              <a:avLst/>
              <a:gdLst/>
              <a:ahLst/>
              <a:cxnLst/>
              <a:rect r="r" b="b" t="t" l="l"/>
              <a:pathLst>
                <a:path h="548640" w="13039344">
                  <a:moveTo>
                    <a:pt x="0" y="0"/>
                  </a:moveTo>
                  <a:lnTo>
                    <a:pt x="13039344" y="0"/>
                  </a:lnTo>
                  <a:lnTo>
                    <a:pt x="13039344" y="548640"/>
                  </a:lnTo>
                  <a:lnTo>
                    <a:pt x="0" y="548640"/>
                  </a:lnTo>
                  <a:close/>
                </a:path>
              </a:pathLst>
            </a:custGeom>
            <a:blipFill>
              <a:blip r:embed="rId4">
                <a:alphaModFix amt="0"/>
              </a:blip>
              <a:stretch>
                <a:fillRect l="0" t="-413094" r="0" b="-413094"/>
              </a:stretch>
            </a:blipFill>
          </p:spPr>
        </p:sp>
        <p:sp>
          <p:nvSpPr>
            <p:cNvPr name="TextBox 22" id="22"/>
            <p:cNvSpPr txBox="true"/>
            <p:nvPr/>
          </p:nvSpPr>
          <p:spPr>
            <a:xfrm>
              <a:off x="0" y="0"/>
              <a:ext cx="13039344" cy="548640"/>
            </a:xfrm>
            <a:prstGeom prst="rect">
              <a:avLst/>
            </a:prstGeom>
          </p:spPr>
          <p:txBody>
            <a:bodyPr anchor="ctr" rtlCol="false" tIns="0" lIns="0" bIns="0" rIns="0"/>
            <a:lstStyle/>
            <a:p>
              <a:pPr algn="r" rtl="true">
                <a:lnSpc>
                  <a:spcPts val="2520"/>
                </a:lnSpc>
              </a:pPr>
              <a:r>
                <a:rPr lang="ar-EG" b="true" sz="2100" spc="21">
                  <a:solidFill>
                    <a:srgbClr val="E8D5B5"/>
                  </a:solidFill>
                  <a:latin typeface="XM Traffic Bold"/>
                  <a:ea typeface="XM Traffic Bold"/>
                  <a:cs typeface="XM Traffic Bold"/>
                  <a:sym typeface="XM Traffic Bold"/>
                  <a:rtl val="true"/>
                </a:rPr>
                <a:t>مكونات التجربة</a:t>
              </a:r>
            </a:p>
          </p:txBody>
        </p:sp>
      </p:grpSp>
      <p:grpSp>
        <p:nvGrpSpPr>
          <p:cNvPr name="Group 23" id="23"/>
          <p:cNvGrpSpPr/>
          <p:nvPr/>
        </p:nvGrpSpPr>
        <p:grpSpPr>
          <a:xfrm rot="0">
            <a:off x="7673816" y="5781008"/>
            <a:ext cx="9793796" cy="700088"/>
            <a:chOff x="0" y="0"/>
            <a:chExt cx="13058394" cy="933450"/>
          </a:xfrm>
        </p:grpSpPr>
        <p:sp>
          <p:nvSpPr>
            <p:cNvPr name="Freeform 24" id="24"/>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25" id="25"/>
          <p:cNvGrpSpPr/>
          <p:nvPr/>
        </p:nvGrpSpPr>
        <p:grpSpPr>
          <a:xfrm rot="0">
            <a:off x="16747236" y="5856732"/>
            <a:ext cx="548640" cy="548640"/>
            <a:chOff x="0" y="0"/>
            <a:chExt cx="731520" cy="731520"/>
          </a:xfrm>
        </p:grpSpPr>
        <p:sp>
          <p:nvSpPr>
            <p:cNvPr name="Freeform 26" id="26"/>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27" id="27"/>
          <p:cNvGrpSpPr/>
          <p:nvPr/>
        </p:nvGrpSpPr>
        <p:grpSpPr>
          <a:xfrm rot="0">
            <a:off x="16884396" y="5993892"/>
            <a:ext cx="274320" cy="274320"/>
            <a:chOff x="0" y="0"/>
            <a:chExt cx="365760" cy="365760"/>
          </a:xfrm>
        </p:grpSpPr>
        <p:sp>
          <p:nvSpPr>
            <p:cNvPr name="Freeform 28" id="28"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7"/>
              <a:stretch>
                <a:fillRect l="0" t="0" r="0" b="0"/>
              </a:stretch>
            </a:blipFill>
          </p:spPr>
        </p:sp>
      </p:grpSp>
      <p:grpSp>
        <p:nvGrpSpPr>
          <p:cNvPr name="Group 29" id="29"/>
          <p:cNvGrpSpPr/>
          <p:nvPr/>
        </p:nvGrpSpPr>
        <p:grpSpPr>
          <a:xfrm rot="0">
            <a:off x="7845552" y="5788152"/>
            <a:ext cx="8737092" cy="685800"/>
            <a:chOff x="0" y="0"/>
            <a:chExt cx="11649456" cy="914400"/>
          </a:xfrm>
        </p:grpSpPr>
        <p:sp>
          <p:nvSpPr>
            <p:cNvPr name="Freeform 30" id="30"/>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4">
                <a:alphaModFix amt="0"/>
              </a:blip>
              <a:stretch>
                <a:fillRect l="0" t="-198239" r="0" b="-198239"/>
              </a:stretch>
            </a:blipFill>
          </p:spPr>
        </p:sp>
        <p:sp>
          <p:nvSpPr>
            <p:cNvPr name="TextBox 31" id="31"/>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منطقة استجمام وعناية مستوحاة من الملح</a:t>
              </a:r>
            </a:p>
          </p:txBody>
        </p:sp>
      </p:grpSp>
      <p:grpSp>
        <p:nvGrpSpPr>
          <p:cNvPr name="Group 32" id="32"/>
          <p:cNvGrpSpPr/>
          <p:nvPr/>
        </p:nvGrpSpPr>
        <p:grpSpPr>
          <a:xfrm rot="0">
            <a:off x="7673816" y="6576536"/>
            <a:ext cx="9793796" cy="700088"/>
            <a:chOff x="0" y="0"/>
            <a:chExt cx="13058394" cy="933450"/>
          </a:xfrm>
        </p:grpSpPr>
        <p:sp>
          <p:nvSpPr>
            <p:cNvPr name="Freeform 33" id="33"/>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34" id="34"/>
          <p:cNvGrpSpPr/>
          <p:nvPr/>
        </p:nvGrpSpPr>
        <p:grpSpPr>
          <a:xfrm rot="0">
            <a:off x="16747236" y="6652260"/>
            <a:ext cx="548640" cy="548640"/>
            <a:chOff x="0" y="0"/>
            <a:chExt cx="731520" cy="731520"/>
          </a:xfrm>
        </p:grpSpPr>
        <p:sp>
          <p:nvSpPr>
            <p:cNvPr name="Freeform 35" id="35"/>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36" id="36"/>
          <p:cNvGrpSpPr/>
          <p:nvPr/>
        </p:nvGrpSpPr>
        <p:grpSpPr>
          <a:xfrm rot="0">
            <a:off x="16884396" y="6789420"/>
            <a:ext cx="274320" cy="274320"/>
            <a:chOff x="0" y="0"/>
            <a:chExt cx="365760" cy="365760"/>
          </a:xfrm>
        </p:grpSpPr>
        <p:sp>
          <p:nvSpPr>
            <p:cNvPr name="Freeform 37" id="37"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8"/>
              <a:stretch>
                <a:fillRect l="0" t="0" r="0" b="0"/>
              </a:stretch>
            </a:blipFill>
          </p:spPr>
        </p:sp>
      </p:grpSp>
      <p:grpSp>
        <p:nvGrpSpPr>
          <p:cNvPr name="Group 38" id="38"/>
          <p:cNvGrpSpPr/>
          <p:nvPr/>
        </p:nvGrpSpPr>
        <p:grpSpPr>
          <a:xfrm rot="0">
            <a:off x="7845552" y="6583680"/>
            <a:ext cx="8737092" cy="685800"/>
            <a:chOff x="0" y="0"/>
            <a:chExt cx="11649456" cy="914400"/>
          </a:xfrm>
        </p:grpSpPr>
        <p:sp>
          <p:nvSpPr>
            <p:cNvPr name="Freeform 39" id="39"/>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4">
                <a:alphaModFix amt="0"/>
              </a:blip>
              <a:stretch>
                <a:fillRect l="0" t="-198239" r="0" b="-198239"/>
              </a:stretch>
            </a:blipFill>
          </p:spPr>
        </p:sp>
        <p:sp>
          <p:nvSpPr>
            <p:cNvPr name="TextBox 40" id="40"/>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مساحة توعوية تعرض مصادر الملح واستخداماته</a:t>
              </a:r>
            </a:p>
          </p:txBody>
        </p:sp>
      </p:grpSp>
      <p:grpSp>
        <p:nvGrpSpPr>
          <p:cNvPr name="Group 41" id="41"/>
          <p:cNvGrpSpPr/>
          <p:nvPr/>
        </p:nvGrpSpPr>
        <p:grpSpPr>
          <a:xfrm rot="0">
            <a:off x="7673816" y="7372064"/>
            <a:ext cx="9793796" cy="700088"/>
            <a:chOff x="0" y="0"/>
            <a:chExt cx="13058394" cy="933450"/>
          </a:xfrm>
        </p:grpSpPr>
        <p:sp>
          <p:nvSpPr>
            <p:cNvPr name="Freeform 42" id="42"/>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43" id="43"/>
          <p:cNvGrpSpPr/>
          <p:nvPr/>
        </p:nvGrpSpPr>
        <p:grpSpPr>
          <a:xfrm rot="0">
            <a:off x="16747236" y="7447788"/>
            <a:ext cx="548640" cy="548640"/>
            <a:chOff x="0" y="0"/>
            <a:chExt cx="731520" cy="731520"/>
          </a:xfrm>
        </p:grpSpPr>
        <p:sp>
          <p:nvSpPr>
            <p:cNvPr name="Freeform 44" id="44"/>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45" id="45"/>
          <p:cNvGrpSpPr/>
          <p:nvPr/>
        </p:nvGrpSpPr>
        <p:grpSpPr>
          <a:xfrm rot="0">
            <a:off x="16884396" y="7584948"/>
            <a:ext cx="274320" cy="274320"/>
            <a:chOff x="0" y="0"/>
            <a:chExt cx="365760" cy="365760"/>
          </a:xfrm>
        </p:grpSpPr>
        <p:sp>
          <p:nvSpPr>
            <p:cNvPr name="Freeform 46" id="46"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9"/>
              <a:stretch>
                <a:fillRect l="0" t="0" r="0" b="0"/>
              </a:stretch>
            </a:blipFill>
          </p:spPr>
        </p:sp>
      </p:grpSp>
      <p:grpSp>
        <p:nvGrpSpPr>
          <p:cNvPr name="Group 47" id="47"/>
          <p:cNvGrpSpPr/>
          <p:nvPr/>
        </p:nvGrpSpPr>
        <p:grpSpPr>
          <a:xfrm rot="0">
            <a:off x="7845552" y="7379208"/>
            <a:ext cx="8737092" cy="685800"/>
            <a:chOff x="0" y="0"/>
            <a:chExt cx="11649456" cy="914400"/>
          </a:xfrm>
        </p:grpSpPr>
        <p:sp>
          <p:nvSpPr>
            <p:cNvPr name="Freeform 48" id="48"/>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4">
                <a:alphaModFix amt="0"/>
              </a:blip>
              <a:stretch>
                <a:fillRect l="0" t="-198239" r="0" b="-198239"/>
              </a:stretch>
            </a:blipFill>
          </p:spPr>
        </p:sp>
        <p:sp>
          <p:nvSpPr>
            <p:cNvPr name="TextBox 49" id="49"/>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ركن لتجربة المنتجات والتعرّف عليها</a:t>
              </a:r>
            </a:p>
          </p:txBody>
        </p:sp>
      </p:grpSp>
      <p:grpSp>
        <p:nvGrpSpPr>
          <p:cNvPr name="Group 50" id="50"/>
          <p:cNvGrpSpPr/>
          <p:nvPr/>
        </p:nvGrpSpPr>
        <p:grpSpPr>
          <a:xfrm rot="0">
            <a:off x="7673816" y="8167592"/>
            <a:ext cx="9793796" cy="700088"/>
            <a:chOff x="0" y="0"/>
            <a:chExt cx="13058394" cy="933450"/>
          </a:xfrm>
        </p:grpSpPr>
        <p:sp>
          <p:nvSpPr>
            <p:cNvPr name="Freeform 51" id="51"/>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52" id="52"/>
          <p:cNvGrpSpPr/>
          <p:nvPr/>
        </p:nvGrpSpPr>
        <p:grpSpPr>
          <a:xfrm rot="0">
            <a:off x="16747236" y="8243316"/>
            <a:ext cx="548640" cy="548640"/>
            <a:chOff x="0" y="0"/>
            <a:chExt cx="731520" cy="731520"/>
          </a:xfrm>
        </p:grpSpPr>
        <p:sp>
          <p:nvSpPr>
            <p:cNvPr name="Freeform 53" id="53"/>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54" id="54"/>
          <p:cNvGrpSpPr/>
          <p:nvPr/>
        </p:nvGrpSpPr>
        <p:grpSpPr>
          <a:xfrm rot="0">
            <a:off x="16884396" y="8380476"/>
            <a:ext cx="274320" cy="274320"/>
            <a:chOff x="0" y="0"/>
            <a:chExt cx="365760" cy="365760"/>
          </a:xfrm>
        </p:grpSpPr>
        <p:sp>
          <p:nvSpPr>
            <p:cNvPr name="Freeform 55" id="55"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10"/>
              <a:stretch>
                <a:fillRect l="0" t="0" r="0" b="0"/>
              </a:stretch>
            </a:blipFill>
          </p:spPr>
        </p:sp>
      </p:grpSp>
      <p:grpSp>
        <p:nvGrpSpPr>
          <p:cNvPr name="Group 56" id="56"/>
          <p:cNvGrpSpPr/>
          <p:nvPr/>
        </p:nvGrpSpPr>
        <p:grpSpPr>
          <a:xfrm rot="0">
            <a:off x="7845552" y="8174736"/>
            <a:ext cx="8737092" cy="685800"/>
            <a:chOff x="0" y="0"/>
            <a:chExt cx="11649456" cy="914400"/>
          </a:xfrm>
        </p:grpSpPr>
        <p:sp>
          <p:nvSpPr>
            <p:cNvPr name="Freeform 57" id="57"/>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4">
                <a:alphaModFix amt="0"/>
              </a:blip>
              <a:stretch>
                <a:fillRect l="0" t="-198239" r="0" b="-198239"/>
              </a:stretch>
            </a:blipFill>
          </p:spPr>
        </p:sp>
        <p:sp>
          <p:nvSpPr>
            <p:cNvPr name="TextBox 58" id="58"/>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متجر لمنتجات الملح والعناية الشخصية والتنظيف</a:t>
              </a:r>
            </a:p>
          </p:txBody>
        </p:sp>
      </p:grpSp>
      <p:grpSp>
        <p:nvGrpSpPr>
          <p:cNvPr name="Group 59" id="59"/>
          <p:cNvGrpSpPr/>
          <p:nvPr/>
        </p:nvGrpSpPr>
        <p:grpSpPr>
          <a:xfrm rot="0">
            <a:off x="7673816" y="8963120"/>
            <a:ext cx="9793796" cy="700088"/>
            <a:chOff x="0" y="0"/>
            <a:chExt cx="13058394" cy="933450"/>
          </a:xfrm>
        </p:grpSpPr>
        <p:sp>
          <p:nvSpPr>
            <p:cNvPr name="Freeform 60" id="60"/>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61" id="61"/>
          <p:cNvGrpSpPr/>
          <p:nvPr/>
        </p:nvGrpSpPr>
        <p:grpSpPr>
          <a:xfrm rot="0">
            <a:off x="16747236" y="9038844"/>
            <a:ext cx="548640" cy="548640"/>
            <a:chOff x="0" y="0"/>
            <a:chExt cx="731520" cy="731520"/>
          </a:xfrm>
        </p:grpSpPr>
        <p:sp>
          <p:nvSpPr>
            <p:cNvPr name="Freeform 62" id="62"/>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63" id="63"/>
          <p:cNvGrpSpPr/>
          <p:nvPr/>
        </p:nvGrpSpPr>
        <p:grpSpPr>
          <a:xfrm rot="0">
            <a:off x="16884396" y="9176004"/>
            <a:ext cx="274320" cy="274320"/>
            <a:chOff x="0" y="0"/>
            <a:chExt cx="365760" cy="365760"/>
          </a:xfrm>
        </p:grpSpPr>
        <p:sp>
          <p:nvSpPr>
            <p:cNvPr name="Freeform 64" id="64"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11"/>
              <a:stretch>
                <a:fillRect l="0" t="0" r="0" b="0"/>
              </a:stretch>
            </a:blipFill>
          </p:spPr>
        </p:sp>
      </p:grpSp>
      <p:grpSp>
        <p:nvGrpSpPr>
          <p:cNvPr name="Group 65" id="65"/>
          <p:cNvGrpSpPr/>
          <p:nvPr/>
        </p:nvGrpSpPr>
        <p:grpSpPr>
          <a:xfrm rot="0">
            <a:off x="7845552" y="8970264"/>
            <a:ext cx="8737092" cy="685800"/>
            <a:chOff x="0" y="0"/>
            <a:chExt cx="11649456" cy="914400"/>
          </a:xfrm>
        </p:grpSpPr>
        <p:sp>
          <p:nvSpPr>
            <p:cNvPr name="Freeform 66" id="66"/>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4">
                <a:alphaModFix amt="0"/>
              </a:blip>
              <a:stretch>
                <a:fillRect l="0" t="-198239" r="0" b="-198239"/>
              </a:stretch>
            </a:blipFill>
          </p:spPr>
        </p:sp>
        <p:sp>
          <p:nvSpPr>
            <p:cNvPr name="TextBox 67" id="67"/>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تجارب حسية وتفاعلية مرتبطة بخامات الملح</a:t>
              </a:r>
            </a:p>
          </p:txBody>
        </p:sp>
      </p:grpSp>
      <p:grpSp>
        <p:nvGrpSpPr>
          <p:cNvPr name="Group 68" id="68"/>
          <p:cNvGrpSpPr/>
          <p:nvPr/>
        </p:nvGrpSpPr>
        <p:grpSpPr>
          <a:xfrm rot="0">
            <a:off x="7680960" y="9669780"/>
            <a:ext cx="9779508" cy="342900"/>
            <a:chOff x="0" y="0"/>
            <a:chExt cx="13039344" cy="457200"/>
          </a:xfrm>
        </p:grpSpPr>
        <p:sp>
          <p:nvSpPr>
            <p:cNvPr name="Freeform 69" id="69"/>
            <p:cNvSpPr/>
            <p:nvPr/>
          </p:nvSpPr>
          <p:spPr>
            <a:xfrm flipH="false" flipV="false" rot="0">
              <a:off x="0" y="0"/>
              <a:ext cx="13039344" cy="457200"/>
            </a:xfrm>
            <a:custGeom>
              <a:avLst/>
              <a:gdLst/>
              <a:ahLst/>
              <a:cxnLst/>
              <a:rect r="r" b="b" t="t" l="l"/>
              <a:pathLst>
                <a:path h="457200" w="13039344">
                  <a:moveTo>
                    <a:pt x="0" y="0"/>
                  </a:moveTo>
                  <a:lnTo>
                    <a:pt x="13039344" y="0"/>
                  </a:lnTo>
                  <a:lnTo>
                    <a:pt x="13039344" y="457200"/>
                  </a:lnTo>
                  <a:lnTo>
                    <a:pt x="0" y="457200"/>
                  </a:lnTo>
                  <a:close/>
                </a:path>
              </a:pathLst>
            </a:custGeom>
            <a:blipFill>
              <a:blip r:embed="rId4">
                <a:alphaModFix amt="0"/>
              </a:blip>
              <a:stretch>
                <a:fillRect l="0" t="-505713" r="0" b="-505713"/>
              </a:stretch>
            </a:blipFill>
          </p:spPr>
        </p:sp>
        <p:sp>
          <p:nvSpPr>
            <p:cNvPr name="TextBox 70" id="70"/>
            <p:cNvSpPr txBox="true"/>
            <p:nvPr/>
          </p:nvSpPr>
          <p:spPr>
            <a:xfrm>
              <a:off x="0" y="0"/>
              <a:ext cx="13039344" cy="457200"/>
            </a:xfrm>
            <a:prstGeom prst="rect">
              <a:avLst/>
            </a:prstGeom>
          </p:spPr>
          <p:txBody>
            <a:bodyPr anchor="ctr" rtlCol="false" tIns="0" lIns="0" bIns="0" rIns="0"/>
            <a:lstStyle/>
            <a:p>
              <a:pPr algn="r" rtl="true">
                <a:lnSpc>
                  <a:spcPts val="1800"/>
                </a:lnSpc>
              </a:pPr>
              <a:r>
                <a:rPr lang="ar-EG" sz="1500" spc="15">
                  <a:solidFill>
                    <a:srgbClr val="CDB79A"/>
                  </a:solidFill>
                  <a:latin typeface="XM Traffic"/>
                  <a:ea typeface="XM Traffic"/>
                  <a:cs typeface="XM Traffic"/>
                  <a:sym typeface="XM Traffic"/>
                  <a:rtl val="true"/>
                </a:rPr>
                <a:t>تصوّر تطويري مقترح</a:t>
              </a:r>
            </a:p>
          </p:txBody>
        </p:sp>
      </p:grpSp>
      <p:grpSp>
        <p:nvGrpSpPr>
          <p:cNvPr name="Group 71" id="71"/>
          <p:cNvGrpSpPr/>
          <p:nvPr/>
        </p:nvGrpSpPr>
        <p:grpSpPr>
          <a:xfrm rot="0">
            <a:off x="8513553" y="815816"/>
            <a:ext cx="3616849" cy="562928"/>
            <a:chOff x="0" y="0"/>
            <a:chExt cx="4822466" cy="750570"/>
          </a:xfrm>
        </p:grpSpPr>
        <p:sp>
          <p:nvSpPr>
            <p:cNvPr name="Freeform 72" id="72" descr="رابط الموقع على خرائط قوقل">
              <a:hlinkClick r:id="rId12" tooltip="https://www.google.com/maps/search/?api=1&amp;query=%D8%A7%D9%84%D9%82%D8%B5%D8%A8%20%D8%A7%D9%84%D9%85%D8%AC%D9%85%D8%B9%D8%A9"/>
            </p:cNvPr>
            <p:cNvSpPr/>
            <p:nvPr/>
          </p:nvSpPr>
          <p:spPr>
            <a:xfrm flipH="false" flipV="false" rot="0">
              <a:off x="0" y="0"/>
              <a:ext cx="4822504" cy="750570"/>
            </a:xfrm>
            <a:custGeom>
              <a:avLst/>
              <a:gdLst/>
              <a:ahLst/>
              <a:cxnLst/>
              <a:rect r="r" b="b" t="t" l="l"/>
              <a:pathLst>
                <a:path h="750570" w="4822504">
                  <a:moveTo>
                    <a:pt x="0" y="375285"/>
                  </a:moveTo>
                  <a:cubicBezTo>
                    <a:pt x="0" y="168021"/>
                    <a:pt x="183359" y="0"/>
                    <a:pt x="409544" y="0"/>
                  </a:cubicBezTo>
                  <a:lnTo>
                    <a:pt x="4412963" y="0"/>
                  </a:lnTo>
                  <a:cubicBezTo>
                    <a:pt x="4639148" y="0"/>
                    <a:pt x="4822504" y="168021"/>
                    <a:pt x="4822504" y="375285"/>
                  </a:cubicBezTo>
                  <a:cubicBezTo>
                    <a:pt x="4822504" y="582549"/>
                    <a:pt x="4639148" y="750570"/>
                    <a:pt x="4412963" y="750570"/>
                  </a:cubicBezTo>
                  <a:lnTo>
                    <a:pt x="409544" y="750570"/>
                  </a:lnTo>
                  <a:cubicBezTo>
                    <a:pt x="183359" y="750570"/>
                    <a:pt x="0" y="582549"/>
                    <a:pt x="0" y="375285"/>
                  </a:cubicBezTo>
                  <a:close/>
                </a:path>
              </a:pathLst>
            </a:custGeom>
            <a:solidFill>
              <a:srgbClr val="D9A66B"/>
            </a:solidFill>
            <a:ln w="14288" cap="sq">
              <a:solidFill>
                <a:srgbClr val="D9A66B"/>
              </a:solidFill>
              <a:prstDash val="solid"/>
              <a:miter/>
            </a:ln>
          </p:spPr>
        </p:sp>
      </p:grpSp>
      <p:grpSp>
        <p:nvGrpSpPr>
          <p:cNvPr name="Group 73" id="73"/>
          <p:cNvGrpSpPr/>
          <p:nvPr/>
        </p:nvGrpSpPr>
        <p:grpSpPr>
          <a:xfrm rot="0">
            <a:off x="11626501" y="946404"/>
            <a:ext cx="301752" cy="301752"/>
            <a:chOff x="0" y="0"/>
            <a:chExt cx="402336" cy="402336"/>
          </a:xfrm>
        </p:grpSpPr>
        <p:sp>
          <p:nvSpPr>
            <p:cNvPr name="Freeform 74" id="74"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3"/>
              <a:stretch>
                <a:fillRect l="0" t="0" r="0" b="0"/>
              </a:stretch>
            </a:blipFill>
          </p:spPr>
        </p:sp>
      </p:grpSp>
      <p:grpSp>
        <p:nvGrpSpPr>
          <p:cNvPr name="Group 75" id="75"/>
          <p:cNvGrpSpPr/>
          <p:nvPr/>
        </p:nvGrpSpPr>
        <p:grpSpPr>
          <a:xfrm rot="0">
            <a:off x="8489940" y="815816"/>
            <a:ext cx="3136561" cy="564811"/>
            <a:chOff x="0" y="0"/>
            <a:chExt cx="4182081" cy="753081"/>
          </a:xfrm>
        </p:grpSpPr>
        <p:sp>
          <p:nvSpPr>
            <p:cNvPr name="Freeform 76" id="76"/>
            <p:cNvSpPr/>
            <p:nvPr/>
          </p:nvSpPr>
          <p:spPr>
            <a:xfrm flipH="false" flipV="false" rot="0">
              <a:off x="0" y="0"/>
              <a:ext cx="4182075" cy="753081"/>
            </a:xfrm>
            <a:custGeom>
              <a:avLst/>
              <a:gdLst/>
              <a:ahLst/>
              <a:cxnLst/>
              <a:rect r="r" b="b" t="t" l="l"/>
              <a:pathLst>
                <a:path h="753081" w="4182075">
                  <a:moveTo>
                    <a:pt x="0" y="0"/>
                  </a:moveTo>
                  <a:lnTo>
                    <a:pt x="4182075" y="0"/>
                  </a:lnTo>
                  <a:lnTo>
                    <a:pt x="4182075" y="753081"/>
                  </a:lnTo>
                  <a:lnTo>
                    <a:pt x="0" y="753081"/>
                  </a:lnTo>
                  <a:close/>
                </a:path>
              </a:pathLst>
            </a:custGeom>
            <a:blipFill>
              <a:blip r:embed="rId4">
                <a:alphaModFix amt="0"/>
              </a:blip>
              <a:stretch>
                <a:fillRect l="0" t="-39341" r="18756" b="-36478"/>
              </a:stretch>
            </a:blipFill>
          </p:spPr>
        </p:sp>
        <p:sp>
          <p:nvSpPr>
            <p:cNvPr name="TextBox 77" id="77"/>
            <p:cNvSpPr txBox="true"/>
            <p:nvPr/>
          </p:nvSpPr>
          <p:spPr>
            <a:xfrm>
              <a:off x="0" y="-9525"/>
              <a:ext cx="4182081" cy="762606"/>
            </a:xfrm>
            <a:prstGeom prst="rect">
              <a:avLst/>
            </a:prstGeom>
          </p:spPr>
          <p:txBody>
            <a:bodyPr anchor="ctr" rtlCol="false" tIns="0" lIns="0" bIns="0" rIns="0"/>
            <a:lstStyle/>
            <a:p>
              <a:pPr algn="r" rtl="true">
                <a:lnSpc>
                  <a:spcPts val="2339"/>
                </a:lnSpc>
              </a:pPr>
              <a:r>
                <a:rPr lang="ar-EG" b="true" sz="1949" spc="20" u="sng">
                  <a:solidFill>
                    <a:srgbClr val="3E2D21"/>
                  </a:solidFill>
                  <a:latin typeface="XM Traffic Bold"/>
                  <a:ea typeface="XM Traffic Bold"/>
                  <a:cs typeface="XM Traffic Bold"/>
                  <a:sym typeface="XM Traffic Bold"/>
                  <a:hlinkClick r:id="rId14" tooltip="https://maps.app.goo.gl/hdbMGtBSv38Tk5o3A?g_st=iw"/>
                  <a:rtl val="true"/>
                </a:rPr>
                <a:t>موقع </a:t>
              </a:r>
              <a:r>
                <a:rPr lang="ar-EG" b="true" sz="1949" spc="20" u="sng">
                  <a:solidFill>
                    <a:srgbClr val="3E2D21"/>
                  </a:solidFill>
                  <a:latin typeface="XM Traffic Bold"/>
                  <a:ea typeface="XM Traffic Bold"/>
                  <a:cs typeface="XM Traffic Bold"/>
                  <a:sym typeface="XM Traffic Bold"/>
                  <a:hlinkClick r:id="rId15" tooltip="https://maps.app.goo.gl/hdbMGtBSv38Tk5o3A?g_st=iw"/>
                  <a:rtl val="true"/>
                </a:rPr>
                <a:t>القصب (مملحه المقحم)</a:t>
              </a:r>
            </a:p>
          </p:txBody>
        </p:sp>
      </p:grpSp>
      <p:grpSp>
        <p:nvGrpSpPr>
          <p:cNvPr name="Group 78" id="78"/>
          <p:cNvGrpSpPr/>
          <p:nvPr/>
        </p:nvGrpSpPr>
        <p:grpSpPr>
          <a:xfrm rot="0">
            <a:off x="673894" y="5703295"/>
            <a:ext cx="6333172" cy="4040399"/>
            <a:chOff x="0" y="0"/>
            <a:chExt cx="8444230" cy="5387198"/>
          </a:xfrm>
        </p:grpSpPr>
        <p:sp>
          <p:nvSpPr>
            <p:cNvPr name="Freeform 79" id="79"/>
            <p:cNvSpPr/>
            <p:nvPr/>
          </p:nvSpPr>
          <p:spPr>
            <a:xfrm flipH="false" flipV="false" rot="0">
              <a:off x="0" y="0"/>
              <a:ext cx="8444230" cy="5387199"/>
            </a:xfrm>
            <a:custGeom>
              <a:avLst/>
              <a:gdLst/>
              <a:ahLst/>
              <a:cxnLst/>
              <a:rect r="r" b="b" t="t" l="l"/>
              <a:pathLst>
                <a:path h="5387199" w="8444230">
                  <a:moveTo>
                    <a:pt x="0" y="342407"/>
                  </a:moveTo>
                  <a:cubicBezTo>
                    <a:pt x="0" y="153319"/>
                    <a:pt x="328803" y="0"/>
                    <a:pt x="734314" y="0"/>
                  </a:cubicBezTo>
                  <a:lnTo>
                    <a:pt x="7709916" y="0"/>
                  </a:lnTo>
                  <a:cubicBezTo>
                    <a:pt x="8115427" y="0"/>
                    <a:pt x="8444230" y="153319"/>
                    <a:pt x="8444230" y="342407"/>
                  </a:cubicBezTo>
                  <a:lnTo>
                    <a:pt x="8444230" y="5044791"/>
                  </a:lnTo>
                  <a:cubicBezTo>
                    <a:pt x="8444230" y="5233879"/>
                    <a:pt x="8115427" y="5387199"/>
                    <a:pt x="7709916" y="5387199"/>
                  </a:cubicBezTo>
                  <a:lnTo>
                    <a:pt x="734314" y="5387199"/>
                  </a:lnTo>
                  <a:cubicBezTo>
                    <a:pt x="328803" y="5387199"/>
                    <a:pt x="0" y="5233879"/>
                    <a:pt x="0" y="5044791"/>
                  </a:cubicBezTo>
                  <a:close/>
                </a:path>
              </a:pathLst>
            </a:custGeom>
            <a:solidFill>
              <a:srgbClr val="3E2D21"/>
            </a:solidFill>
            <a:ln w="23812" cap="sq">
              <a:solidFill>
                <a:srgbClr val="E8D5B5"/>
              </a:solidFill>
              <a:prstDash val="dash"/>
              <a:miter/>
            </a:ln>
          </p:spPr>
        </p:sp>
      </p:grpSp>
      <p:grpSp>
        <p:nvGrpSpPr>
          <p:cNvPr name="Group 80" id="80"/>
          <p:cNvGrpSpPr/>
          <p:nvPr/>
        </p:nvGrpSpPr>
        <p:grpSpPr>
          <a:xfrm rot="0">
            <a:off x="925544" y="5820639"/>
            <a:ext cx="5829871" cy="3805712"/>
            <a:chOff x="0" y="0"/>
            <a:chExt cx="7773162" cy="5074282"/>
          </a:xfrm>
        </p:grpSpPr>
        <p:sp>
          <p:nvSpPr>
            <p:cNvPr name="Freeform 81" id="81"/>
            <p:cNvSpPr/>
            <p:nvPr/>
          </p:nvSpPr>
          <p:spPr>
            <a:xfrm flipH="false" flipV="false" rot="0">
              <a:off x="0" y="0"/>
              <a:ext cx="7773162" cy="5074283"/>
            </a:xfrm>
            <a:custGeom>
              <a:avLst/>
              <a:gdLst/>
              <a:ahLst/>
              <a:cxnLst/>
              <a:rect r="r" b="b" t="t" l="l"/>
              <a:pathLst>
                <a:path h="5074283" w="7773162">
                  <a:moveTo>
                    <a:pt x="0" y="239365"/>
                  </a:moveTo>
                  <a:cubicBezTo>
                    <a:pt x="0" y="107187"/>
                    <a:pt x="229870" y="0"/>
                    <a:pt x="513334" y="0"/>
                  </a:cubicBezTo>
                  <a:lnTo>
                    <a:pt x="7259828" y="0"/>
                  </a:lnTo>
                  <a:cubicBezTo>
                    <a:pt x="7543292" y="0"/>
                    <a:pt x="7773162" y="107187"/>
                    <a:pt x="7773162" y="239365"/>
                  </a:cubicBezTo>
                  <a:lnTo>
                    <a:pt x="7773162" y="4834917"/>
                  </a:lnTo>
                  <a:cubicBezTo>
                    <a:pt x="7773162" y="4967095"/>
                    <a:pt x="7543292" y="5074283"/>
                    <a:pt x="7259828" y="5074283"/>
                  </a:cubicBezTo>
                  <a:lnTo>
                    <a:pt x="513334" y="5074283"/>
                  </a:lnTo>
                  <a:cubicBezTo>
                    <a:pt x="229870" y="5074283"/>
                    <a:pt x="0" y="4967095"/>
                    <a:pt x="0" y="4834917"/>
                  </a:cubicBezTo>
                  <a:close/>
                </a:path>
              </a:pathLst>
            </a:custGeom>
            <a:blipFill>
              <a:blip r:embed="rId4">
                <a:alphaModFix amt="0"/>
              </a:blip>
              <a:stretch>
                <a:fillRect l="-129619" t="0" r="-129619" b="-114456"/>
              </a:stretch>
            </a:blipFill>
            <a:ln w="14288" cap="sq">
              <a:solidFill>
                <a:srgbClr val="E8D5B5"/>
              </a:solidFill>
              <a:prstDash val="solid"/>
              <a:miter/>
            </a:ln>
          </p:spPr>
        </p:sp>
      </p:grpSp>
      <p:grpSp>
        <p:nvGrpSpPr>
          <p:cNvPr name="Group 82" id="82"/>
          <p:cNvGrpSpPr/>
          <p:nvPr/>
        </p:nvGrpSpPr>
        <p:grpSpPr>
          <a:xfrm rot="0">
            <a:off x="925544" y="5812711"/>
            <a:ext cx="5829872" cy="3821568"/>
            <a:chOff x="0" y="0"/>
            <a:chExt cx="7773162" cy="5095424"/>
          </a:xfrm>
        </p:grpSpPr>
        <p:sp>
          <p:nvSpPr>
            <p:cNvPr name="Freeform 83" id="83"/>
            <p:cNvSpPr/>
            <p:nvPr/>
          </p:nvSpPr>
          <p:spPr>
            <a:xfrm flipH="false" flipV="false" rot="0">
              <a:off x="0" y="0"/>
              <a:ext cx="7773162" cy="5095424"/>
            </a:xfrm>
            <a:custGeom>
              <a:avLst/>
              <a:gdLst/>
              <a:ahLst/>
              <a:cxnLst/>
              <a:rect r="r" b="b" t="t" l="l"/>
              <a:pathLst>
                <a:path h="5095424" w="7773162">
                  <a:moveTo>
                    <a:pt x="233657" y="0"/>
                  </a:moveTo>
                  <a:lnTo>
                    <a:pt x="7539505" y="0"/>
                  </a:lnTo>
                  <a:cubicBezTo>
                    <a:pt x="7668550" y="0"/>
                    <a:pt x="7773162" y="104612"/>
                    <a:pt x="7773162" y="233657"/>
                  </a:cubicBezTo>
                  <a:lnTo>
                    <a:pt x="7773162" y="4861767"/>
                  </a:lnTo>
                  <a:cubicBezTo>
                    <a:pt x="7773162" y="4990812"/>
                    <a:pt x="7668550" y="5095424"/>
                    <a:pt x="7539505" y="5095424"/>
                  </a:cubicBezTo>
                  <a:lnTo>
                    <a:pt x="233657" y="5095424"/>
                  </a:lnTo>
                  <a:cubicBezTo>
                    <a:pt x="104612" y="5095424"/>
                    <a:pt x="0" y="4990812"/>
                    <a:pt x="0" y="4861767"/>
                  </a:cubicBezTo>
                  <a:lnTo>
                    <a:pt x="0" y="233657"/>
                  </a:lnTo>
                  <a:cubicBezTo>
                    <a:pt x="0" y="104612"/>
                    <a:pt x="104612" y="0"/>
                    <a:pt x="233657" y="0"/>
                  </a:cubicBezTo>
                  <a:close/>
                </a:path>
              </a:pathLst>
            </a:custGeom>
            <a:blipFill>
              <a:blip r:embed="rId16">
                <a:alphaModFix amt="65000"/>
              </a:blip>
              <a:stretch>
                <a:fillRect l="0" t="-2309" r="0" b="-25070"/>
              </a:stretch>
            </a:blipFill>
          </p:spPr>
        </p:sp>
      </p:grpSp>
      <p:sp>
        <p:nvSpPr>
          <p:cNvPr name="Freeform 84" id="84"/>
          <p:cNvSpPr/>
          <p:nvPr/>
        </p:nvSpPr>
        <p:spPr>
          <a:xfrm flipH="false" flipV="false" rot="0">
            <a:off x="424346" y="147263"/>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7"/>
            <a:stretch>
              <a:fillRect l="0" t="-22113" r="0" b="-17967"/>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92976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A05E3B">
                <a:alpha val="1961"/>
              </a:srgbClr>
            </a:solidFill>
          </p:spPr>
        </p:sp>
      </p:grpSp>
      <p:grpSp>
        <p:nvGrpSpPr>
          <p:cNvPr name="Group 5" id="5"/>
          <p:cNvGrpSpPr/>
          <p:nvPr/>
        </p:nvGrpSpPr>
        <p:grpSpPr>
          <a:xfrm rot="0">
            <a:off x="11441761" y="815816"/>
            <a:ext cx="6333172" cy="3906440"/>
            <a:chOff x="0" y="0"/>
            <a:chExt cx="8444230" cy="5208586"/>
          </a:xfrm>
        </p:grpSpPr>
        <p:sp>
          <p:nvSpPr>
            <p:cNvPr name="Freeform 6" id="6"/>
            <p:cNvSpPr/>
            <p:nvPr/>
          </p:nvSpPr>
          <p:spPr>
            <a:xfrm flipH="false" flipV="false" rot="0">
              <a:off x="0" y="0"/>
              <a:ext cx="8444230" cy="5208586"/>
            </a:xfrm>
            <a:custGeom>
              <a:avLst/>
              <a:gdLst/>
              <a:ahLst/>
              <a:cxnLst/>
              <a:rect r="r" b="b" t="t" l="l"/>
              <a:pathLst>
                <a:path h="5208586" w="8444230">
                  <a:moveTo>
                    <a:pt x="0" y="331055"/>
                  </a:moveTo>
                  <a:cubicBezTo>
                    <a:pt x="0" y="148236"/>
                    <a:pt x="328803" y="0"/>
                    <a:pt x="734314" y="0"/>
                  </a:cubicBezTo>
                  <a:lnTo>
                    <a:pt x="7709916" y="0"/>
                  </a:lnTo>
                  <a:cubicBezTo>
                    <a:pt x="8115427" y="0"/>
                    <a:pt x="8444230" y="148236"/>
                    <a:pt x="8444230" y="331055"/>
                  </a:cubicBezTo>
                  <a:lnTo>
                    <a:pt x="8444230" y="4877531"/>
                  </a:lnTo>
                  <a:cubicBezTo>
                    <a:pt x="8444230" y="5060350"/>
                    <a:pt x="8115427" y="5208586"/>
                    <a:pt x="7709916" y="5208586"/>
                  </a:cubicBezTo>
                  <a:lnTo>
                    <a:pt x="734314" y="5208586"/>
                  </a:lnTo>
                  <a:cubicBezTo>
                    <a:pt x="328803" y="5208586"/>
                    <a:pt x="0" y="5060350"/>
                    <a:pt x="0" y="4877531"/>
                  </a:cubicBezTo>
                  <a:close/>
                </a:path>
              </a:pathLst>
            </a:custGeom>
            <a:blipFill>
              <a:blip r:embed="rId4"/>
              <a:stretch>
                <a:fillRect l="-5073" t="0" r="-5073" b="0"/>
              </a:stretch>
            </a:blipFill>
            <a:ln w="23812" cap="sq">
              <a:solidFill>
                <a:srgbClr val="A68460"/>
              </a:solidFill>
              <a:prstDash val="dash"/>
              <a:miter/>
            </a:ln>
          </p:spPr>
        </p:sp>
      </p:grpSp>
      <p:grpSp>
        <p:nvGrpSpPr>
          <p:cNvPr name="Group 7" id="7"/>
          <p:cNvGrpSpPr/>
          <p:nvPr/>
        </p:nvGrpSpPr>
        <p:grpSpPr>
          <a:xfrm rot="0">
            <a:off x="5204936" y="815816"/>
            <a:ext cx="5363528" cy="562928"/>
            <a:chOff x="0" y="0"/>
            <a:chExt cx="7151370" cy="750570"/>
          </a:xfrm>
        </p:grpSpPr>
        <p:sp>
          <p:nvSpPr>
            <p:cNvPr name="Freeform 8" id="8"/>
            <p:cNvSpPr/>
            <p:nvPr/>
          </p:nvSpPr>
          <p:spPr>
            <a:xfrm flipH="false" flipV="false" rot="0">
              <a:off x="0" y="0"/>
              <a:ext cx="7151370" cy="750570"/>
            </a:xfrm>
            <a:custGeom>
              <a:avLst/>
              <a:gdLst/>
              <a:ahLst/>
              <a:cxnLst/>
              <a:rect r="r" b="b" t="t" l="l"/>
              <a:pathLst>
                <a:path h="750570" w="7151370">
                  <a:moveTo>
                    <a:pt x="0" y="375285"/>
                  </a:moveTo>
                  <a:cubicBezTo>
                    <a:pt x="0" y="168021"/>
                    <a:pt x="168021" y="0"/>
                    <a:pt x="375285" y="0"/>
                  </a:cubicBezTo>
                  <a:lnTo>
                    <a:pt x="6776085" y="0"/>
                  </a:lnTo>
                  <a:cubicBezTo>
                    <a:pt x="6983349" y="0"/>
                    <a:pt x="7151370" y="168021"/>
                    <a:pt x="7151370" y="375285"/>
                  </a:cubicBezTo>
                  <a:cubicBezTo>
                    <a:pt x="7151370" y="582549"/>
                    <a:pt x="6983349" y="750570"/>
                    <a:pt x="6776085" y="750570"/>
                  </a:cubicBezTo>
                  <a:lnTo>
                    <a:pt x="375285" y="750570"/>
                  </a:lnTo>
                  <a:cubicBezTo>
                    <a:pt x="168021" y="750570"/>
                    <a:pt x="0" y="582549"/>
                    <a:pt x="0" y="375285"/>
                  </a:cubicBezTo>
                  <a:close/>
                </a:path>
              </a:pathLst>
            </a:custGeom>
            <a:solidFill>
              <a:srgbClr val="A05E3B">
                <a:alpha val="3137"/>
              </a:srgbClr>
            </a:solidFill>
            <a:ln w="14288" cap="sq">
              <a:solidFill>
                <a:srgbClr val="A05E3B"/>
              </a:solidFill>
              <a:prstDash val="solid"/>
              <a:miter/>
            </a:ln>
          </p:spPr>
        </p:sp>
      </p:grpSp>
      <p:grpSp>
        <p:nvGrpSpPr>
          <p:cNvPr name="Group 9" id="9"/>
          <p:cNvGrpSpPr/>
          <p:nvPr/>
        </p:nvGrpSpPr>
        <p:grpSpPr>
          <a:xfrm rot="0">
            <a:off x="10040112" y="946404"/>
            <a:ext cx="301752" cy="301752"/>
            <a:chOff x="0" y="0"/>
            <a:chExt cx="402336" cy="402336"/>
          </a:xfrm>
        </p:grpSpPr>
        <p:sp>
          <p:nvSpPr>
            <p:cNvPr name="Freeform 10" id="10"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5"/>
              <a:stretch>
                <a:fillRect l="0" t="0" r="0" b="0"/>
              </a:stretch>
            </a:blipFill>
          </p:spPr>
        </p:sp>
      </p:grpSp>
      <p:grpSp>
        <p:nvGrpSpPr>
          <p:cNvPr name="Group 11" id="11"/>
          <p:cNvGrpSpPr/>
          <p:nvPr/>
        </p:nvGrpSpPr>
        <p:grpSpPr>
          <a:xfrm rot="0">
            <a:off x="5376672" y="822960"/>
            <a:ext cx="4526280" cy="564812"/>
            <a:chOff x="0" y="0"/>
            <a:chExt cx="6035040" cy="753083"/>
          </a:xfrm>
        </p:grpSpPr>
        <p:sp>
          <p:nvSpPr>
            <p:cNvPr name="Freeform 12" id="12"/>
            <p:cNvSpPr/>
            <p:nvPr/>
          </p:nvSpPr>
          <p:spPr>
            <a:xfrm flipH="false" flipV="false" rot="0">
              <a:off x="0" y="0"/>
              <a:ext cx="6035040" cy="753083"/>
            </a:xfrm>
            <a:custGeom>
              <a:avLst/>
              <a:gdLst/>
              <a:ahLst/>
              <a:cxnLst/>
              <a:rect r="r" b="b" t="t" l="l"/>
              <a:pathLst>
                <a:path h="753083" w="6035040">
                  <a:moveTo>
                    <a:pt x="0" y="0"/>
                  </a:moveTo>
                  <a:lnTo>
                    <a:pt x="6035040" y="0"/>
                  </a:lnTo>
                  <a:lnTo>
                    <a:pt x="6035040" y="753083"/>
                  </a:lnTo>
                  <a:lnTo>
                    <a:pt x="0" y="753083"/>
                  </a:lnTo>
                  <a:close/>
                </a:path>
              </a:pathLst>
            </a:custGeom>
            <a:blipFill>
              <a:blip r:embed="rId6">
                <a:alphaModFix amt="0"/>
              </a:blip>
              <a:stretch>
                <a:fillRect l="0" t="-107580" r="0" b="-104717"/>
              </a:stretch>
            </a:blipFill>
          </p:spPr>
        </p:sp>
        <p:sp>
          <p:nvSpPr>
            <p:cNvPr name="TextBox 13" id="13"/>
            <p:cNvSpPr txBox="true"/>
            <p:nvPr/>
          </p:nvSpPr>
          <p:spPr>
            <a:xfrm>
              <a:off x="0" y="-9525"/>
              <a:ext cx="6035040" cy="762608"/>
            </a:xfrm>
            <a:prstGeom prst="rect">
              <a:avLst/>
            </a:prstGeom>
          </p:spPr>
          <p:txBody>
            <a:bodyPr anchor="ctr" rtlCol="false" tIns="0" lIns="0" bIns="0" rIns="0"/>
            <a:lstStyle/>
            <a:p>
              <a:pPr algn="r" rtl="true">
                <a:lnSpc>
                  <a:spcPts val="2340"/>
                </a:lnSpc>
              </a:pPr>
              <a:r>
                <a:rPr lang="ar-EG" b="true" sz="1950" spc="19">
                  <a:solidFill>
                    <a:srgbClr val="A05E3B"/>
                  </a:solidFill>
                  <a:latin typeface="XM Traffic Bold"/>
                  <a:ea typeface="XM Traffic Bold"/>
                  <a:cs typeface="XM Traffic Bold"/>
                  <a:sym typeface="XM Traffic Bold"/>
                  <a:rtl val="true"/>
                </a:rPr>
                <a:t>شقراء — ذاكرة المكان</a:t>
              </a:r>
            </a:p>
          </p:txBody>
        </p:sp>
      </p:grpSp>
      <p:sp>
        <p:nvSpPr>
          <p:cNvPr name="TextBox 14" id="14"/>
          <p:cNvSpPr txBox="true"/>
          <p:nvPr/>
        </p:nvSpPr>
        <p:spPr>
          <a:xfrm rot="0">
            <a:off x="822960" y="1508760"/>
            <a:ext cx="9738360" cy="1714500"/>
          </a:xfrm>
          <a:prstGeom prst="rect">
            <a:avLst/>
          </a:prstGeom>
        </p:spPr>
        <p:txBody>
          <a:bodyPr anchor="t" rtlCol="false" tIns="0" lIns="0" bIns="0" rIns="0">
            <a:spAutoFit/>
          </a:bodyPr>
          <a:lstStyle/>
          <a:p>
            <a:pPr algn="r" rtl="true">
              <a:lnSpc>
                <a:spcPts val="6480"/>
              </a:lnSpc>
            </a:pPr>
            <a:r>
              <a:rPr lang="ar-EG" b="true" sz="5400" spc="55">
                <a:solidFill>
                  <a:srgbClr val="3B2A1E"/>
                </a:solidFill>
                <a:latin typeface="XM Traffic Bold"/>
                <a:ea typeface="XM Traffic Bold"/>
                <a:cs typeface="XM Traffic Bold"/>
                <a:sym typeface="XM Traffic Bold"/>
                <a:rtl val="true"/>
              </a:rPr>
              <a:t>تراث حيّ، وتجربة تتجدد</a:t>
            </a:r>
          </a:p>
        </p:txBody>
      </p:sp>
      <p:sp>
        <p:nvSpPr>
          <p:cNvPr name="TextBox 15" id="15"/>
          <p:cNvSpPr txBox="true"/>
          <p:nvPr/>
        </p:nvSpPr>
        <p:spPr>
          <a:xfrm rot="0">
            <a:off x="822960" y="3253740"/>
            <a:ext cx="9738360" cy="1958340"/>
          </a:xfrm>
          <a:prstGeom prst="rect">
            <a:avLst/>
          </a:prstGeom>
        </p:spPr>
        <p:txBody>
          <a:bodyPr anchor="t" rtlCol="false" tIns="0" lIns="0" bIns="0" rIns="0">
            <a:spAutoFit/>
          </a:bodyPr>
          <a:lstStyle/>
          <a:p>
            <a:pPr algn="r">
              <a:lnSpc>
                <a:spcPts val="3104"/>
              </a:lnSpc>
            </a:pPr>
            <a:r>
              <a:rPr lang="ar-EG" sz="2250" spc="23">
                <a:solidFill>
                  <a:srgbClr val="4A3628"/>
                </a:solidFill>
                <a:latin typeface="XM Traffic"/>
                <a:ea typeface="XM Traffic"/>
                <a:cs typeface="XM Traffic"/>
                <a:sym typeface="XM Traffic"/>
                <a:rtl val="true"/>
              </a:rPr>
              <a:t>في قلب شقراء، نعيد تقديم الأسواق التراثية بروح معاصرة، تحافظ على أصالة المكان وتمنحه حياة جديدة، من خلال تحسين تجربة الزائر، والارتقاء بالمشهد العام، وإبراز القصص والمنتجات المحلية</a:t>
            </a:r>
            <a:r>
              <a:rPr lang="en-US" sz="2250" spc="23">
                <a:solidFill>
                  <a:srgbClr val="4A3628"/>
                </a:solidFill>
                <a:latin typeface="XM Traffic"/>
                <a:ea typeface="XM Traffic"/>
                <a:cs typeface="XM Traffic"/>
                <a:sym typeface="XM Traffic"/>
              </a:rPr>
              <a:t>.</a:t>
            </a:r>
          </a:p>
        </p:txBody>
      </p:sp>
      <p:grpSp>
        <p:nvGrpSpPr>
          <p:cNvPr name="Group 16" id="16"/>
          <p:cNvGrpSpPr/>
          <p:nvPr/>
        </p:nvGrpSpPr>
        <p:grpSpPr>
          <a:xfrm rot="0">
            <a:off x="822960" y="5239512"/>
            <a:ext cx="9738360" cy="411480"/>
            <a:chOff x="0" y="0"/>
            <a:chExt cx="12984480" cy="548640"/>
          </a:xfrm>
        </p:grpSpPr>
        <p:sp>
          <p:nvSpPr>
            <p:cNvPr name="Freeform 17" id="17"/>
            <p:cNvSpPr/>
            <p:nvPr/>
          </p:nvSpPr>
          <p:spPr>
            <a:xfrm flipH="false" flipV="false" rot="0">
              <a:off x="0" y="0"/>
              <a:ext cx="12984480" cy="548640"/>
            </a:xfrm>
            <a:custGeom>
              <a:avLst/>
              <a:gdLst/>
              <a:ahLst/>
              <a:cxnLst/>
              <a:rect r="r" b="b" t="t" l="l"/>
              <a:pathLst>
                <a:path h="548640" w="12984480">
                  <a:moveTo>
                    <a:pt x="0" y="0"/>
                  </a:moveTo>
                  <a:lnTo>
                    <a:pt x="12984480" y="0"/>
                  </a:lnTo>
                  <a:lnTo>
                    <a:pt x="12984480" y="548640"/>
                  </a:lnTo>
                  <a:lnTo>
                    <a:pt x="0" y="548640"/>
                  </a:lnTo>
                  <a:close/>
                </a:path>
              </a:pathLst>
            </a:custGeom>
            <a:blipFill>
              <a:blip r:embed="rId6">
                <a:alphaModFix amt="0"/>
              </a:blip>
              <a:stretch>
                <a:fillRect l="0" t="-411145" r="0" b="-411145"/>
              </a:stretch>
            </a:blipFill>
          </p:spPr>
        </p:sp>
        <p:sp>
          <p:nvSpPr>
            <p:cNvPr name="TextBox 18" id="18"/>
            <p:cNvSpPr txBox="true"/>
            <p:nvPr/>
          </p:nvSpPr>
          <p:spPr>
            <a:xfrm>
              <a:off x="0" y="0"/>
              <a:ext cx="12984480" cy="548640"/>
            </a:xfrm>
            <a:prstGeom prst="rect">
              <a:avLst/>
            </a:prstGeom>
          </p:spPr>
          <p:txBody>
            <a:bodyPr anchor="ctr" rtlCol="false" tIns="0" lIns="0" bIns="0" rIns="0"/>
            <a:lstStyle/>
            <a:p>
              <a:pPr algn="r" rtl="true">
                <a:lnSpc>
                  <a:spcPts val="2520"/>
                </a:lnSpc>
              </a:pPr>
              <a:r>
                <a:rPr lang="ar-EG" b="true" sz="2100" spc="21">
                  <a:solidFill>
                    <a:srgbClr val="A05E3B"/>
                  </a:solidFill>
                  <a:latin typeface="XM Traffic Bold"/>
                  <a:ea typeface="XM Traffic Bold"/>
                  <a:cs typeface="XM Traffic Bold"/>
                  <a:sym typeface="XM Traffic Bold"/>
                  <a:rtl val="true"/>
                </a:rPr>
                <a:t>مكونات التطوير</a:t>
              </a:r>
            </a:p>
          </p:txBody>
        </p:sp>
      </p:grpSp>
      <p:grpSp>
        <p:nvGrpSpPr>
          <p:cNvPr name="Group 19" id="19"/>
          <p:cNvGrpSpPr/>
          <p:nvPr/>
        </p:nvGrpSpPr>
        <p:grpSpPr>
          <a:xfrm rot="0">
            <a:off x="815816" y="5781008"/>
            <a:ext cx="9752648" cy="700088"/>
            <a:chOff x="0" y="0"/>
            <a:chExt cx="13003530" cy="933450"/>
          </a:xfrm>
        </p:grpSpPr>
        <p:sp>
          <p:nvSpPr>
            <p:cNvPr name="Freeform 20" id="20"/>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21" id="21"/>
          <p:cNvGrpSpPr/>
          <p:nvPr/>
        </p:nvGrpSpPr>
        <p:grpSpPr>
          <a:xfrm rot="0">
            <a:off x="9848088" y="5856732"/>
            <a:ext cx="548640" cy="548640"/>
            <a:chOff x="0" y="0"/>
            <a:chExt cx="731520" cy="731520"/>
          </a:xfrm>
        </p:grpSpPr>
        <p:sp>
          <p:nvSpPr>
            <p:cNvPr name="Freeform 22" id="22"/>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23" id="23"/>
          <p:cNvGrpSpPr/>
          <p:nvPr/>
        </p:nvGrpSpPr>
        <p:grpSpPr>
          <a:xfrm rot="0">
            <a:off x="9985248" y="5993892"/>
            <a:ext cx="274320" cy="274320"/>
            <a:chOff x="0" y="0"/>
            <a:chExt cx="365760" cy="365760"/>
          </a:xfrm>
        </p:grpSpPr>
        <p:sp>
          <p:nvSpPr>
            <p:cNvPr name="Freeform 24" id="24"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7"/>
              <a:stretch>
                <a:fillRect l="0" t="0" r="0" b="0"/>
              </a:stretch>
            </a:blipFill>
          </p:spPr>
        </p:sp>
      </p:grpSp>
      <p:grpSp>
        <p:nvGrpSpPr>
          <p:cNvPr name="Group 25" id="25"/>
          <p:cNvGrpSpPr/>
          <p:nvPr/>
        </p:nvGrpSpPr>
        <p:grpSpPr>
          <a:xfrm rot="0">
            <a:off x="987552" y="5788152"/>
            <a:ext cx="8695944" cy="685800"/>
            <a:chOff x="0" y="0"/>
            <a:chExt cx="11594592" cy="914400"/>
          </a:xfrm>
        </p:grpSpPr>
        <p:sp>
          <p:nvSpPr>
            <p:cNvPr name="Freeform 26" id="26"/>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27" id="27"/>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تحسين المشهد البصري وتنظيم عناصر السوق</a:t>
              </a:r>
            </a:p>
          </p:txBody>
        </p:sp>
      </p:grpSp>
      <p:grpSp>
        <p:nvGrpSpPr>
          <p:cNvPr name="Group 28" id="28"/>
          <p:cNvGrpSpPr/>
          <p:nvPr/>
        </p:nvGrpSpPr>
        <p:grpSpPr>
          <a:xfrm rot="0">
            <a:off x="815816" y="6576536"/>
            <a:ext cx="9752648" cy="700088"/>
            <a:chOff x="0" y="0"/>
            <a:chExt cx="13003530" cy="933450"/>
          </a:xfrm>
        </p:grpSpPr>
        <p:sp>
          <p:nvSpPr>
            <p:cNvPr name="Freeform 29" id="29"/>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30" id="30"/>
          <p:cNvGrpSpPr/>
          <p:nvPr/>
        </p:nvGrpSpPr>
        <p:grpSpPr>
          <a:xfrm rot="0">
            <a:off x="9848088" y="6652260"/>
            <a:ext cx="548640" cy="548640"/>
            <a:chOff x="0" y="0"/>
            <a:chExt cx="731520" cy="731520"/>
          </a:xfrm>
        </p:grpSpPr>
        <p:sp>
          <p:nvSpPr>
            <p:cNvPr name="Freeform 31" id="31"/>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32" id="32"/>
          <p:cNvGrpSpPr/>
          <p:nvPr/>
        </p:nvGrpSpPr>
        <p:grpSpPr>
          <a:xfrm rot="0">
            <a:off x="9985248" y="6789420"/>
            <a:ext cx="274320" cy="274320"/>
            <a:chOff x="0" y="0"/>
            <a:chExt cx="365760" cy="365760"/>
          </a:xfrm>
        </p:grpSpPr>
        <p:sp>
          <p:nvSpPr>
            <p:cNvPr name="Freeform 33" id="33"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8"/>
              <a:stretch>
                <a:fillRect l="0" t="0" r="0" b="0"/>
              </a:stretch>
            </a:blipFill>
          </p:spPr>
        </p:sp>
      </p:grpSp>
      <p:grpSp>
        <p:nvGrpSpPr>
          <p:cNvPr name="Group 34" id="34"/>
          <p:cNvGrpSpPr/>
          <p:nvPr/>
        </p:nvGrpSpPr>
        <p:grpSpPr>
          <a:xfrm rot="0">
            <a:off x="987552" y="6583680"/>
            <a:ext cx="8695944" cy="685800"/>
            <a:chOff x="0" y="0"/>
            <a:chExt cx="11594592" cy="914400"/>
          </a:xfrm>
        </p:grpSpPr>
        <p:sp>
          <p:nvSpPr>
            <p:cNvPr name="Freeform 35" id="35"/>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36" id="36"/>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تطوير اللوحات الإرشادية والهوية البصرية</a:t>
              </a:r>
            </a:p>
          </p:txBody>
        </p:sp>
      </p:grpSp>
      <p:grpSp>
        <p:nvGrpSpPr>
          <p:cNvPr name="Group 37" id="37"/>
          <p:cNvGrpSpPr/>
          <p:nvPr/>
        </p:nvGrpSpPr>
        <p:grpSpPr>
          <a:xfrm rot="0">
            <a:off x="815816" y="7372064"/>
            <a:ext cx="9752648" cy="700088"/>
            <a:chOff x="0" y="0"/>
            <a:chExt cx="13003530" cy="933450"/>
          </a:xfrm>
        </p:grpSpPr>
        <p:sp>
          <p:nvSpPr>
            <p:cNvPr name="Freeform 38" id="38"/>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39" id="39"/>
          <p:cNvGrpSpPr/>
          <p:nvPr/>
        </p:nvGrpSpPr>
        <p:grpSpPr>
          <a:xfrm rot="0">
            <a:off x="9848088" y="7447788"/>
            <a:ext cx="548640" cy="548640"/>
            <a:chOff x="0" y="0"/>
            <a:chExt cx="731520" cy="731520"/>
          </a:xfrm>
        </p:grpSpPr>
        <p:sp>
          <p:nvSpPr>
            <p:cNvPr name="Freeform 40" id="40"/>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41" id="41"/>
          <p:cNvGrpSpPr/>
          <p:nvPr/>
        </p:nvGrpSpPr>
        <p:grpSpPr>
          <a:xfrm rot="0">
            <a:off x="9985248" y="7584948"/>
            <a:ext cx="274320" cy="274320"/>
            <a:chOff x="0" y="0"/>
            <a:chExt cx="365760" cy="365760"/>
          </a:xfrm>
        </p:grpSpPr>
        <p:sp>
          <p:nvSpPr>
            <p:cNvPr name="Freeform 42" id="42"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9"/>
              <a:stretch>
                <a:fillRect l="0" t="0" r="0" b="0"/>
              </a:stretch>
            </a:blipFill>
          </p:spPr>
        </p:sp>
      </p:grpSp>
      <p:grpSp>
        <p:nvGrpSpPr>
          <p:cNvPr name="Group 43" id="43"/>
          <p:cNvGrpSpPr/>
          <p:nvPr/>
        </p:nvGrpSpPr>
        <p:grpSpPr>
          <a:xfrm rot="0">
            <a:off x="987552" y="7379208"/>
            <a:ext cx="8695944" cy="685800"/>
            <a:chOff x="0" y="0"/>
            <a:chExt cx="11594592" cy="914400"/>
          </a:xfrm>
        </p:grpSpPr>
        <p:sp>
          <p:nvSpPr>
            <p:cNvPr name="Freeform 44" id="44"/>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45" id="45"/>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فريق ضيافة واستقبال وتوجيه للزوار</a:t>
              </a:r>
            </a:p>
          </p:txBody>
        </p:sp>
      </p:grpSp>
      <p:grpSp>
        <p:nvGrpSpPr>
          <p:cNvPr name="Group 46" id="46"/>
          <p:cNvGrpSpPr/>
          <p:nvPr/>
        </p:nvGrpSpPr>
        <p:grpSpPr>
          <a:xfrm rot="0">
            <a:off x="815816" y="8167592"/>
            <a:ext cx="9752648" cy="700088"/>
            <a:chOff x="0" y="0"/>
            <a:chExt cx="13003530" cy="933450"/>
          </a:xfrm>
        </p:grpSpPr>
        <p:sp>
          <p:nvSpPr>
            <p:cNvPr name="Freeform 47" id="47"/>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48" id="48"/>
          <p:cNvGrpSpPr/>
          <p:nvPr/>
        </p:nvGrpSpPr>
        <p:grpSpPr>
          <a:xfrm rot="0">
            <a:off x="9848088" y="8243316"/>
            <a:ext cx="548640" cy="548640"/>
            <a:chOff x="0" y="0"/>
            <a:chExt cx="731520" cy="731520"/>
          </a:xfrm>
        </p:grpSpPr>
        <p:sp>
          <p:nvSpPr>
            <p:cNvPr name="Freeform 49" id="49"/>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50" id="50"/>
          <p:cNvGrpSpPr/>
          <p:nvPr/>
        </p:nvGrpSpPr>
        <p:grpSpPr>
          <a:xfrm rot="0">
            <a:off x="9985248" y="8380476"/>
            <a:ext cx="274320" cy="274320"/>
            <a:chOff x="0" y="0"/>
            <a:chExt cx="365760" cy="365760"/>
          </a:xfrm>
        </p:grpSpPr>
        <p:sp>
          <p:nvSpPr>
            <p:cNvPr name="Freeform 51" id="51"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10"/>
              <a:stretch>
                <a:fillRect l="0" t="0" r="0" b="0"/>
              </a:stretch>
            </a:blipFill>
          </p:spPr>
        </p:sp>
      </p:grpSp>
      <p:grpSp>
        <p:nvGrpSpPr>
          <p:cNvPr name="Group 52" id="52"/>
          <p:cNvGrpSpPr/>
          <p:nvPr/>
        </p:nvGrpSpPr>
        <p:grpSpPr>
          <a:xfrm rot="0">
            <a:off x="987552" y="8174736"/>
            <a:ext cx="8695944" cy="685800"/>
            <a:chOff x="0" y="0"/>
            <a:chExt cx="11594592" cy="914400"/>
          </a:xfrm>
        </p:grpSpPr>
        <p:sp>
          <p:nvSpPr>
            <p:cNvPr name="Freeform 53" id="53"/>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54" id="54"/>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فريق مخصص للنظافة وجودة الموقع</a:t>
              </a:r>
            </a:p>
          </p:txBody>
        </p:sp>
      </p:grpSp>
      <p:grpSp>
        <p:nvGrpSpPr>
          <p:cNvPr name="Group 55" id="55"/>
          <p:cNvGrpSpPr/>
          <p:nvPr/>
        </p:nvGrpSpPr>
        <p:grpSpPr>
          <a:xfrm rot="0">
            <a:off x="815816" y="8963120"/>
            <a:ext cx="9752648" cy="700088"/>
            <a:chOff x="0" y="0"/>
            <a:chExt cx="13003530" cy="933450"/>
          </a:xfrm>
        </p:grpSpPr>
        <p:sp>
          <p:nvSpPr>
            <p:cNvPr name="Freeform 56" id="56"/>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57" id="57"/>
          <p:cNvGrpSpPr/>
          <p:nvPr/>
        </p:nvGrpSpPr>
        <p:grpSpPr>
          <a:xfrm rot="0">
            <a:off x="9848088" y="9038844"/>
            <a:ext cx="548640" cy="548640"/>
            <a:chOff x="0" y="0"/>
            <a:chExt cx="731520" cy="731520"/>
          </a:xfrm>
        </p:grpSpPr>
        <p:sp>
          <p:nvSpPr>
            <p:cNvPr name="Freeform 58" id="58"/>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59" id="59"/>
          <p:cNvGrpSpPr/>
          <p:nvPr/>
        </p:nvGrpSpPr>
        <p:grpSpPr>
          <a:xfrm rot="0">
            <a:off x="9985248" y="9176004"/>
            <a:ext cx="274320" cy="274320"/>
            <a:chOff x="0" y="0"/>
            <a:chExt cx="365760" cy="365760"/>
          </a:xfrm>
        </p:grpSpPr>
        <p:sp>
          <p:nvSpPr>
            <p:cNvPr name="Freeform 60" id="60"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11"/>
              <a:stretch>
                <a:fillRect l="0" t="0" r="0" b="0"/>
              </a:stretch>
            </a:blipFill>
          </p:spPr>
        </p:sp>
      </p:grpSp>
      <p:grpSp>
        <p:nvGrpSpPr>
          <p:cNvPr name="Group 61" id="61"/>
          <p:cNvGrpSpPr/>
          <p:nvPr/>
        </p:nvGrpSpPr>
        <p:grpSpPr>
          <a:xfrm rot="0">
            <a:off x="987552" y="8970264"/>
            <a:ext cx="8695944" cy="685800"/>
            <a:chOff x="0" y="0"/>
            <a:chExt cx="11594592" cy="914400"/>
          </a:xfrm>
        </p:grpSpPr>
        <p:sp>
          <p:nvSpPr>
            <p:cNvPr name="Freeform 62" id="62"/>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63" id="63"/>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إبراز الممرات والتفاصيل المعمارية التراثية</a:t>
              </a:r>
            </a:p>
          </p:txBody>
        </p:sp>
      </p:grpSp>
      <p:grpSp>
        <p:nvGrpSpPr>
          <p:cNvPr name="Group 64" id="64"/>
          <p:cNvGrpSpPr/>
          <p:nvPr/>
        </p:nvGrpSpPr>
        <p:grpSpPr>
          <a:xfrm rot="0">
            <a:off x="822960" y="9669780"/>
            <a:ext cx="9738360" cy="342900"/>
            <a:chOff x="0" y="0"/>
            <a:chExt cx="12984480" cy="457200"/>
          </a:xfrm>
        </p:grpSpPr>
        <p:sp>
          <p:nvSpPr>
            <p:cNvPr name="Freeform 65" id="65"/>
            <p:cNvSpPr/>
            <p:nvPr/>
          </p:nvSpPr>
          <p:spPr>
            <a:xfrm flipH="false" flipV="false" rot="0">
              <a:off x="0" y="0"/>
              <a:ext cx="12984480" cy="457200"/>
            </a:xfrm>
            <a:custGeom>
              <a:avLst/>
              <a:gdLst/>
              <a:ahLst/>
              <a:cxnLst/>
              <a:rect r="r" b="b" t="t" l="l"/>
              <a:pathLst>
                <a:path h="457200" w="12984480">
                  <a:moveTo>
                    <a:pt x="0" y="0"/>
                  </a:moveTo>
                  <a:lnTo>
                    <a:pt x="12984480" y="0"/>
                  </a:lnTo>
                  <a:lnTo>
                    <a:pt x="12984480" y="457200"/>
                  </a:lnTo>
                  <a:lnTo>
                    <a:pt x="0" y="457200"/>
                  </a:lnTo>
                  <a:close/>
                </a:path>
              </a:pathLst>
            </a:custGeom>
            <a:blipFill>
              <a:blip r:embed="rId6">
                <a:alphaModFix amt="0"/>
              </a:blip>
              <a:stretch>
                <a:fillRect l="0" t="-503375" r="0" b="-503375"/>
              </a:stretch>
            </a:blipFill>
          </p:spPr>
        </p:sp>
        <p:sp>
          <p:nvSpPr>
            <p:cNvPr name="TextBox 66" id="66"/>
            <p:cNvSpPr txBox="true"/>
            <p:nvPr/>
          </p:nvSpPr>
          <p:spPr>
            <a:xfrm>
              <a:off x="0" y="0"/>
              <a:ext cx="12984480" cy="457200"/>
            </a:xfrm>
            <a:prstGeom prst="rect">
              <a:avLst/>
            </a:prstGeom>
          </p:spPr>
          <p:txBody>
            <a:bodyPr anchor="ctr" rtlCol="false" tIns="0" lIns="0" bIns="0" rIns="0"/>
            <a:lstStyle/>
            <a:p>
              <a:pPr algn="r" rtl="true">
                <a:lnSpc>
                  <a:spcPts val="1800"/>
                </a:lnSpc>
              </a:pPr>
              <a:r>
                <a:rPr lang="ar-EG" sz="1500" spc="15">
                  <a:solidFill>
                    <a:srgbClr val="7A5C44"/>
                  </a:solidFill>
                  <a:latin typeface="XM Traffic"/>
                  <a:ea typeface="XM Traffic"/>
                  <a:cs typeface="XM Traffic"/>
                  <a:sym typeface="XM Traffic"/>
                  <a:rtl val="true"/>
                </a:rPr>
                <a:t>تصوّر تطويري مقترح</a:t>
              </a:r>
            </a:p>
          </p:txBody>
        </p:sp>
      </p:grpSp>
      <p:grpSp>
        <p:nvGrpSpPr>
          <p:cNvPr name="Group 67" id="67"/>
          <p:cNvGrpSpPr/>
          <p:nvPr/>
        </p:nvGrpSpPr>
        <p:grpSpPr>
          <a:xfrm rot="0">
            <a:off x="1724939" y="815816"/>
            <a:ext cx="3314290" cy="562928"/>
            <a:chOff x="0" y="0"/>
            <a:chExt cx="4419054" cy="750570"/>
          </a:xfrm>
        </p:grpSpPr>
        <p:sp>
          <p:nvSpPr>
            <p:cNvPr name="Freeform 68" id="68" descr="رابط الموقع على خرائط قوقل">
              <a:hlinkClick r:id="rId12" tooltip="https://www.google.com/maps/search/?api=1&amp;query=%D8%B4%D9%82%D8%B1%D8%A7%D8%A1"/>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3E2D21"/>
            </a:solidFill>
            <a:ln w="14288" cap="sq">
              <a:solidFill>
                <a:srgbClr val="D9A66B"/>
              </a:solidFill>
              <a:prstDash val="solid"/>
              <a:miter/>
            </a:ln>
          </p:spPr>
        </p:sp>
      </p:grpSp>
      <p:grpSp>
        <p:nvGrpSpPr>
          <p:cNvPr name="Group 69" id="69"/>
          <p:cNvGrpSpPr/>
          <p:nvPr/>
        </p:nvGrpSpPr>
        <p:grpSpPr>
          <a:xfrm rot="0">
            <a:off x="4535329" y="946404"/>
            <a:ext cx="301752" cy="301752"/>
            <a:chOff x="0" y="0"/>
            <a:chExt cx="402336" cy="402336"/>
          </a:xfrm>
        </p:grpSpPr>
        <p:sp>
          <p:nvSpPr>
            <p:cNvPr name="Freeform 70" id="70"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3"/>
              <a:stretch>
                <a:fillRect l="0" t="0" r="0" b="0"/>
              </a:stretch>
            </a:blipFill>
          </p:spPr>
        </p:sp>
      </p:grpSp>
      <p:grpSp>
        <p:nvGrpSpPr>
          <p:cNvPr name="Group 71" id="71"/>
          <p:cNvGrpSpPr/>
          <p:nvPr/>
        </p:nvGrpSpPr>
        <p:grpSpPr>
          <a:xfrm rot="0">
            <a:off x="1882083" y="822960"/>
            <a:ext cx="2548252" cy="548640"/>
            <a:chOff x="0" y="0"/>
            <a:chExt cx="3397669" cy="731520"/>
          </a:xfrm>
        </p:grpSpPr>
        <p:sp>
          <p:nvSpPr>
            <p:cNvPr name="Freeform 72" id="72"/>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6">
                <a:alphaModFix amt="0"/>
              </a:blip>
              <a:stretch>
                <a:fillRect l="0" t="-40501" r="0" b="-40501"/>
              </a:stretch>
            </a:blipFill>
          </p:spPr>
        </p:sp>
        <p:sp>
          <p:nvSpPr>
            <p:cNvPr name="TextBox 73" id="73"/>
            <p:cNvSpPr txBox="true"/>
            <p:nvPr/>
          </p:nvSpPr>
          <p:spPr>
            <a:xfrm>
              <a:off x="0" y="0"/>
              <a:ext cx="3397669" cy="731520"/>
            </a:xfrm>
            <a:prstGeom prst="rect">
              <a:avLst/>
            </a:prstGeom>
          </p:spPr>
          <p:txBody>
            <a:bodyPr anchor="ctr" rtlCol="false" tIns="0" lIns="0" bIns="0" rIns="0"/>
            <a:lstStyle/>
            <a:p>
              <a:pPr algn="r" rtl="true">
                <a:lnSpc>
                  <a:spcPts val="1980"/>
                </a:lnSpc>
              </a:pPr>
              <a:r>
                <a:rPr lang="ar-EG" sz="1650" spc="17" u="sng">
                  <a:solidFill>
                    <a:srgbClr val="F3E3C8"/>
                  </a:solidFill>
                  <a:latin typeface="XM Traffic"/>
                  <a:ea typeface="XM Traffic"/>
                  <a:cs typeface="XM Traffic"/>
                  <a:sym typeface="XM Traffic"/>
                  <a:hlinkClick r:id="rId14" tooltip="https://maps.app.goo.gl/9tJd7FBf5j8e6kVa6?g_st=iw"/>
                  <a:rtl val="true"/>
                </a:rPr>
                <a:t> موقع </a:t>
              </a:r>
              <a:r>
                <a:rPr lang="ar-EG" b="true" sz="1650" spc="17" u="sng">
                  <a:solidFill>
                    <a:srgbClr val="F3E3C8"/>
                  </a:solidFill>
                  <a:latin typeface="XM Traffic Bold"/>
                  <a:ea typeface="XM Traffic Bold"/>
                  <a:cs typeface="XM Traffic Bold"/>
                  <a:sym typeface="XM Traffic Bold"/>
                  <a:hlinkClick r:id="rId15" tooltip="https://maps.app.goo.gl/9tJd7FBf5j8e6kVa6?g_st=iw"/>
                  <a:rtl val="true"/>
                </a:rPr>
                <a:t>س</a:t>
              </a:r>
              <a:r>
                <a:rPr lang="ar-EG" b="true" sz="1650" spc="17" u="sng">
                  <a:solidFill>
                    <a:srgbClr val="F3E3C8"/>
                  </a:solidFill>
                  <a:latin typeface="XM Traffic Bold"/>
                  <a:ea typeface="XM Traffic Bold"/>
                  <a:cs typeface="XM Traffic Bold"/>
                  <a:sym typeface="XM Traffic Bold"/>
                  <a:hlinkClick r:id="rId16" tooltip="https://maps.app.goo.gl/9tJd7FBf5j8e6kVa6?g_st=iw"/>
                  <a:rtl val="true"/>
                </a:rPr>
                <a:t>وق المجلس بـ شقراء</a:t>
              </a:r>
            </a:p>
          </p:txBody>
        </p:sp>
      </p:grpSp>
      <p:grpSp>
        <p:nvGrpSpPr>
          <p:cNvPr name="Group 74" id="74"/>
          <p:cNvGrpSpPr/>
          <p:nvPr/>
        </p:nvGrpSpPr>
        <p:grpSpPr>
          <a:xfrm rot="0">
            <a:off x="11441761" y="5650992"/>
            <a:ext cx="6333172" cy="3906440"/>
            <a:chOff x="0" y="0"/>
            <a:chExt cx="8444230" cy="5208586"/>
          </a:xfrm>
        </p:grpSpPr>
        <p:sp>
          <p:nvSpPr>
            <p:cNvPr name="Freeform 75" id="75"/>
            <p:cNvSpPr/>
            <p:nvPr/>
          </p:nvSpPr>
          <p:spPr>
            <a:xfrm flipH="false" flipV="false" rot="0">
              <a:off x="0" y="0"/>
              <a:ext cx="8444230" cy="5208586"/>
            </a:xfrm>
            <a:custGeom>
              <a:avLst/>
              <a:gdLst/>
              <a:ahLst/>
              <a:cxnLst/>
              <a:rect r="r" b="b" t="t" l="l"/>
              <a:pathLst>
                <a:path h="5208586" w="8444230">
                  <a:moveTo>
                    <a:pt x="0" y="331055"/>
                  </a:moveTo>
                  <a:cubicBezTo>
                    <a:pt x="0" y="148236"/>
                    <a:pt x="328803" y="0"/>
                    <a:pt x="734314" y="0"/>
                  </a:cubicBezTo>
                  <a:lnTo>
                    <a:pt x="7709916" y="0"/>
                  </a:lnTo>
                  <a:cubicBezTo>
                    <a:pt x="8115427" y="0"/>
                    <a:pt x="8444230" y="148236"/>
                    <a:pt x="8444230" y="331055"/>
                  </a:cubicBezTo>
                  <a:lnTo>
                    <a:pt x="8444230" y="4877531"/>
                  </a:lnTo>
                  <a:cubicBezTo>
                    <a:pt x="8444230" y="5060350"/>
                    <a:pt x="8115427" y="5208586"/>
                    <a:pt x="7709916" y="5208586"/>
                  </a:cubicBezTo>
                  <a:lnTo>
                    <a:pt x="734314" y="5208586"/>
                  </a:lnTo>
                  <a:cubicBezTo>
                    <a:pt x="328803" y="5208586"/>
                    <a:pt x="0" y="5060350"/>
                    <a:pt x="0" y="4877531"/>
                  </a:cubicBezTo>
                  <a:close/>
                </a:path>
              </a:pathLst>
            </a:custGeom>
            <a:blipFill>
              <a:blip r:embed="rId17"/>
              <a:stretch>
                <a:fillRect l="-5073" t="0" r="-5073" b="0"/>
              </a:stretch>
            </a:blipFill>
            <a:ln w="23812" cap="sq">
              <a:solidFill>
                <a:srgbClr val="A68460"/>
              </a:solidFill>
              <a:prstDash val="dash"/>
              <a:miter/>
            </a:ln>
          </p:spPr>
        </p:sp>
      </p:grpSp>
      <p:sp>
        <p:nvSpPr>
          <p:cNvPr name="Freeform 76" id="76"/>
          <p:cNvSpPr/>
          <p:nvPr/>
        </p:nvSpPr>
        <p:spPr>
          <a:xfrm flipH="false" flipV="false" rot="0">
            <a:off x="179617" y="283957"/>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8"/>
            <a:stretch>
              <a:fillRect l="0" t="-22113" r="0" b="-17967"/>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92976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D49A6A">
                <a:alpha val="1176"/>
              </a:srgbClr>
            </a:solidFill>
          </p:spPr>
        </p:sp>
      </p:grpSp>
      <p:grpSp>
        <p:nvGrpSpPr>
          <p:cNvPr name="Group 5" id="5"/>
          <p:cNvGrpSpPr/>
          <p:nvPr/>
        </p:nvGrpSpPr>
        <p:grpSpPr>
          <a:xfrm rot="0">
            <a:off x="11372374" y="-11906"/>
            <a:ext cx="7567612" cy="10310812"/>
            <a:chOff x="0" y="0"/>
            <a:chExt cx="10090150" cy="13747750"/>
          </a:xfrm>
        </p:grpSpPr>
        <p:sp>
          <p:nvSpPr>
            <p:cNvPr name="Freeform 6" id="6"/>
            <p:cNvSpPr/>
            <p:nvPr/>
          </p:nvSpPr>
          <p:spPr>
            <a:xfrm flipH="false" flipV="false" rot="0">
              <a:off x="0" y="0"/>
              <a:ext cx="10090150" cy="13747877"/>
            </a:xfrm>
            <a:custGeom>
              <a:avLst/>
              <a:gdLst/>
              <a:ahLst/>
              <a:cxnLst/>
              <a:rect r="r" b="b" t="t" l="l"/>
              <a:pathLst>
                <a:path h="13747877" w="10090150">
                  <a:moveTo>
                    <a:pt x="0" y="825627"/>
                  </a:moveTo>
                  <a:cubicBezTo>
                    <a:pt x="0" y="369570"/>
                    <a:pt x="369570" y="0"/>
                    <a:pt x="825627" y="0"/>
                  </a:cubicBezTo>
                  <a:lnTo>
                    <a:pt x="9264523" y="0"/>
                  </a:lnTo>
                  <a:cubicBezTo>
                    <a:pt x="9720453" y="0"/>
                    <a:pt x="10090150" y="369570"/>
                    <a:pt x="10090150" y="825627"/>
                  </a:cubicBezTo>
                  <a:lnTo>
                    <a:pt x="10090150" y="12922250"/>
                  </a:lnTo>
                  <a:cubicBezTo>
                    <a:pt x="10090150" y="13378180"/>
                    <a:pt x="9720580" y="13747877"/>
                    <a:pt x="9264523" y="13747877"/>
                  </a:cubicBezTo>
                  <a:lnTo>
                    <a:pt x="825627" y="13747877"/>
                  </a:lnTo>
                  <a:cubicBezTo>
                    <a:pt x="369570" y="13747750"/>
                    <a:pt x="0" y="13378180"/>
                    <a:pt x="0" y="12922123"/>
                  </a:cubicBezTo>
                  <a:close/>
                </a:path>
              </a:pathLst>
            </a:custGeom>
            <a:solidFill>
              <a:srgbClr val="3E2D21"/>
            </a:solidFill>
            <a:ln w="23812" cap="sq">
              <a:solidFill>
                <a:srgbClr val="D49A6A"/>
              </a:solidFill>
              <a:prstDash val="dash"/>
              <a:miter/>
            </a:ln>
          </p:spPr>
        </p:sp>
      </p:grpSp>
      <p:grpSp>
        <p:nvGrpSpPr>
          <p:cNvPr name="Group 7" id="7"/>
          <p:cNvGrpSpPr/>
          <p:nvPr/>
        </p:nvGrpSpPr>
        <p:grpSpPr>
          <a:xfrm rot="0">
            <a:off x="11624024" y="239744"/>
            <a:ext cx="7064312" cy="9807512"/>
            <a:chOff x="0" y="0"/>
            <a:chExt cx="9419082" cy="13076682"/>
          </a:xfrm>
        </p:grpSpPr>
        <p:sp>
          <p:nvSpPr>
            <p:cNvPr name="Freeform 8" id="8"/>
            <p:cNvSpPr/>
            <p:nvPr/>
          </p:nvSpPr>
          <p:spPr>
            <a:xfrm flipH="false" flipV="false" rot="0">
              <a:off x="0" y="0"/>
              <a:ext cx="9419082" cy="13076682"/>
            </a:xfrm>
            <a:custGeom>
              <a:avLst/>
              <a:gdLst/>
              <a:ahLst/>
              <a:cxnLst/>
              <a:rect r="r" b="b" t="t" l="l"/>
              <a:pathLst>
                <a:path h="13076682" w="9419082">
                  <a:moveTo>
                    <a:pt x="0" y="604647"/>
                  </a:moveTo>
                  <a:cubicBezTo>
                    <a:pt x="0" y="270764"/>
                    <a:pt x="270764" y="0"/>
                    <a:pt x="604647" y="0"/>
                  </a:cubicBezTo>
                  <a:lnTo>
                    <a:pt x="8814435" y="0"/>
                  </a:lnTo>
                  <a:cubicBezTo>
                    <a:pt x="9148445" y="0"/>
                    <a:pt x="9419082" y="270764"/>
                    <a:pt x="9419082" y="604647"/>
                  </a:cubicBezTo>
                  <a:lnTo>
                    <a:pt x="9419082" y="12472035"/>
                  </a:lnTo>
                  <a:cubicBezTo>
                    <a:pt x="9419082" y="12806045"/>
                    <a:pt x="9148318" y="13076682"/>
                    <a:pt x="8814435" y="13076682"/>
                  </a:cubicBezTo>
                  <a:lnTo>
                    <a:pt x="604647" y="13076682"/>
                  </a:lnTo>
                  <a:cubicBezTo>
                    <a:pt x="270637" y="13076682"/>
                    <a:pt x="0" y="12805918"/>
                    <a:pt x="0" y="12472035"/>
                  </a:cubicBezTo>
                  <a:close/>
                </a:path>
              </a:pathLst>
            </a:custGeom>
            <a:blipFill>
              <a:blip r:embed="rId4">
                <a:alphaModFix amt="0"/>
              </a:blip>
              <a:stretch>
                <a:fillRect l="-128126" t="0" r="-128126" b="0"/>
              </a:stretch>
            </a:blipFill>
            <a:ln w="14288" cap="sq">
              <a:solidFill>
                <a:srgbClr val="D49A6A"/>
              </a:solidFill>
              <a:prstDash val="solid"/>
              <a:miter/>
            </a:ln>
          </p:spPr>
        </p:sp>
      </p:grpSp>
      <p:grpSp>
        <p:nvGrpSpPr>
          <p:cNvPr name="Group 9" id="9"/>
          <p:cNvGrpSpPr/>
          <p:nvPr/>
        </p:nvGrpSpPr>
        <p:grpSpPr>
          <a:xfrm rot="0">
            <a:off x="11624024" y="239744"/>
            <a:ext cx="6663976" cy="9772936"/>
            <a:chOff x="0" y="0"/>
            <a:chExt cx="8885301" cy="13030581"/>
          </a:xfrm>
        </p:grpSpPr>
        <p:sp>
          <p:nvSpPr>
            <p:cNvPr name="Freeform 10" id="10"/>
            <p:cNvSpPr/>
            <p:nvPr/>
          </p:nvSpPr>
          <p:spPr>
            <a:xfrm flipH="false" flipV="false" rot="0">
              <a:off x="0" y="0"/>
              <a:ext cx="8885301" cy="13030581"/>
            </a:xfrm>
            <a:custGeom>
              <a:avLst/>
              <a:gdLst/>
              <a:ahLst/>
              <a:cxnLst/>
              <a:rect r="r" b="b" t="t" l="l"/>
              <a:pathLst>
                <a:path h="13030581" w="8885301">
                  <a:moveTo>
                    <a:pt x="199967" y="0"/>
                  </a:moveTo>
                  <a:lnTo>
                    <a:pt x="8685333" y="0"/>
                  </a:lnTo>
                  <a:cubicBezTo>
                    <a:pt x="8795772" y="0"/>
                    <a:pt x="8885301" y="89528"/>
                    <a:pt x="8885301" y="199967"/>
                  </a:cubicBezTo>
                  <a:lnTo>
                    <a:pt x="8885301" y="12830614"/>
                  </a:lnTo>
                  <a:cubicBezTo>
                    <a:pt x="8885301" y="12883648"/>
                    <a:pt x="8864233" y="12934511"/>
                    <a:pt x="8826732" y="12972012"/>
                  </a:cubicBezTo>
                  <a:cubicBezTo>
                    <a:pt x="8789231" y="13009513"/>
                    <a:pt x="8738368" y="13030581"/>
                    <a:pt x="8685333" y="13030581"/>
                  </a:cubicBezTo>
                  <a:lnTo>
                    <a:pt x="199967" y="13030581"/>
                  </a:lnTo>
                  <a:cubicBezTo>
                    <a:pt x="89528" y="13030581"/>
                    <a:pt x="0" y="12941053"/>
                    <a:pt x="0" y="12830614"/>
                  </a:cubicBezTo>
                  <a:lnTo>
                    <a:pt x="0" y="199967"/>
                  </a:lnTo>
                  <a:cubicBezTo>
                    <a:pt x="0" y="146933"/>
                    <a:pt x="21068" y="96070"/>
                    <a:pt x="58569" y="58569"/>
                  </a:cubicBezTo>
                  <a:cubicBezTo>
                    <a:pt x="96070" y="21068"/>
                    <a:pt x="146933" y="0"/>
                    <a:pt x="199967" y="0"/>
                  </a:cubicBezTo>
                  <a:close/>
                </a:path>
              </a:pathLst>
            </a:custGeom>
            <a:blipFill>
              <a:blip r:embed="rId5">
                <a:alphaModFix amt="65000"/>
              </a:blip>
              <a:stretch>
                <a:fillRect l="0" t="-22861" r="0" b="0"/>
              </a:stretch>
            </a:blipFill>
          </p:spPr>
        </p:sp>
      </p:grpSp>
      <p:grpSp>
        <p:nvGrpSpPr>
          <p:cNvPr name="Group 11" id="11"/>
          <p:cNvGrpSpPr/>
          <p:nvPr/>
        </p:nvGrpSpPr>
        <p:grpSpPr>
          <a:xfrm rot="0">
            <a:off x="5396960" y="815816"/>
            <a:ext cx="5171504" cy="562928"/>
            <a:chOff x="0" y="0"/>
            <a:chExt cx="6895338" cy="750570"/>
          </a:xfrm>
        </p:grpSpPr>
        <p:sp>
          <p:nvSpPr>
            <p:cNvPr name="Freeform 12" id="12"/>
            <p:cNvSpPr/>
            <p:nvPr/>
          </p:nvSpPr>
          <p:spPr>
            <a:xfrm flipH="false" flipV="false" rot="0">
              <a:off x="0" y="0"/>
              <a:ext cx="6895338" cy="750570"/>
            </a:xfrm>
            <a:custGeom>
              <a:avLst/>
              <a:gdLst/>
              <a:ahLst/>
              <a:cxnLst/>
              <a:rect r="r" b="b" t="t" l="l"/>
              <a:pathLst>
                <a:path h="750570" w="6895338">
                  <a:moveTo>
                    <a:pt x="0" y="375285"/>
                  </a:moveTo>
                  <a:cubicBezTo>
                    <a:pt x="0" y="168021"/>
                    <a:pt x="168021" y="0"/>
                    <a:pt x="375285" y="0"/>
                  </a:cubicBezTo>
                  <a:lnTo>
                    <a:pt x="6520053" y="0"/>
                  </a:lnTo>
                  <a:cubicBezTo>
                    <a:pt x="6727317" y="0"/>
                    <a:pt x="6895338" y="168021"/>
                    <a:pt x="6895338" y="375285"/>
                  </a:cubicBezTo>
                  <a:cubicBezTo>
                    <a:pt x="6895338" y="582549"/>
                    <a:pt x="6727317" y="750570"/>
                    <a:pt x="6520053" y="750570"/>
                  </a:cubicBezTo>
                  <a:lnTo>
                    <a:pt x="375285" y="750570"/>
                  </a:lnTo>
                  <a:cubicBezTo>
                    <a:pt x="168021" y="750570"/>
                    <a:pt x="0" y="582549"/>
                    <a:pt x="0" y="375285"/>
                  </a:cubicBezTo>
                  <a:close/>
                </a:path>
              </a:pathLst>
            </a:custGeom>
            <a:solidFill>
              <a:srgbClr val="D49A6A">
                <a:alpha val="5882"/>
              </a:srgbClr>
            </a:solidFill>
            <a:ln w="14288" cap="sq">
              <a:solidFill>
                <a:srgbClr val="D49A6A"/>
              </a:solidFill>
              <a:prstDash val="solid"/>
              <a:miter/>
            </a:ln>
          </p:spPr>
        </p:sp>
      </p:grpSp>
      <p:grpSp>
        <p:nvGrpSpPr>
          <p:cNvPr name="Group 13" id="13"/>
          <p:cNvGrpSpPr/>
          <p:nvPr/>
        </p:nvGrpSpPr>
        <p:grpSpPr>
          <a:xfrm rot="0">
            <a:off x="10040112" y="946404"/>
            <a:ext cx="301752" cy="301752"/>
            <a:chOff x="0" y="0"/>
            <a:chExt cx="402336" cy="402336"/>
          </a:xfrm>
        </p:grpSpPr>
        <p:sp>
          <p:nvSpPr>
            <p:cNvPr name="Freeform 14" id="14"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6"/>
              <a:stretch>
                <a:fillRect l="0" t="0" r="0" b="0"/>
              </a:stretch>
            </a:blipFill>
          </p:spPr>
        </p:sp>
      </p:grpSp>
      <p:grpSp>
        <p:nvGrpSpPr>
          <p:cNvPr name="Group 15" id="15"/>
          <p:cNvGrpSpPr/>
          <p:nvPr/>
        </p:nvGrpSpPr>
        <p:grpSpPr>
          <a:xfrm rot="0">
            <a:off x="5568696" y="822960"/>
            <a:ext cx="4334256" cy="564812"/>
            <a:chOff x="0" y="0"/>
            <a:chExt cx="5779008" cy="753083"/>
          </a:xfrm>
        </p:grpSpPr>
        <p:sp>
          <p:nvSpPr>
            <p:cNvPr name="Freeform 16" id="16"/>
            <p:cNvSpPr/>
            <p:nvPr/>
          </p:nvSpPr>
          <p:spPr>
            <a:xfrm flipH="false" flipV="false" rot="0">
              <a:off x="0" y="0"/>
              <a:ext cx="5779008" cy="753083"/>
            </a:xfrm>
            <a:custGeom>
              <a:avLst/>
              <a:gdLst/>
              <a:ahLst/>
              <a:cxnLst/>
              <a:rect r="r" b="b" t="t" l="l"/>
              <a:pathLst>
                <a:path h="753083" w="5779008">
                  <a:moveTo>
                    <a:pt x="0" y="0"/>
                  </a:moveTo>
                  <a:lnTo>
                    <a:pt x="5779008" y="0"/>
                  </a:lnTo>
                  <a:lnTo>
                    <a:pt x="5779008" y="753083"/>
                  </a:lnTo>
                  <a:lnTo>
                    <a:pt x="0" y="753083"/>
                  </a:lnTo>
                  <a:close/>
                </a:path>
              </a:pathLst>
            </a:custGeom>
            <a:blipFill>
              <a:blip r:embed="rId4">
                <a:alphaModFix amt="0"/>
              </a:blip>
              <a:stretch>
                <a:fillRect l="0" t="-100955" r="0" b="-98092"/>
              </a:stretch>
            </a:blipFill>
          </p:spPr>
        </p:sp>
        <p:sp>
          <p:nvSpPr>
            <p:cNvPr name="TextBox 17" id="17"/>
            <p:cNvSpPr txBox="true"/>
            <p:nvPr/>
          </p:nvSpPr>
          <p:spPr>
            <a:xfrm>
              <a:off x="0" y="-9525"/>
              <a:ext cx="5779008" cy="762608"/>
            </a:xfrm>
            <a:prstGeom prst="rect">
              <a:avLst/>
            </a:prstGeom>
          </p:spPr>
          <p:txBody>
            <a:bodyPr anchor="ctr" rtlCol="false" tIns="0" lIns="0" bIns="0" rIns="0"/>
            <a:lstStyle/>
            <a:p>
              <a:pPr algn="r" rtl="true">
                <a:lnSpc>
                  <a:spcPts val="2340"/>
                </a:lnSpc>
              </a:pPr>
              <a:r>
                <a:rPr lang="ar-EG" b="true" sz="1950" spc="19">
                  <a:solidFill>
                    <a:srgbClr val="D49A6A"/>
                  </a:solidFill>
                  <a:latin typeface="XM Traffic Bold"/>
                  <a:ea typeface="XM Traffic Bold"/>
                  <a:cs typeface="XM Traffic Bold"/>
                  <a:sym typeface="XM Traffic Bold"/>
                  <a:rtl val="true"/>
                </a:rPr>
                <a:t>شقراء — السوق تجربة</a:t>
              </a:r>
            </a:p>
          </p:txBody>
        </p:sp>
      </p:grpSp>
      <p:sp>
        <p:nvSpPr>
          <p:cNvPr name="TextBox 18" id="18"/>
          <p:cNvSpPr txBox="true"/>
          <p:nvPr/>
        </p:nvSpPr>
        <p:spPr>
          <a:xfrm rot="0">
            <a:off x="822960" y="1508760"/>
            <a:ext cx="9738360" cy="1714500"/>
          </a:xfrm>
          <a:prstGeom prst="rect">
            <a:avLst/>
          </a:prstGeom>
        </p:spPr>
        <p:txBody>
          <a:bodyPr anchor="t" rtlCol="false" tIns="0" lIns="0" bIns="0" rIns="0">
            <a:spAutoFit/>
          </a:bodyPr>
          <a:lstStyle/>
          <a:p>
            <a:pPr algn="r" rtl="true">
              <a:lnSpc>
                <a:spcPts val="6480"/>
              </a:lnSpc>
            </a:pPr>
            <a:r>
              <a:rPr lang="ar-EG" b="true" sz="5400" spc="55">
                <a:solidFill>
                  <a:srgbClr val="F3EADB"/>
                </a:solidFill>
                <a:latin typeface="XM Traffic Bold"/>
                <a:ea typeface="XM Traffic Bold"/>
                <a:cs typeface="XM Traffic Bold"/>
                <a:sym typeface="XM Traffic Bold"/>
                <a:rtl val="true"/>
              </a:rPr>
              <a:t>امشِ في السوق، واكتشف الحكاية</a:t>
            </a:r>
          </a:p>
        </p:txBody>
      </p:sp>
      <p:sp>
        <p:nvSpPr>
          <p:cNvPr name="TextBox 19" id="19"/>
          <p:cNvSpPr txBox="true"/>
          <p:nvPr/>
        </p:nvSpPr>
        <p:spPr>
          <a:xfrm rot="0">
            <a:off x="822960" y="3253740"/>
            <a:ext cx="9738360" cy="1958340"/>
          </a:xfrm>
          <a:prstGeom prst="rect">
            <a:avLst/>
          </a:prstGeom>
        </p:spPr>
        <p:txBody>
          <a:bodyPr anchor="t" rtlCol="false" tIns="0" lIns="0" bIns="0" rIns="0">
            <a:spAutoFit/>
          </a:bodyPr>
          <a:lstStyle/>
          <a:p>
            <a:pPr algn="r">
              <a:lnSpc>
                <a:spcPts val="3104"/>
              </a:lnSpc>
            </a:pPr>
            <a:r>
              <a:rPr lang="ar-EG" sz="2250" spc="23">
                <a:solidFill>
                  <a:srgbClr val="E3D4BC"/>
                </a:solidFill>
                <a:latin typeface="XM Traffic"/>
                <a:ea typeface="XM Traffic"/>
                <a:cs typeface="XM Traffic"/>
                <a:sym typeface="XM Traffic"/>
                <a:rtl val="true"/>
              </a:rPr>
              <a:t>لا تقتصر التجربة على زيارة السوق؛ بل تمتد إلى اكتشاف تفاصيله، والتفاعل مع أهله، والتعرّف على منتجاته وقصصه. تجربة ضيافة محلية تجعل الزائر جزءًا من المكان، لا مجرد عابر فيه</a:t>
            </a:r>
            <a:r>
              <a:rPr lang="en-US" sz="2250" spc="23">
                <a:solidFill>
                  <a:srgbClr val="E3D4BC"/>
                </a:solidFill>
                <a:latin typeface="XM Traffic"/>
                <a:ea typeface="XM Traffic"/>
                <a:cs typeface="XM Traffic"/>
                <a:sym typeface="XM Traffic"/>
              </a:rPr>
              <a:t>.</a:t>
            </a:r>
          </a:p>
        </p:txBody>
      </p:sp>
      <p:grpSp>
        <p:nvGrpSpPr>
          <p:cNvPr name="Group 20" id="20"/>
          <p:cNvGrpSpPr/>
          <p:nvPr/>
        </p:nvGrpSpPr>
        <p:grpSpPr>
          <a:xfrm rot="0">
            <a:off x="822960" y="5239512"/>
            <a:ext cx="9738360" cy="411480"/>
            <a:chOff x="0" y="0"/>
            <a:chExt cx="12984480" cy="548640"/>
          </a:xfrm>
        </p:grpSpPr>
        <p:sp>
          <p:nvSpPr>
            <p:cNvPr name="Freeform 21" id="21"/>
            <p:cNvSpPr/>
            <p:nvPr/>
          </p:nvSpPr>
          <p:spPr>
            <a:xfrm flipH="false" flipV="false" rot="0">
              <a:off x="0" y="0"/>
              <a:ext cx="12984480" cy="548640"/>
            </a:xfrm>
            <a:custGeom>
              <a:avLst/>
              <a:gdLst/>
              <a:ahLst/>
              <a:cxnLst/>
              <a:rect r="r" b="b" t="t" l="l"/>
              <a:pathLst>
                <a:path h="548640" w="12984480">
                  <a:moveTo>
                    <a:pt x="0" y="0"/>
                  </a:moveTo>
                  <a:lnTo>
                    <a:pt x="12984480" y="0"/>
                  </a:lnTo>
                  <a:lnTo>
                    <a:pt x="12984480" y="548640"/>
                  </a:lnTo>
                  <a:lnTo>
                    <a:pt x="0" y="548640"/>
                  </a:lnTo>
                  <a:close/>
                </a:path>
              </a:pathLst>
            </a:custGeom>
            <a:blipFill>
              <a:blip r:embed="rId4">
                <a:alphaModFix amt="0"/>
              </a:blip>
              <a:stretch>
                <a:fillRect l="0" t="-411145" r="0" b="-411145"/>
              </a:stretch>
            </a:blipFill>
          </p:spPr>
        </p:sp>
        <p:sp>
          <p:nvSpPr>
            <p:cNvPr name="TextBox 22" id="22"/>
            <p:cNvSpPr txBox="true"/>
            <p:nvPr/>
          </p:nvSpPr>
          <p:spPr>
            <a:xfrm>
              <a:off x="0" y="0"/>
              <a:ext cx="12984480" cy="548640"/>
            </a:xfrm>
            <a:prstGeom prst="rect">
              <a:avLst/>
            </a:prstGeom>
          </p:spPr>
          <p:txBody>
            <a:bodyPr anchor="ctr" rtlCol="false" tIns="0" lIns="0" bIns="0" rIns="0"/>
            <a:lstStyle/>
            <a:p>
              <a:pPr algn="r" rtl="true">
                <a:lnSpc>
                  <a:spcPts val="2520"/>
                </a:lnSpc>
              </a:pPr>
              <a:r>
                <a:rPr lang="ar-EG" b="true" sz="2100" spc="21">
                  <a:solidFill>
                    <a:srgbClr val="D49A6A"/>
                  </a:solidFill>
                  <a:latin typeface="XM Traffic Bold"/>
                  <a:ea typeface="XM Traffic Bold"/>
                  <a:cs typeface="XM Traffic Bold"/>
                  <a:sym typeface="XM Traffic Bold"/>
                  <a:rtl val="true"/>
                </a:rPr>
                <a:t>التجارب المقترحة</a:t>
              </a:r>
            </a:p>
          </p:txBody>
        </p:sp>
      </p:grpSp>
      <p:grpSp>
        <p:nvGrpSpPr>
          <p:cNvPr name="Group 23" id="23"/>
          <p:cNvGrpSpPr/>
          <p:nvPr/>
        </p:nvGrpSpPr>
        <p:grpSpPr>
          <a:xfrm rot="0">
            <a:off x="5822156" y="5781008"/>
            <a:ext cx="4746308" cy="837248"/>
            <a:chOff x="0" y="0"/>
            <a:chExt cx="6328410" cy="1116330"/>
          </a:xfrm>
        </p:grpSpPr>
        <p:sp>
          <p:nvSpPr>
            <p:cNvPr name="Freeform 24" id="24"/>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25" id="25"/>
          <p:cNvGrpSpPr/>
          <p:nvPr/>
        </p:nvGrpSpPr>
        <p:grpSpPr>
          <a:xfrm rot="0">
            <a:off x="9820656" y="5911596"/>
            <a:ext cx="576072" cy="576072"/>
            <a:chOff x="0" y="0"/>
            <a:chExt cx="768096" cy="768096"/>
          </a:xfrm>
        </p:grpSpPr>
        <p:sp>
          <p:nvSpPr>
            <p:cNvPr name="Freeform 26" id="2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9A6A"/>
            </a:solidFill>
          </p:spPr>
        </p:sp>
      </p:grpSp>
      <p:grpSp>
        <p:nvGrpSpPr>
          <p:cNvPr name="Group 27" id="27"/>
          <p:cNvGrpSpPr/>
          <p:nvPr/>
        </p:nvGrpSpPr>
        <p:grpSpPr>
          <a:xfrm rot="0">
            <a:off x="9964674" y="6055614"/>
            <a:ext cx="288036" cy="288036"/>
            <a:chOff x="0" y="0"/>
            <a:chExt cx="384048" cy="384048"/>
          </a:xfrm>
        </p:grpSpPr>
        <p:sp>
          <p:nvSpPr>
            <p:cNvPr name="Freeform 28" id="28"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7"/>
              <a:stretch>
                <a:fillRect l="0" t="0" r="0" b="0"/>
              </a:stretch>
            </a:blipFill>
          </p:spPr>
        </p:sp>
      </p:grpSp>
      <p:grpSp>
        <p:nvGrpSpPr>
          <p:cNvPr name="Group 29" id="29"/>
          <p:cNvGrpSpPr/>
          <p:nvPr/>
        </p:nvGrpSpPr>
        <p:grpSpPr>
          <a:xfrm rot="0">
            <a:off x="5993892" y="5788152"/>
            <a:ext cx="3662172" cy="822960"/>
            <a:chOff x="0" y="0"/>
            <a:chExt cx="4882896" cy="1097280"/>
          </a:xfrm>
        </p:grpSpPr>
        <p:sp>
          <p:nvSpPr>
            <p:cNvPr name="Freeform 30" id="30"/>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31" id="31"/>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جولات تعريفية يقودها مضيفون محليون</a:t>
              </a:r>
            </a:p>
          </p:txBody>
        </p:sp>
      </p:grpSp>
      <p:grpSp>
        <p:nvGrpSpPr>
          <p:cNvPr name="Group 32" id="32"/>
          <p:cNvGrpSpPr/>
          <p:nvPr/>
        </p:nvGrpSpPr>
        <p:grpSpPr>
          <a:xfrm rot="0">
            <a:off x="815816" y="5781008"/>
            <a:ext cx="4746308" cy="837248"/>
            <a:chOff x="0" y="0"/>
            <a:chExt cx="6328410" cy="1116330"/>
          </a:xfrm>
        </p:grpSpPr>
        <p:sp>
          <p:nvSpPr>
            <p:cNvPr name="Freeform 33" id="33"/>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34" id="34"/>
          <p:cNvGrpSpPr/>
          <p:nvPr/>
        </p:nvGrpSpPr>
        <p:grpSpPr>
          <a:xfrm rot="0">
            <a:off x="4814316" y="5911596"/>
            <a:ext cx="576072" cy="576072"/>
            <a:chOff x="0" y="0"/>
            <a:chExt cx="768096" cy="768096"/>
          </a:xfrm>
        </p:grpSpPr>
        <p:sp>
          <p:nvSpPr>
            <p:cNvPr name="Freeform 35" id="35"/>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9A6A"/>
            </a:solidFill>
          </p:spPr>
        </p:sp>
      </p:grpSp>
      <p:grpSp>
        <p:nvGrpSpPr>
          <p:cNvPr name="Group 36" id="36"/>
          <p:cNvGrpSpPr/>
          <p:nvPr/>
        </p:nvGrpSpPr>
        <p:grpSpPr>
          <a:xfrm rot="0">
            <a:off x="4958334" y="6055614"/>
            <a:ext cx="288036" cy="288036"/>
            <a:chOff x="0" y="0"/>
            <a:chExt cx="384048" cy="384048"/>
          </a:xfrm>
        </p:grpSpPr>
        <p:sp>
          <p:nvSpPr>
            <p:cNvPr name="Freeform 37" id="37"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8"/>
              <a:stretch>
                <a:fillRect l="0" t="0" r="0" b="0"/>
              </a:stretch>
            </a:blipFill>
          </p:spPr>
        </p:sp>
      </p:grpSp>
      <p:grpSp>
        <p:nvGrpSpPr>
          <p:cNvPr name="Group 38" id="38"/>
          <p:cNvGrpSpPr/>
          <p:nvPr/>
        </p:nvGrpSpPr>
        <p:grpSpPr>
          <a:xfrm rot="0">
            <a:off x="987552" y="5788152"/>
            <a:ext cx="3662172" cy="822960"/>
            <a:chOff x="0" y="0"/>
            <a:chExt cx="4882896" cy="1097280"/>
          </a:xfrm>
        </p:grpSpPr>
        <p:sp>
          <p:nvSpPr>
            <p:cNvPr name="Freeform 39" id="39"/>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40" id="40"/>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تجارب للتعرّف على الحرف والمنتجات التقليدية</a:t>
              </a:r>
            </a:p>
          </p:txBody>
        </p:sp>
      </p:grpSp>
      <p:grpSp>
        <p:nvGrpSpPr>
          <p:cNvPr name="Group 41" id="41"/>
          <p:cNvGrpSpPr/>
          <p:nvPr/>
        </p:nvGrpSpPr>
        <p:grpSpPr>
          <a:xfrm rot="0">
            <a:off x="5822156" y="6713696"/>
            <a:ext cx="4746308" cy="837248"/>
            <a:chOff x="0" y="0"/>
            <a:chExt cx="6328410" cy="1116330"/>
          </a:xfrm>
        </p:grpSpPr>
        <p:sp>
          <p:nvSpPr>
            <p:cNvPr name="Freeform 42" id="42"/>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43" id="43"/>
          <p:cNvGrpSpPr/>
          <p:nvPr/>
        </p:nvGrpSpPr>
        <p:grpSpPr>
          <a:xfrm rot="0">
            <a:off x="9820656" y="6844284"/>
            <a:ext cx="576072" cy="576072"/>
            <a:chOff x="0" y="0"/>
            <a:chExt cx="768096" cy="768096"/>
          </a:xfrm>
        </p:grpSpPr>
        <p:sp>
          <p:nvSpPr>
            <p:cNvPr name="Freeform 44" id="4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9A6A"/>
            </a:solidFill>
          </p:spPr>
        </p:sp>
      </p:grpSp>
      <p:grpSp>
        <p:nvGrpSpPr>
          <p:cNvPr name="Group 45" id="45"/>
          <p:cNvGrpSpPr/>
          <p:nvPr/>
        </p:nvGrpSpPr>
        <p:grpSpPr>
          <a:xfrm rot="0">
            <a:off x="9964674" y="6988302"/>
            <a:ext cx="288036" cy="288036"/>
            <a:chOff x="0" y="0"/>
            <a:chExt cx="384048" cy="384048"/>
          </a:xfrm>
        </p:grpSpPr>
        <p:sp>
          <p:nvSpPr>
            <p:cNvPr name="Freeform 46" id="46"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9"/>
              <a:stretch>
                <a:fillRect l="0" t="0" r="0" b="0"/>
              </a:stretch>
            </a:blipFill>
          </p:spPr>
        </p:sp>
      </p:grpSp>
      <p:grpSp>
        <p:nvGrpSpPr>
          <p:cNvPr name="Group 47" id="47"/>
          <p:cNvGrpSpPr/>
          <p:nvPr/>
        </p:nvGrpSpPr>
        <p:grpSpPr>
          <a:xfrm rot="0">
            <a:off x="5993892" y="6720840"/>
            <a:ext cx="3662172" cy="822960"/>
            <a:chOff x="0" y="0"/>
            <a:chExt cx="4882896" cy="1097280"/>
          </a:xfrm>
        </p:grpSpPr>
        <p:sp>
          <p:nvSpPr>
            <p:cNvPr name="Freeform 48" id="48"/>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49" id="49"/>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أركان للأطعمة والمشروبات المحلية</a:t>
              </a:r>
            </a:p>
          </p:txBody>
        </p:sp>
      </p:grpSp>
      <p:grpSp>
        <p:nvGrpSpPr>
          <p:cNvPr name="Group 50" id="50"/>
          <p:cNvGrpSpPr/>
          <p:nvPr/>
        </p:nvGrpSpPr>
        <p:grpSpPr>
          <a:xfrm rot="0">
            <a:off x="815816" y="6713696"/>
            <a:ext cx="4746308" cy="837248"/>
            <a:chOff x="0" y="0"/>
            <a:chExt cx="6328410" cy="1116330"/>
          </a:xfrm>
        </p:grpSpPr>
        <p:sp>
          <p:nvSpPr>
            <p:cNvPr name="Freeform 51" id="51"/>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52" id="52"/>
          <p:cNvGrpSpPr/>
          <p:nvPr/>
        </p:nvGrpSpPr>
        <p:grpSpPr>
          <a:xfrm rot="0">
            <a:off x="4814316" y="6844284"/>
            <a:ext cx="576072" cy="576072"/>
            <a:chOff x="0" y="0"/>
            <a:chExt cx="768096" cy="768096"/>
          </a:xfrm>
        </p:grpSpPr>
        <p:sp>
          <p:nvSpPr>
            <p:cNvPr name="Freeform 53" id="53"/>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9A6A"/>
            </a:solidFill>
          </p:spPr>
        </p:sp>
      </p:grpSp>
      <p:grpSp>
        <p:nvGrpSpPr>
          <p:cNvPr name="Group 54" id="54"/>
          <p:cNvGrpSpPr/>
          <p:nvPr/>
        </p:nvGrpSpPr>
        <p:grpSpPr>
          <a:xfrm rot="0">
            <a:off x="4958334" y="6988302"/>
            <a:ext cx="288036" cy="288036"/>
            <a:chOff x="0" y="0"/>
            <a:chExt cx="384048" cy="384048"/>
          </a:xfrm>
        </p:grpSpPr>
        <p:sp>
          <p:nvSpPr>
            <p:cNvPr name="Freeform 55" id="55"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0"/>
              <a:stretch>
                <a:fillRect l="0" t="0" r="0" b="0"/>
              </a:stretch>
            </a:blipFill>
          </p:spPr>
        </p:sp>
      </p:grpSp>
      <p:grpSp>
        <p:nvGrpSpPr>
          <p:cNvPr name="Group 56" id="56"/>
          <p:cNvGrpSpPr/>
          <p:nvPr/>
        </p:nvGrpSpPr>
        <p:grpSpPr>
          <a:xfrm rot="0">
            <a:off x="987552" y="6720840"/>
            <a:ext cx="3662172" cy="822960"/>
            <a:chOff x="0" y="0"/>
            <a:chExt cx="4882896" cy="1097280"/>
          </a:xfrm>
        </p:grpSpPr>
        <p:sp>
          <p:nvSpPr>
            <p:cNvPr name="Freeform 57" id="57"/>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58" id="58"/>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لقاءات تحكي تاريخ السوق والحياة فيه</a:t>
              </a:r>
            </a:p>
          </p:txBody>
        </p:sp>
      </p:grpSp>
      <p:grpSp>
        <p:nvGrpSpPr>
          <p:cNvPr name="Group 59" id="59"/>
          <p:cNvGrpSpPr/>
          <p:nvPr/>
        </p:nvGrpSpPr>
        <p:grpSpPr>
          <a:xfrm rot="0">
            <a:off x="5822156" y="7646384"/>
            <a:ext cx="4746308" cy="837248"/>
            <a:chOff x="0" y="0"/>
            <a:chExt cx="6328410" cy="1116330"/>
          </a:xfrm>
        </p:grpSpPr>
        <p:sp>
          <p:nvSpPr>
            <p:cNvPr name="Freeform 60" id="60"/>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61" id="61"/>
          <p:cNvGrpSpPr/>
          <p:nvPr/>
        </p:nvGrpSpPr>
        <p:grpSpPr>
          <a:xfrm rot="0">
            <a:off x="9820656" y="7776972"/>
            <a:ext cx="576072" cy="576072"/>
            <a:chOff x="0" y="0"/>
            <a:chExt cx="768096" cy="768096"/>
          </a:xfrm>
        </p:grpSpPr>
        <p:sp>
          <p:nvSpPr>
            <p:cNvPr name="Freeform 62" id="62"/>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9A6A"/>
            </a:solidFill>
          </p:spPr>
        </p:sp>
      </p:grpSp>
      <p:grpSp>
        <p:nvGrpSpPr>
          <p:cNvPr name="Group 63" id="63"/>
          <p:cNvGrpSpPr/>
          <p:nvPr/>
        </p:nvGrpSpPr>
        <p:grpSpPr>
          <a:xfrm rot="0">
            <a:off x="9964674" y="7920990"/>
            <a:ext cx="288036" cy="288036"/>
            <a:chOff x="0" y="0"/>
            <a:chExt cx="384048" cy="384048"/>
          </a:xfrm>
        </p:grpSpPr>
        <p:sp>
          <p:nvSpPr>
            <p:cNvPr name="Freeform 64" id="64"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1"/>
              <a:stretch>
                <a:fillRect l="0" t="0" r="0" b="0"/>
              </a:stretch>
            </a:blipFill>
          </p:spPr>
        </p:sp>
      </p:grpSp>
      <p:grpSp>
        <p:nvGrpSpPr>
          <p:cNvPr name="Group 65" id="65"/>
          <p:cNvGrpSpPr/>
          <p:nvPr/>
        </p:nvGrpSpPr>
        <p:grpSpPr>
          <a:xfrm rot="0">
            <a:off x="5993892" y="7653528"/>
            <a:ext cx="3662172" cy="822960"/>
            <a:chOff x="0" y="0"/>
            <a:chExt cx="4882896" cy="1097280"/>
          </a:xfrm>
        </p:grpSpPr>
        <p:sp>
          <p:nvSpPr>
            <p:cNvPr name="Freeform 66" id="66"/>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67" id="67"/>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فعاليات موسمية وتجارب تصوير تفاعلية</a:t>
              </a:r>
            </a:p>
          </p:txBody>
        </p:sp>
      </p:grpSp>
      <p:grpSp>
        <p:nvGrpSpPr>
          <p:cNvPr name="Group 68" id="68"/>
          <p:cNvGrpSpPr/>
          <p:nvPr/>
        </p:nvGrpSpPr>
        <p:grpSpPr>
          <a:xfrm rot="0">
            <a:off x="815816" y="7646384"/>
            <a:ext cx="4746308" cy="837248"/>
            <a:chOff x="0" y="0"/>
            <a:chExt cx="6328410" cy="1116330"/>
          </a:xfrm>
        </p:grpSpPr>
        <p:sp>
          <p:nvSpPr>
            <p:cNvPr name="Freeform 69" id="69"/>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70" id="70"/>
          <p:cNvGrpSpPr/>
          <p:nvPr/>
        </p:nvGrpSpPr>
        <p:grpSpPr>
          <a:xfrm rot="0">
            <a:off x="4814316" y="7776972"/>
            <a:ext cx="576072" cy="576072"/>
            <a:chOff x="0" y="0"/>
            <a:chExt cx="768096" cy="768096"/>
          </a:xfrm>
        </p:grpSpPr>
        <p:sp>
          <p:nvSpPr>
            <p:cNvPr name="Freeform 71" id="7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9A6A"/>
            </a:solidFill>
          </p:spPr>
        </p:sp>
      </p:grpSp>
      <p:grpSp>
        <p:nvGrpSpPr>
          <p:cNvPr name="Group 72" id="72"/>
          <p:cNvGrpSpPr/>
          <p:nvPr/>
        </p:nvGrpSpPr>
        <p:grpSpPr>
          <a:xfrm rot="0">
            <a:off x="4958334" y="7920990"/>
            <a:ext cx="288036" cy="288036"/>
            <a:chOff x="0" y="0"/>
            <a:chExt cx="384048" cy="384048"/>
          </a:xfrm>
        </p:grpSpPr>
        <p:sp>
          <p:nvSpPr>
            <p:cNvPr name="Freeform 73" id="73"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2"/>
              <a:stretch>
                <a:fillRect l="0" t="0" r="0" b="0"/>
              </a:stretch>
            </a:blipFill>
          </p:spPr>
        </p:sp>
      </p:grpSp>
      <p:grpSp>
        <p:nvGrpSpPr>
          <p:cNvPr name="Group 74" id="74"/>
          <p:cNvGrpSpPr/>
          <p:nvPr/>
        </p:nvGrpSpPr>
        <p:grpSpPr>
          <a:xfrm rot="0">
            <a:off x="987552" y="7653528"/>
            <a:ext cx="3662172" cy="822960"/>
            <a:chOff x="0" y="0"/>
            <a:chExt cx="4882896" cy="1097280"/>
          </a:xfrm>
        </p:grpSpPr>
        <p:sp>
          <p:nvSpPr>
            <p:cNvPr name="Freeform 75" id="75"/>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76" id="76"/>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مسار واضح يربط الأسواق ومناطق التجربة</a:t>
              </a:r>
            </a:p>
          </p:txBody>
        </p:sp>
      </p:grpSp>
      <p:grpSp>
        <p:nvGrpSpPr>
          <p:cNvPr name="Group 77" id="77"/>
          <p:cNvGrpSpPr/>
          <p:nvPr/>
        </p:nvGrpSpPr>
        <p:grpSpPr>
          <a:xfrm rot="0">
            <a:off x="822960" y="9669780"/>
            <a:ext cx="9738360" cy="342900"/>
            <a:chOff x="0" y="0"/>
            <a:chExt cx="12984480" cy="457200"/>
          </a:xfrm>
        </p:grpSpPr>
        <p:sp>
          <p:nvSpPr>
            <p:cNvPr name="Freeform 78" id="78"/>
            <p:cNvSpPr/>
            <p:nvPr/>
          </p:nvSpPr>
          <p:spPr>
            <a:xfrm flipH="false" flipV="false" rot="0">
              <a:off x="0" y="0"/>
              <a:ext cx="12984480" cy="457200"/>
            </a:xfrm>
            <a:custGeom>
              <a:avLst/>
              <a:gdLst/>
              <a:ahLst/>
              <a:cxnLst/>
              <a:rect r="r" b="b" t="t" l="l"/>
              <a:pathLst>
                <a:path h="457200" w="12984480">
                  <a:moveTo>
                    <a:pt x="0" y="0"/>
                  </a:moveTo>
                  <a:lnTo>
                    <a:pt x="12984480" y="0"/>
                  </a:lnTo>
                  <a:lnTo>
                    <a:pt x="12984480" y="457200"/>
                  </a:lnTo>
                  <a:lnTo>
                    <a:pt x="0" y="457200"/>
                  </a:lnTo>
                  <a:close/>
                </a:path>
              </a:pathLst>
            </a:custGeom>
            <a:blipFill>
              <a:blip r:embed="rId4">
                <a:alphaModFix amt="0"/>
              </a:blip>
              <a:stretch>
                <a:fillRect l="0" t="-503375" r="0" b="-503375"/>
              </a:stretch>
            </a:blipFill>
          </p:spPr>
        </p:sp>
        <p:sp>
          <p:nvSpPr>
            <p:cNvPr name="TextBox 79" id="79"/>
            <p:cNvSpPr txBox="true"/>
            <p:nvPr/>
          </p:nvSpPr>
          <p:spPr>
            <a:xfrm>
              <a:off x="0" y="0"/>
              <a:ext cx="12984480" cy="457200"/>
            </a:xfrm>
            <a:prstGeom prst="rect">
              <a:avLst/>
            </a:prstGeom>
          </p:spPr>
          <p:txBody>
            <a:bodyPr anchor="ctr" rtlCol="false" tIns="0" lIns="0" bIns="0" rIns="0"/>
            <a:lstStyle/>
            <a:p>
              <a:pPr algn="r" rtl="true">
                <a:lnSpc>
                  <a:spcPts val="1800"/>
                </a:lnSpc>
              </a:pPr>
              <a:r>
                <a:rPr lang="ar-EG" sz="1500" spc="15">
                  <a:solidFill>
                    <a:srgbClr val="CDB79A"/>
                  </a:solidFill>
                  <a:latin typeface="XM Traffic"/>
                  <a:ea typeface="XM Traffic"/>
                  <a:cs typeface="XM Traffic"/>
                  <a:sym typeface="XM Traffic"/>
                  <a:rtl val="true"/>
                </a:rPr>
                <a:t>تصوّر تطويري مقترح</a:t>
              </a:r>
            </a:p>
          </p:txBody>
        </p:sp>
      </p:grpSp>
      <p:grpSp>
        <p:nvGrpSpPr>
          <p:cNvPr name="Group 80" id="80"/>
          <p:cNvGrpSpPr/>
          <p:nvPr/>
        </p:nvGrpSpPr>
        <p:grpSpPr>
          <a:xfrm rot="0">
            <a:off x="1916963" y="815816"/>
            <a:ext cx="3314290" cy="562928"/>
            <a:chOff x="0" y="0"/>
            <a:chExt cx="4419054" cy="750570"/>
          </a:xfrm>
        </p:grpSpPr>
        <p:sp>
          <p:nvSpPr>
            <p:cNvPr name="Freeform 81" id="81" descr="رابط الموقع على خرائط قوقل">
              <a:hlinkClick r:id="rId13" tooltip="https://www.google.com/maps/search/?api=1&amp;query=%D8%B4%D9%82%D8%B1%D8%A7%D8%A1"/>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D9A66B"/>
            </a:solidFill>
            <a:ln w="14288" cap="sq">
              <a:solidFill>
                <a:srgbClr val="D9A66B"/>
              </a:solidFill>
              <a:prstDash val="solid"/>
              <a:miter/>
            </a:ln>
          </p:spPr>
        </p:sp>
      </p:grpSp>
      <p:grpSp>
        <p:nvGrpSpPr>
          <p:cNvPr name="Group 82" id="82"/>
          <p:cNvGrpSpPr/>
          <p:nvPr/>
        </p:nvGrpSpPr>
        <p:grpSpPr>
          <a:xfrm rot="0">
            <a:off x="4727353" y="946404"/>
            <a:ext cx="301752" cy="301752"/>
            <a:chOff x="0" y="0"/>
            <a:chExt cx="402336" cy="402336"/>
          </a:xfrm>
        </p:grpSpPr>
        <p:sp>
          <p:nvSpPr>
            <p:cNvPr name="Freeform 83" id="83"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4"/>
              <a:stretch>
                <a:fillRect l="0" t="0" r="0" b="0"/>
              </a:stretch>
            </a:blipFill>
          </p:spPr>
        </p:sp>
      </p:grpSp>
      <p:grpSp>
        <p:nvGrpSpPr>
          <p:cNvPr name="Group 84" id="84"/>
          <p:cNvGrpSpPr/>
          <p:nvPr/>
        </p:nvGrpSpPr>
        <p:grpSpPr>
          <a:xfrm rot="0">
            <a:off x="2074107" y="822960"/>
            <a:ext cx="2548252" cy="548640"/>
            <a:chOff x="0" y="0"/>
            <a:chExt cx="3397669" cy="731520"/>
          </a:xfrm>
        </p:grpSpPr>
        <p:sp>
          <p:nvSpPr>
            <p:cNvPr name="Freeform 85" id="85"/>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4">
                <a:alphaModFix amt="0"/>
              </a:blip>
              <a:stretch>
                <a:fillRect l="0" t="-40501" r="0" b="-40501"/>
              </a:stretch>
            </a:blipFill>
          </p:spPr>
        </p:sp>
        <p:sp>
          <p:nvSpPr>
            <p:cNvPr name="TextBox 86" id="86"/>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3E2D21"/>
                  </a:solidFill>
                  <a:latin typeface="XM Traffic Bold"/>
                  <a:ea typeface="XM Traffic Bold"/>
                  <a:cs typeface="XM Traffic Bold"/>
                  <a:sym typeface="XM Traffic Bold"/>
                  <a:hlinkClick r:id="rId15" tooltip="https://maps.app.goo.gl/9tJd7FBf5j8e6kVa6?g_st=iw"/>
                  <a:rtl val="true"/>
                </a:rPr>
                <a:t> </a:t>
              </a:r>
              <a:r>
                <a:rPr lang="ar-EG" b="true" sz="1650" spc="17" u="sng">
                  <a:solidFill>
                    <a:srgbClr val="3E2D21"/>
                  </a:solidFill>
                  <a:latin typeface="XM Traffic Bold"/>
                  <a:ea typeface="XM Traffic Bold"/>
                  <a:cs typeface="XM Traffic Bold"/>
                  <a:sym typeface="XM Traffic Bold"/>
                  <a:hlinkClick r:id="rId16" tooltip="https://maps.app.goo.gl/9tJd7FBf5j8e6kVa6?g_st=iw"/>
                  <a:rtl val="true"/>
                </a:rPr>
                <a:t>موقع سوق المجلس بـ شقراء</a:t>
              </a:r>
            </a:p>
          </p:txBody>
        </p:sp>
      </p:grpSp>
      <p:sp>
        <p:nvSpPr>
          <p:cNvPr name="TextBox 87" id="87"/>
          <p:cNvSpPr txBox="true"/>
          <p:nvPr/>
        </p:nvSpPr>
        <p:spPr>
          <a:xfrm rot="0">
            <a:off x="446764" y="9669780"/>
            <a:ext cx="2371874" cy="314325"/>
          </a:xfrm>
          <a:prstGeom prst="rect">
            <a:avLst/>
          </a:prstGeom>
        </p:spPr>
        <p:txBody>
          <a:bodyPr anchor="t" rtlCol="false" tIns="0" lIns="0" bIns="0" rIns="0">
            <a:spAutoFit/>
          </a:bodyPr>
          <a:lstStyle/>
          <a:p>
            <a:pPr algn="ctr" rtl="true">
              <a:lnSpc>
                <a:spcPts val="2520"/>
              </a:lnSpc>
              <a:spcBef>
                <a:spcPct val="0"/>
              </a:spcBef>
            </a:pPr>
            <a:r>
              <a:rPr lang="ar-EG" sz="2100" spc="21">
                <a:solidFill>
                  <a:srgbClr val="E3D4BC"/>
                </a:solidFill>
                <a:latin typeface="XM Traffic"/>
                <a:ea typeface="XM Traffic"/>
                <a:cs typeface="XM Traffic"/>
                <a:sym typeface="XM Traffic"/>
                <a:rtl val="true"/>
              </a:rPr>
              <a:t>سوق المجلس بـ شقراء</a:t>
            </a:r>
          </a:p>
        </p:txBody>
      </p:sp>
      <p:sp>
        <p:nvSpPr>
          <p:cNvPr name="Freeform 88" id="88"/>
          <p:cNvSpPr/>
          <p:nvPr/>
        </p:nvSpPr>
        <p:spPr>
          <a:xfrm flipH="false" flipV="false" rot="0">
            <a:off x="314618" y="239744"/>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7"/>
            <a:stretch>
              <a:fillRect l="0" t="-22113" r="0" b="-17967"/>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507807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8A6A24">
                <a:alpha val="1961"/>
              </a:srgbClr>
            </a:solidFill>
          </p:spPr>
        </p:sp>
      </p:grpSp>
      <p:grpSp>
        <p:nvGrpSpPr>
          <p:cNvPr name="Group 5" id="5"/>
          <p:cNvGrpSpPr/>
          <p:nvPr/>
        </p:nvGrpSpPr>
        <p:grpSpPr>
          <a:xfrm rot="0">
            <a:off x="811054" y="811054"/>
            <a:ext cx="6333172" cy="8664893"/>
            <a:chOff x="0" y="0"/>
            <a:chExt cx="8444230" cy="11553190"/>
          </a:xfrm>
        </p:grpSpPr>
        <p:sp>
          <p:nvSpPr>
            <p:cNvPr name="Freeform 6" id="6"/>
            <p:cNvSpPr/>
            <p:nvPr/>
          </p:nvSpPr>
          <p:spPr>
            <a:xfrm flipH="false" flipV="false" rot="0">
              <a:off x="0" y="0"/>
              <a:ext cx="8444230" cy="11553190"/>
            </a:xfrm>
            <a:custGeom>
              <a:avLst/>
              <a:gdLst/>
              <a:ahLst/>
              <a:cxnLst/>
              <a:rect r="r" b="b" t="t" l="l"/>
              <a:pathLst>
                <a:path h="11553190" w="8444230">
                  <a:moveTo>
                    <a:pt x="0" y="734314"/>
                  </a:moveTo>
                  <a:cubicBezTo>
                    <a:pt x="0" y="328803"/>
                    <a:pt x="328803" y="0"/>
                    <a:pt x="734314" y="0"/>
                  </a:cubicBezTo>
                  <a:lnTo>
                    <a:pt x="7709916" y="0"/>
                  </a:lnTo>
                  <a:cubicBezTo>
                    <a:pt x="8115427" y="0"/>
                    <a:pt x="8444230" y="328803"/>
                    <a:pt x="8444230" y="734314"/>
                  </a:cubicBezTo>
                  <a:lnTo>
                    <a:pt x="8444230" y="10818876"/>
                  </a:lnTo>
                  <a:cubicBezTo>
                    <a:pt x="8444230" y="11224387"/>
                    <a:pt x="8115427" y="11553190"/>
                    <a:pt x="7709916" y="11553190"/>
                  </a:cubicBezTo>
                  <a:lnTo>
                    <a:pt x="734314" y="11553190"/>
                  </a:lnTo>
                  <a:cubicBezTo>
                    <a:pt x="328803" y="11553190"/>
                    <a:pt x="0" y="11224387"/>
                    <a:pt x="0" y="10818876"/>
                  </a:cubicBezTo>
                  <a:close/>
                </a:path>
              </a:pathLst>
            </a:custGeom>
            <a:solidFill>
              <a:srgbClr val="E6D6BC"/>
            </a:solidFill>
            <a:ln w="23812" cap="sq">
              <a:solidFill>
                <a:srgbClr val="A68460"/>
              </a:solidFill>
              <a:prstDash val="dash"/>
              <a:miter/>
            </a:ln>
          </p:spPr>
        </p:sp>
      </p:grpSp>
      <p:grpSp>
        <p:nvGrpSpPr>
          <p:cNvPr name="Group 7" id="7"/>
          <p:cNvGrpSpPr/>
          <p:nvPr/>
        </p:nvGrpSpPr>
        <p:grpSpPr>
          <a:xfrm rot="0">
            <a:off x="1062704" y="1062704"/>
            <a:ext cx="5829871" cy="8161592"/>
            <a:chOff x="0" y="0"/>
            <a:chExt cx="7773162" cy="10882122"/>
          </a:xfrm>
        </p:grpSpPr>
        <p:sp>
          <p:nvSpPr>
            <p:cNvPr name="Freeform 8" id="8"/>
            <p:cNvSpPr/>
            <p:nvPr/>
          </p:nvSpPr>
          <p:spPr>
            <a:xfrm flipH="false" flipV="false" rot="0">
              <a:off x="0" y="0"/>
              <a:ext cx="7773162" cy="10882122"/>
            </a:xfrm>
            <a:custGeom>
              <a:avLst/>
              <a:gdLst/>
              <a:ahLst/>
              <a:cxnLst/>
              <a:rect r="r" b="b" t="t" l="l"/>
              <a:pathLst>
                <a:path h="10882122" w="7773162">
                  <a:moveTo>
                    <a:pt x="0" y="513334"/>
                  </a:moveTo>
                  <a:cubicBezTo>
                    <a:pt x="0" y="229870"/>
                    <a:pt x="229870" y="0"/>
                    <a:pt x="513334" y="0"/>
                  </a:cubicBezTo>
                  <a:lnTo>
                    <a:pt x="7259828" y="0"/>
                  </a:lnTo>
                  <a:cubicBezTo>
                    <a:pt x="7543292" y="0"/>
                    <a:pt x="7773162" y="229870"/>
                    <a:pt x="7773162" y="513334"/>
                  </a:cubicBezTo>
                  <a:lnTo>
                    <a:pt x="7773162" y="10368788"/>
                  </a:lnTo>
                  <a:cubicBezTo>
                    <a:pt x="7773162" y="10652252"/>
                    <a:pt x="7543292" y="10882122"/>
                    <a:pt x="7259828" y="10882122"/>
                  </a:cubicBezTo>
                  <a:lnTo>
                    <a:pt x="513334" y="10882122"/>
                  </a:lnTo>
                  <a:cubicBezTo>
                    <a:pt x="229870" y="10882122"/>
                    <a:pt x="0" y="10652252"/>
                    <a:pt x="0" y="10368788"/>
                  </a:cubicBezTo>
                  <a:close/>
                </a:path>
              </a:pathLst>
            </a:custGeom>
            <a:blipFill>
              <a:blip r:embed="rId4">
                <a:alphaModFix amt="0"/>
              </a:blip>
              <a:stretch>
                <a:fillRect l="-129619" t="0" r="-129619" b="0"/>
              </a:stretch>
            </a:blipFill>
            <a:ln w="14288" cap="sq">
              <a:solidFill>
                <a:srgbClr val="8A6A24"/>
              </a:solidFill>
              <a:prstDash val="solid"/>
              <a:miter/>
            </a:ln>
          </p:spPr>
        </p:sp>
      </p:grpSp>
      <p:grpSp>
        <p:nvGrpSpPr>
          <p:cNvPr name="Group 9" id="9"/>
          <p:cNvGrpSpPr/>
          <p:nvPr/>
        </p:nvGrpSpPr>
        <p:grpSpPr>
          <a:xfrm rot="0">
            <a:off x="1040844" y="1062704"/>
            <a:ext cx="5873591" cy="8195596"/>
            <a:chOff x="0" y="0"/>
            <a:chExt cx="7831455" cy="10927461"/>
          </a:xfrm>
        </p:grpSpPr>
        <p:sp>
          <p:nvSpPr>
            <p:cNvPr name="Freeform 10" id="10"/>
            <p:cNvSpPr/>
            <p:nvPr/>
          </p:nvSpPr>
          <p:spPr>
            <a:xfrm flipH="false" flipV="false" rot="0">
              <a:off x="0" y="0"/>
              <a:ext cx="7831455" cy="10927461"/>
            </a:xfrm>
            <a:custGeom>
              <a:avLst/>
              <a:gdLst/>
              <a:ahLst/>
              <a:cxnLst/>
              <a:rect r="r" b="b" t="t" l="l"/>
              <a:pathLst>
                <a:path h="10927461" w="7831455">
                  <a:moveTo>
                    <a:pt x="181501" y="0"/>
                  </a:moveTo>
                  <a:lnTo>
                    <a:pt x="7649954" y="0"/>
                  </a:lnTo>
                  <a:cubicBezTo>
                    <a:pt x="7750194" y="0"/>
                    <a:pt x="7831455" y="81261"/>
                    <a:pt x="7831455" y="181501"/>
                  </a:cubicBezTo>
                  <a:lnTo>
                    <a:pt x="7831455" y="10745960"/>
                  </a:lnTo>
                  <a:cubicBezTo>
                    <a:pt x="7831455" y="10794097"/>
                    <a:pt x="7812333" y="10840262"/>
                    <a:pt x="7778295" y="10874301"/>
                  </a:cubicBezTo>
                  <a:cubicBezTo>
                    <a:pt x="7744257" y="10908339"/>
                    <a:pt x="7698091" y="10927461"/>
                    <a:pt x="7649954" y="10927461"/>
                  </a:cubicBezTo>
                  <a:lnTo>
                    <a:pt x="181501" y="10927461"/>
                  </a:lnTo>
                  <a:cubicBezTo>
                    <a:pt x="133364" y="10927461"/>
                    <a:pt x="87198" y="10908339"/>
                    <a:pt x="53160" y="10874301"/>
                  </a:cubicBezTo>
                  <a:cubicBezTo>
                    <a:pt x="19122" y="10840262"/>
                    <a:pt x="0" y="10794097"/>
                    <a:pt x="0" y="10745960"/>
                  </a:cubicBezTo>
                  <a:lnTo>
                    <a:pt x="0" y="181501"/>
                  </a:lnTo>
                  <a:cubicBezTo>
                    <a:pt x="0" y="133364"/>
                    <a:pt x="19122" y="87198"/>
                    <a:pt x="53160" y="53160"/>
                  </a:cubicBezTo>
                  <a:cubicBezTo>
                    <a:pt x="87198" y="19122"/>
                    <a:pt x="133364" y="0"/>
                    <a:pt x="181501" y="0"/>
                  </a:cubicBezTo>
                  <a:close/>
                </a:path>
              </a:pathLst>
            </a:custGeom>
            <a:blipFill>
              <a:blip r:embed="rId5">
                <a:alphaModFix amt="65000"/>
              </a:blip>
              <a:stretch>
                <a:fillRect l="-51607" t="0" r="-34436" b="0"/>
              </a:stretch>
            </a:blipFill>
          </p:spPr>
        </p:sp>
      </p:grpSp>
      <p:grpSp>
        <p:nvGrpSpPr>
          <p:cNvPr name="Group 11" id="11"/>
          <p:cNvGrpSpPr/>
          <p:nvPr/>
        </p:nvGrpSpPr>
        <p:grpSpPr>
          <a:xfrm rot="0">
            <a:off x="11528012" y="1243509"/>
            <a:ext cx="5939600" cy="562928"/>
            <a:chOff x="0" y="0"/>
            <a:chExt cx="7919466" cy="750570"/>
          </a:xfrm>
        </p:grpSpPr>
        <p:sp>
          <p:nvSpPr>
            <p:cNvPr name="Freeform 12" id="12"/>
            <p:cNvSpPr/>
            <p:nvPr/>
          </p:nvSpPr>
          <p:spPr>
            <a:xfrm flipH="false" flipV="false" rot="0">
              <a:off x="0" y="0"/>
              <a:ext cx="7919466" cy="750570"/>
            </a:xfrm>
            <a:custGeom>
              <a:avLst/>
              <a:gdLst/>
              <a:ahLst/>
              <a:cxnLst/>
              <a:rect r="r" b="b" t="t" l="l"/>
              <a:pathLst>
                <a:path h="750570" w="7919466">
                  <a:moveTo>
                    <a:pt x="0" y="375285"/>
                  </a:moveTo>
                  <a:cubicBezTo>
                    <a:pt x="0" y="168021"/>
                    <a:pt x="168021" y="0"/>
                    <a:pt x="375285" y="0"/>
                  </a:cubicBezTo>
                  <a:lnTo>
                    <a:pt x="7544181" y="0"/>
                  </a:lnTo>
                  <a:cubicBezTo>
                    <a:pt x="7751445" y="0"/>
                    <a:pt x="7919466" y="168021"/>
                    <a:pt x="7919466" y="375285"/>
                  </a:cubicBezTo>
                  <a:cubicBezTo>
                    <a:pt x="7919466" y="582549"/>
                    <a:pt x="7751445" y="750570"/>
                    <a:pt x="7544181" y="750570"/>
                  </a:cubicBezTo>
                  <a:lnTo>
                    <a:pt x="375285" y="750570"/>
                  </a:lnTo>
                  <a:cubicBezTo>
                    <a:pt x="168021" y="750570"/>
                    <a:pt x="0" y="582549"/>
                    <a:pt x="0" y="375285"/>
                  </a:cubicBezTo>
                  <a:close/>
                </a:path>
              </a:pathLst>
            </a:custGeom>
            <a:solidFill>
              <a:srgbClr val="8A6A24">
                <a:alpha val="3137"/>
              </a:srgbClr>
            </a:solidFill>
            <a:ln w="14288" cap="sq">
              <a:solidFill>
                <a:srgbClr val="8A6A24"/>
              </a:solidFill>
              <a:prstDash val="solid"/>
              <a:miter/>
            </a:ln>
          </p:spPr>
        </p:sp>
      </p:grpSp>
      <p:grpSp>
        <p:nvGrpSpPr>
          <p:cNvPr name="Group 13" id="13"/>
          <p:cNvGrpSpPr/>
          <p:nvPr/>
        </p:nvGrpSpPr>
        <p:grpSpPr>
          <a:xfrm rot="0">
            <a:off x="16939260" y="1374097"/>
            <a:ext cx="301752" cy="301752"/>
            <a:chOff x="0" y="0"/>
            <a:chExt cx="402336" cy="402336"/>
          </a:xfrm>
        </p:grpSpPr>
        <p:sp>
          <p:nvSpPr>
            <p:cNvPr name="Freeform 14" id="14"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6"/>
              <a:stretch>
                <a:fillRect l="0" t="0" r="0" b="0"/>
              </a:stretch>
            </a:blipFill>
          </p:spPr>
        </p:sp>
      </p:grpSp>
      <p:grpSp>
        <p:nvGrpSpPr>
          <p:cNvPr name="Group 15" id="15"/>
          <p:cNvGrpSpPr/>
          <p:nvPr/>
        </p:nvGrpSpPr>
        <p:grpSpPr>
          <a:xfrm rot="0">
            <a:off x="11699748" y="1250653"/>
            <a:ext cx="5102352" cy="564812"/>
            <a:chOff x="0" y="0"/>
            <a:chExt cx="6803136" cy="753083"/>
          </a:xfrm>
        </p:grpSpPr>
        <p:sp>
          <p:nvSpPr>
            <p:cNvPr name="Freeform 16" id="16"/>
            <p:cNvSpPr/>
            <p:nvPr/>
          </p:nvSpPr>
          <p:spPr>
            <a:xfrm flipH="false" flipV="false" rot="0">
              <a:off x="0" y="0"/>
              <a:ext cx="6803136" cy="753083"/>
            </a:xfrm>
            <a:custGeom>
              <a:avLst/>
              <a:gdLst/>
              <a:ahLst/>
              <a:cxnLst/>
              <a:rect r="r" b="b" t="t" l="l"/>
              <a:pathLst>
                <a:path h="753083" w="6803136">
                  <a:moveTo>
                    <a:pt x="0" y="0"/>
                  </a:moveTo>
                  <a:lnTo>
                    <a:pt x="6803136" y="0"/>
                  </a:lnTo>
                  <a:lnTo>
                    <a:pt x="6803136" y="753083"/>
                  </a:lnTo>
                  <a:lnTo>
                    <a:pt x="0" y="753083"/>
                  </a:lnTo>
                  <a:close/>
                </a:path>
              </a:pathLst>
            </a:custGeom>
            <a:blipFill>
              <a:blip r:embed="rId4">
                <a:alphaModFix amt="0"/>
              </a:blip>
              <a:stretch>
                <a:fillRect l="0" t="-127453" r="0" b="-124590"/>
              </a:stretch>
            </a:blipFill>
          </p:spPr>
        </p:sp>
        <p:sp>
          <p:nvSpPr>
            <p:cNvPr name="TextBox 17" id="17"/>
            <p:cNvSpPr txBox="true"/>
            <p:nvPr/>
          </p:nvSpPr>
          <p:spPr>
            <a:xfrm>
              <a:off x="0" y="-9525"/>
              <a:ext cx="6803136" cy="762608"/>
            </a:xfrm>
            <a:prstGeom prst="rect">
              <a:avLst/>
            </a:prstGeom>
          </p:spPr>
          <p:txBody>
            <a:bodyPr anchor="ctr" rtlCol="false" tIns="0" lIns="0" bIns="0" rIns="0"/>
            <a:lstStyle/>
            <a:p>
              <a:pPr algn="r" rtl="true">
                <a:lnSpc>
                  <a:spcPts val="2340"/>
                </a:lnSpc>
              </a:pPr>
              <a:r>
                <a:rPr lang="ar-EG" b="true" sz="1950" spc="19">
                  <a:solidFill>
                    <a:srgbClr val="8A6A24"/>
                  </a:solidFill>
                  <a:latin typeface="XM Traffic Bold"/>
                  <a:ea typeface="XM Traffic Bold"/>
                  <a:cs typeface="XM Traffic Bold"/>
                  <a:sym typeface="XM Traffic Bold"/>
                  <a:rtl val="true"/>
                </a:rPr>
                <a:t>مسار </a:t>
              </a:r>
              <a:r>
                <a:rPr lang="ar-EG" b="true" sz="1950" spc="19">
                  <a:solidFill>
                    <a:srgbClr val="8A6A24"/>
                  </a:solidFill>
                  <a:latin typeface="XM Traffic Bold"/>
                  <a:ea typeface="XM Traffic Bold"/>
                  <a:cs typeface="XM Traffic Bold"/>
                  <a:sym typeface="XM Traffic Bold"/>
                  <a:rtl val="true"/>
                </a:rPr>
                <a:t>مزارع الجو — بين النخيل</a:t>
              </a:r>
            </a:p>
          </p:txBody>
        </p:sp>
      </p:grpSp>
      <p:grpSp>
        <p:nvGrpSpPr>
          <p:cNvPr name="Group 18" id="18"/>
          <p:cNvGrpSpPr/>
          <p:nvPr/>
        </p:nvGrpSpPr>
        <p:grpSpPr>
          <a:xfrm rot="0">
            <a:off x="7680960" y="5239512"/>
            <a:ext cx="9779508" cy="411480"/>
            <a:chOff x="0" y="0"/>
            <a:chExt cx="13039344" cy="548640"/>
          </a:xfrm>
        </p:grpSpPr>
        <p:sp>
          <p:nvSpPr>
            <p:cNvPr name="Freeform 19" id="19"/>
            <p:cNvSpPr/>
            <p:nvPr/>
          </p:nvSpPr>
          <p:spPr>
            <a:xfrm flipH="false" flipV="false" rot="0">
              <a:off x="0" y="0"/>
              <a:ext cx="13039344" cy="548640"/>
            </a:xfrm>
            <a:custGeom>
              <a:avLst/>
              <a:gdLst/>
              <a:ahLst/>
              <a:cxnLst/>
              <a:rect r="r" b="b" t="t" l="l"/>
              <a:pathLst>
                <a:path h="548640" w="13039344">
                  <a:moveTo>
                    <a:pt x="0" y="0"/>
                  </a:moveTo>
                  <a:lnTo>
                    <a:pt x="13039344" y="0"/>
                  </a:lnTo>
                  <a:lnTo>
                    <a:pt x="13039344" y="548640"/>
                  </a:lnTo>
                  <a:lnTo>
                    <a:pt x="0" y="548640"/>
                  </a:lnTo>
                  <a:close/>
                </a:path>
              </a:pathLst>
            </a:custGeom>
            <a:blipFill>
              <a:blip r:embed="rId4">
                <a:alphaModFix amt="0"/>
              </a:blip>
              <a:stretch>
                <a:fillRect l="0" t="-413094" r="0" b="-413094"/>
              </a:stretch>
            </a:blipFill>
          </p:spPr>
        </p:sp>
        <p:sp>
          <p:nvSpPr>
            <p:cNvPr name="TextBox 20" id="20"/>
            <p:cNvSpPr txBox="true"/>
            <p:nvPr/>
          </p:nvSpPr>
          <p:spPr>
            <a:xfrm>
              <a:off x="0" y="0"/>
              <a:ext cx="13039344" cy="548640"/>
            </a:xfrm>
            <a:prstGeom prst="rect">
              <a:avLst/>
            </a:prstGeom>
          </p:spPr>
          <p:txBody>
            <a:bodyPr anchor="ctr" rtlCol="false" tIns="0" lIns="0" bIns="0" rIns="0"/>
            <a:lstStyle/>
            <a:p>
              <a:pPr algn="r" rtl="true">
                <a:lnSpc>
                  <a:spcPts val="2520"/>
                </a:lnSpc>
              </a:pPr>
              <a:r>
                <a:rPr lang="ar-EG" b="true" sz="2100" spc="21">
                  <a:solidFill>
                    <a:srgbClr val="8A6A24"/>
                  </a:solidFill>
                  <a:latin typeface="XM Traffic Bold"/>
                  <a:ea typeface="XM Traffic Bold"/>
                  <a:cs typeface="XM Traffic Bold"/>
                  <a:sym typeface="XM Traffic Bold"/>
                  <a:rtl val="true"/>
                </a:rPr>
                <a:t>مكونات الوجهة</a:t>
              </a:r>
            </a:p>
          </p:txBody>
        </p:sp>
      </p:grpSp>
      <p:grpSp>
        <p:nvGrpSpPr>
          <p:cNvPr name="Group 21" id="21"/>
          <p:cNvGrpSpPr/>
          <p:nvPr/>
        </p:nvGrpSpPr>
        <p:grpSpPr>
          <a:xfrm rot="0">
            <a:off x="12700730" y="5781008"/>
            <a:ext cx="4766882" cy="837248"/>
            <a:chOff x="0" y="0"/>
            <a:chExt cx="6355842" cy="1116330"/>
          </a:xfrm>
        </p:grpSpPr>
        <p:sp>
          <p:nvSpPr>
            <p:cNvPr name="Freeform 22" id="22"/>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23" id="23"/>
          <p:cNvGrpSpPr/>
          <p:nvPr/>
        </p:nvGrpSpPr>
        <p:grpSpPr>
          <a:xfrm rot="0">
            <a:off x="16719804" y="5911596"/>
            <a:ext cx="576072" cy="576072"/>
            <a:chOff x="0" y="0"/>
            <a:chExt cx="768096" cy="768096"/>
          </a:xfrm>
        </p:grpSpPr>
        <p:sp>
          <p:nvSpPr>
            <p:cNvPr name="Freeform 24" id="2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A6A24"/>
            </a:solidFill>
          </p:spPr>
        </p:sp>
      </p:grpSp>
      <p:grpSp>
        <p:nvGrpSpPr>
          <p:cNvPr name="Group 25" id="25"/>
          <p:cNvGrpSpPr/>
          <p:nvPr/>
        </p:nvGrpSpPr>
        <p:grpSpPr>
          <a:xfrm rot="0">
            <a:off x="16863822" y="6055614"/>
            <a:ext cx="288036" cy="288036"/>
            <a:chOff x="0" y="0"/>
            <a:chExt cx="384048" cy="384048"/>
          </a:xfrm>
        </p:grpSpPr>
        <p:sp>
          <p:nvSpPr>
            <p:cNvPr name="Freeform 26" id="26"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7"/>
              <a:stretch>
                <a:fillRect l="0" t="0" r="0" b="0"/>
              </a:stretch>
            </a:blipFill>
          </p:spPr>
        </p:sp>
      </p:grpSp>
      <p:grpSp>
        <p:nvGrpSpPr>
          <p:cNvPr name="Group 27" id="27"/>
          <p:cNvGrpSpPr/>
          <p:nvPr/>
        </p:nvGrpSpPr>
        <p:grpSpPr>
          <a:xfrm rot="0">
            <a:off x="12872466" y="5788152"/>
            <a:ext cx="3682746" cy="822960"/>
            <a:chOff x="0" y="0"/>
            <a:chExt cx="4910328" cy="1097280"/>
          </a:xfrm>
        </p:grpSpPr>
        <p:sp>
          <p:nvSpPr>
            <p:cNvPr name="Freeform 28" id="28"/>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29" id="29"/>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هب رئيسي لاستقبال الزوار وتوجيههم</a:t>
              </a:r>
            </a:p>
          </p:txBody>
        </p:sp>
      </p:grpSp>
      <p:grpSp>
        <p:nvGrpSpPr>
          <p:cNvPr name="Group 30" id="30"/>
          <p:cNvGrpSpPr/>
          <p:nvPr/>
        </p:nvGrpSpPr>
        <p:grpSpPr>
          <a:xfrm rot="0">
            <a:off x="7673816" y="5781008"/>
            <a:ext cx="4766882" cy="837248"/>
            <a:chOff x="0" y="0"/>
            <a:chExt cx="6355842" cy="1116330"/>
          </a:xfrm>
        </p:grpSpPr>
        <p:sp>
          <p:nvSpPr>
            <p:cNvPr name="Freeform 31" id="31"/>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32" id="32"/>
          <p:cNvGrpSpPr/>
          <p:nvPr/>
        </p:nvGrpSpPr>
        <p:grpSpPr>
          <a:xfrm rot="0">
            <a:off x="11692890" y="5911596"/>
            <a:ext cx="576072" cy="576072"/>
            <a:chOff x="0" y="0"/>
            <a:chExt cx="768096" cy="768096"/>
          </a:xfrm>
        </p:grpSpPr>
        <p:sp>
          <p:nvSpPr>
            <p:cNvPr name="Freeform 33" id="33"/>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A6A24"/>
            </a:solidFill>
          </p:spPr>
        </p:sp>
      </p:grpSp>
      <p:grpSp>
        <p:nvGrpSpPr>
          <p:cNvPr name="Group 34" id="34"/>
          <p:cNvGrpSpPr/>
          <p:nvPr/>
        </p:nvGrpSpPr>
        <p:grpSpPr>
          <a:xfrm rot="0">
            <a:off x="11836908" y="6055614"/>
            <a:ext cx="288036" cy="288036"/>
            <a:chOff x="0" y="0"/>
            <a:chExt cx="384048" cy="384048"/>
          </a:xfrm>
        </p:grpSpPr>
        <p:sp>
          <p:nvSpPr>
            <p:cNvPr name="Freeform 35" id="35"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8"/>
              <a:stretch>
                <a:fillRect l="0" t="0" r="0" b="0"/>
              </a:stretch>
            </a:blipFill>
          </p:spPr>
        </p:sp>
      </p:grpSp>
      <p:grpSp>
        <p:nvGrpSpPr>
          <p:cNvPr name="Group 36" id="36"/>
          <p:cNvGrpSpPr/>
          <p:nvPr/>
        </p:nvGrpSpPr>
        <p:grpSpPr>
          <a:xfrm rot="0">
            <a:off x="7845552" y="5788152"/>
            <a:ext cx="3682746" cy="822960"/>
            <a:chOff x="0" y="0"/>
            <a:chExt cx="4910328" cy="1097280"/>
          </a:xfrm>
        </p:grpSpPr>
        <p:sp>
          <p:nvSpPr>
            <p:cNvPr name="Freeform 37" id="37"/>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38" id="38"/>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منطقة للأطعمة والمشروبات والضيافة</a:t>
              </a:r>
            </a:p>
          </p:txBody>
        </p:sp>
      </p:grpSp>
      <p:grpSp>
        <p:nvGrpSpPr>
          <p:cNvPr name="Group 39" id="39"/>
          <p:cNvGrpSpPr/>
          <p:nvPr/>
        </p:nvGrpSpPr>
        <p:grpSpPr>
          <a:xfrm rot="0">
            <a:off x="12700730" y="6713696"/>
            <a:ext cx="4766882" cy="837248"/>
            <a:chOff x="0" y="0"/>
            <a:chExt cx="6355842" cy="1116330"/>
          </a:xfrm>
        </p:grpSpPr>
        <p:sp>
          <p:nvSpPr>
            <p:cNvPr name="Freeform 40" id="40"/>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41" id="41"/>
          <p:cNvGrpSpPr/>
          <p:nvPr/>
        </p:nvGrpSpPr>
        <p:grpSpPr>
          <a:xfrm rot="0">
            <a:off x="16719804" y="6844284"/>
            <a:ext cx="576072" cy="576072"/>
            <a:chOff x="0" y="0"/>
            <a:chExt cx="768096" cy="768096"/>
          </a:xfrm>
        </p:grpSpPr>
        <p:sp>
          <p:nvSpPr>
            <p:cNvPr name="Freeform 42" id="42"/>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A6A24"/>
            </a:solidFill>
          </p:spPr>
        </p:sp>
      </p:grpSp>
      <p:grpSp>
        <p:nvGrpSpPr>
          <p:cNvPr name="Group 43" id="43"/>
          <p:cNvGrpSpPr/>
          <p:nvPr/>
        </p:nvGrpSpPr>
        <p:grpSpPr>
          <a:xfrm rot="0">
            <a:off x="16863822" y="6988302"/>
            <a:ext cx="288036" cy="288036"/>
            <a:chOff x="0" y="0"/>
            <a:chExt cx="384048" cy="384048"/>
          </a:xfrm>
        </p:grpSpPr>
        <p:sp>
          <p:nvSpPr>
            <p:cNvPr name="Freeform 44" id="44"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9"/>
              <a:stretch>
                <a:fillRect l="0" t="0" r="0" b="0"/>
              </a:stretch>
            </a:blipFill>
          </p:spPr>
        </p:sp>
      </p:grpSp>
      <p:grpSp>
        <p:nvGrpSpPr>
          <p:cNvPr name="Group 45" id="45"/>
          <p:cNvGrpSpPr/>
          <p:nvPr/>
        </p:nvGrpSpPr>
        <p:grpSpPr>
          <a:xfrm rot="0">
            <a:off x="12872466" y="6720840"/>
            <a:ext cx="3682746" cy="822960"/>
            <a:chOff x="0" y="0"/>
            <a:chExt cx="4910328" cy="1097280"/>
          </a:xfrm>
        </p:grpSpPr>
        <p:sp>
          <p:nvSpPr>
            <p:cNvPr name="Freeform 46" id="46"/>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47" id="47"/>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سوق صغير للمنتجات المحلية والحرف</a:t>
              </a:r>
            </a:p>
          </p:txBody>
        </p:sp>
      </p:grpSp>
      <p:grpSp>
        <p:nvGrpSpPr>
          <p:cNvPr name="Group 48" id="48"/>
          <p:cNvGrpSpPr/>
          <p:nvPr/>
        </p:nvGrpSpPr>
        <p:grpSpPr>
          <a:xfrm rot="0">
            <a:off x="7673816" y="6713696"/>
            <a:ext cx="4766882" cy="837248"/>
            <a:chOff x="0" y="0"/>
            <a:chExt cx="6355842" cy="1116330"/>
          </a:xfrm>
        </p:grpSpPr>
        <p:sp>
          <p:nvSpPr>
            <p:cNvPr name="Freeform 49" id="49"/>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50" id="50"/>
          <p:cNvGrpSpPr/>
          <p:nvPr/>
        </p:nvGrpSpPr>
        <p:grpSpPr>
          <a:xfrm rot="0">
            <a:off x="11692890" y="6844284"/>
            <a:ext cx="576072" cy="576072"/>
            <a:chOff x="0" y="0"/>
            <a:chExt cx="768096" cy="768096"/>
          </a:xfrm>
        </p:grpSpPr>
        <p:sp>
          <p:nvSpPr>
            <p:cNvPr name="Freeform 51" id="5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A6A24"/>
            </a:solidFill>
          </p:spPr>
        </p:sp>
      </p:grpSp>
      <p:grpSp>
        <p:nvGrpSpPr>
          <p:cNvPr name="Group 52" id="52"/>
          <p:cNvGrpSpPr/>
          <p:nvPr/>
        </p:nvGrpSpPr>
        <p:grpSpPr>
          <a:xfrm rot="0">
            <a:off x="11836908" y="6988302"/>
            <a:ext cx="288036" cy="288036"/>
            <a:chOff x="0" y="0"/>
            <a:chExt cx="384048" cy="384048"/>
          </a:xfrm>
        </p:grpSpPr>
        <p:sp>
          <p:nvSpPr>
            <p:cNvPr name="Freeform 53" id="53"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0"/>
              <a:stretch>
                <a:fillRect l="0" t="0" r="0" b="0"/>
              </a:stretch>
            </a:blipFill>
          </p:spPr>
        </p:sp>
      </p:grpSp>
      <p:grpSp>
        <p:nvGrpSpPr>
          <p:cNvPr name="Group 54" id="54"/>
          <p:cNvGrpSpPr/>
          <p:nvPr/>
        </p:nvGrpSpPr>
        <p:grpSpPr>
          <a:xfrm rot="0">
            <a:off x="7845552" y="6720840"/>
            <a:ext cx="3682746" cy="822960"/>
            <a:chOff x="0" y="0"/>
            <a:chExt cx="4910328" cy="1097280"/>
          </a:xfrm>
        </p:grpSpPr>
        <p:sp>
          <p:nvSpPr>
            <p:cNvPr name="Freeform 55" id="55"/>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56" id="56"/>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منطقة تصوير بإطلالات على النخيل</a:t>
              </a:r>
            </a:p>
          </p:txBody>
        </p:sp>
      </p:grpSp>
      <p:grpSp>
        <p:nvGrpSpPr>
          <p:cNvPr name="Group 57" id="57"/>
          <p:cNvGrpSpPr/>
          <p:nvPr/>
        </p:nvGrpSpPr>
        <p:grpSpPr>
          <a:xfrm rot="0">
            <a:off x="12700730" y="7646384"/>
            <a:ext cx="4766882" cy="837248"/>
            <a:chOff x="0" y="0"/>
            <a:chExt cx="6355842" cy="1116330"/>
          </a:xfrm>
        </p:grpSpPr>
        <p:sp>
          <p:nvSpPr>
            <p:cNvPr name="Freeform 58" id="58"/>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59" id="59"/>
          <p:cNvGrpSpPr/>
          <p:nvPr/>
        </p:nvGrpSpPr>
        <p:grpSpPr>
          <a:xfrm rot="0">
            <a:off x="16719804" y="7776972"/>
            <a:ext cx="576072" cy="576072"/>
            <a:chOff x="0" y="0"/>
            <a:chExt cx="768096" cy="768096"/>
          </a:xfrm>
        </p:grpSpPr>
        <p:sp>
          <p:nvSpPr>
            <p:cNvPr name="Freeform 60" id="6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A6A24"/>
            </a:solidFill>
          </p:spPr>
        </p:sp>
      </p:grpSp>
      <p:grpSp>
        <p:nvGrpSpPr>
          <p:cNvPr name="Group 61" id="61"/>
          <p:cNvGrpSpPr/>
          <p:nvPr/>
        </p:nvGrpSpPr>
        <p:grpSpPr>
          <a:xfrm rot="0">
            <a:off x="16863822" y="7920990"/>
            <a:ext cx="288036" cy="288036"/>
            <a:chOff x="0" y="0"/>
            <a:chExt cx="384048" cy="384048"/>
          </a:xfrm>
        </p:grpSpPr>
        <p:sp>
          <p:nvSpPr>
            <p:cNvPr name="Freeform 62" id="62"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1"/>
              <a:stretch>
                <a:fillRect l="0" t="0" r="0" b="0"/>
              </a:stretch>
            </a:blipFill>
          </p:spPr>
        </p:sp>
      </p:grpSp>
      <p:grpSp>
        <p:nvGrpSpPr>
          <p:cNvPr name="Group 63" id="63"/>
          <p:cNvGrpSpPr/>
          <p:nvPr/>
        </p:nvGrpSpPr>
        <p:grpSpPr>
          <a:xfrm rot="0">
            <a:off x="12872466" y="7653528"/>
            <a:ext cx="3682746" cy="822960"/>
            <a:chOff x="0" y="0"/>
            <a:chExt cx="4910328" cy="1097280"/>
          </a:xfrm>
        </p:grpSpPr>
        <p:sp>
          <p:nvSpPr>
            <p:cNvPr name="Freeform 64" id="64"/>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65" id="65"/>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جلسات خارجية ومساحات للاسترخاء</a:t>
              </a:r>
            </a:p>
          </p:txBody>
        </p:sp>
      </p:grpSp>
      <p:grpSp>
        <p:nvGrpSpPr>
          <p:cNvPr name="Group 66" id="66"/>
          <p:cNvGrpSpPr/>
          <p:nvPr/>
        </p:nvGrpSpPr>
        <p:grpSpPr>
          <a:xfrm rot="0">
            <a:off x="7673816" y="7646384"/>
            <a:ext cx="4766882" cy="837248"/>
            <a:chOff x="0" y="0"/>
            <a:chExt cx="6355842" cy="1116330"/>
          </a:xfrm>
        </p:grpSpPr>
        <p:sp>
          <p:nvSpPr>
            <p:cNvPr name="Freeform 67" id="67"/>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FBF6EE"/>
            </a:solidFill>
            <a:ln w="14288" cap="sq">
              <a:solidFill>
                <a:srgbClr val="E3D3BA"/>
              </a:solidFill>
              <a:prstDash val="solid"/>
              <a:miter/>
            </a:ln>
          </p:spPr>
        </p:sp>
      </p:grpSp>
      <p:grpSp>
        <p:nvGrpSpPr>
          <p:cNvPr name="Group 68" id="68"/>
          <p:cNvGrpSpPr/>
          <p:nvPr/>
        </p:nvGrpSpPr>
        <p:grpSpPr>
          <a:xfrm rot="0">
            <a:off x="11692890" y="7776972"/>
            <a:ext cx="576072" cy="576072"/>
            <a:chOff x="0" y="0"/>
            <a:chExt cx="768096" cy="768096"/>
          </a:xfrm>
        </p:grpSpPr>
        <p:sp>
          <p:nvSpPr>
            <p:cNvPr name="Freeform 69" id="69"/>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8A6A24"/>
            </a:solidFill>
          </p:spPr>
        </p:sp>
      </p:grpSp>
      <p:grpSp>
        <p:nvGrpSpPr>
          <p:cNvPr name="Group 70" id="70"/>
          <p:cNvGrpSpPr/>
          <p:nvPr/>
        </p:nvGrpSpPr>
        <p:grpSpPr>
          <a:xfrm rot="0">
            <a:off x="11836908" y="7920990"/>
            <a:ext cx="288036" cy="288036"/>
            <a:chOff x="0" y="0"/>
            <a:chExt cx="384048" cy="384048"/>
          </a:xfrm>
        </p:grpSpPr>
        <p:sp>
          <p:nvSpPr>
            <p:cNvPr name="Freeform 71" id="71"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2"/>
              <a:stretch>
                <a:fillRect l="0" t="0" r="0" b="0"/>
              </a:stretch>
            </a:blipFill>
          </p:spPr>
        </p:sp>
      </p:grpSp>
      <p:grpSp>
        <p:nvGrpSpPr>
          <p:cNvPr name="Group 72" id="72"/>
          <p:cNvGrpSpPr/>
          <p:nvPr/>
        </p:nvGrpSpPr>
        <p:grpSpPr>
          <a:xfrm rot="0">
            <a:off x="7845552" y="7653528"/>
            <a:ext cx="3682746" cy="822960"/>
            <a:chOff x="0" y="0"/>
            <a:chExt cx="4910328" cy="1097280"/>
          </a:xfrm>
        </p:grpSpPr>
        <p:sp>
          <p:nvSpPr>
            <p:cNvPr name="Freeform 73" id="73"/>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74" id="74"/>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نقطة انطلاق وعودة للمسار الزراعي</a:t>
              </a:r>
            </a:p>
          </p:txBody>
        </p:sp>
      </p:grpSp>
      <p:grpSp>
        <p:nvGrpSpPr>
          <p:cNvPr name="Group 75" id="75"/>
          <p:cNvGrpSpPr/>
          <p:nvPr/>
        </p:nvGrpSpPr>
        <p:grpSpPr>
          <a:xfrm rot="0">
            <a:off x="7680960" y="9669780"/>
            <a:ext cx="9779508" cy="342900"/>
            <a:chOff x="0" y="0"/>
            <a:chExt cx="13039344" cy="457200"/>
          </a:xfrm>
        </p:grpSpPr>
        <p:sp>
          <p:nvSpPr>
            <p:cNvPr name="Freeform 76" id="76"/>
            <p:cNvSpPr/>
            <p:nvPr/>
          </p:nvSpPr>
          <p:spPr>
            <a:xfrm flipH="false" flipV="false" rot="0">
              <a:off x="0" y="0"/>
              <a:ext cx="13039344" cy="457200"/>
            </a:xfrm>
            <a:custGeom>
              <a:avLst/>
              <a:gdLst/>
              <a:ahLst/>
              <a:cxnLst/>
              <a:rect r="r" b="b" t="t" l="l"/>
              <a:pathLst>
                <a:path h="457200" w="13039344">
                  <a:moveTo>
                    <a:pt x="0" y="0"/>
                  </a:moveTo>
                  <a:lnTo>
                    <a:pt x="13039344" y="0"/>
                  </a:lnTo>
                  <a:lnTo>
                    <a:pt x="13039344" y="457200"/>
                  </a:lnTo>
                  <a:lnTo>
                    <a:pt x="0" y="457200"/>
                  </a:lnTo>
                  <a:close/>
                </a:path>
              </a:pathLst>
            </a:custGeom>
            <a:blipFill>
              <a:blip r:embed="rId4">
                <a:alphaModFix amt="0"/>
              </a:blip>
              <a:stretch>
                <a:fillRect l="0" t="-505713" r="0" b="-505713"/>
              </a:stretch>
            </a:blipFill>
          </p:spPr>
        </p:sp>
        <p:sp>
          <p:nvSpPr>
            <p:cNvPr name="TextBox 77" id="77"/>
            <p:cNvSpPr txBox="true"/>
            <p:nvPr/>
          </p:nvSpPr>
          <p:spPr>
            <a:xfrm>
              <a:off x="0" y="0"/>
              <a:ext cx="13039344" cy="457200"/>
            </a:xfrm>
            <a:prstGeom prst="rect">
              <a:avLst/>
            </a:prstGeom>
          </p:spPr>
          <p:txBody>
            <a:bodyPr anchor="ctr" rtlCol="false" tIns="0" lIns="0" bIns="0" rIns="0"/>
            <a:lstStyle/>
            <a:p>
              <a:pPr algn="r" rtl="true">
                <a:lnSpc>
                  <a:spcPts val="1800"/>
                </a:lnSpc>
              </a:pPr>
              <a:r>
                <a:rPr lang="ar-EG" sz="1500" spc="15">
                  <a:solidFill>
                    <a:srgbClr val="7A5C44"/>
                  </a:solidFill>
                  <a:latin typeface="XM Traffic"/>
                  <a:ea typeface="XM Traffic"/>
                  <a:cs typeface="XM Traffic"/>
                  <a:sym typeface="XM Traffic"/>
                  <a:rtl val="true"/>
                </a:rPr>
                <a:t>تصوّر تطويري مقترح</a:t>
              </a:r>
            </a:p>
          </p:txBody>
        </p:sp>
      </p:grpSp>
      <p:grpSp>
        <p:nvGrpSpPr>
          <p:cNvPr name="Group 78" id="78"/>
          <p:cNvGrpSpPr/>
          <p:nvPr/>
        </p:nvGrpSpPr>
        <p:grpSpPr>
          <a:xfrm rot="0">
            <a:off x="8048015" y="1243509"/>
            <a:ext cx="3314290" cy="562928"/>
            <a:chOff x="0" y="0"/>
            <a:chExt cx="4419054" cy="750570"/>
          </a:xfrm>
        </p:grpSpPr>
        <p:sp>
          <p:nvSpPr>
            <p:cNvPr name="Freeform 79" id="79" descr="رابط الموقع على خرائط قوقل">
              <a:hlinkClick r:id="rId13" tooltip="https://www.google.com/maps/search/?api=1&amp;query=%D9%85%D8%B2%D8%A7%D8%B1%D8%B9%20%D8%A7%D9%84%D8%AC%D9%88%20%D8%A7%D9%84%D9%85%D8%AC%D9%85%D8%B9%D8%A9"/>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3E2D21"/>
            </a:solidFill>
            <a:ln w="14288" cap="sq">
              <a:solidFill>
                <a:srgbClr val="D9A66B"/>
              </a:solidFill>
              <a:prstDash val="solid"/>
              <a:miter/>
            </a:ln>
          </p:spPr>
        </p:sp>
      </p:grpSp>
      <p:grpSp>
        <p:nvGrpSpPr>
          <p:cNvPr name="Group 80" id="80"/>
          <p:cNvGrpSpPr/>
          <p:nvPr/>
        </p:nvGrpSpPr>
        <p:grpSpPr>
          <a:xfrm rot="0">
            <a:off x="10858405" y="1374097"/>
            <a:ext cx="301752" cy="301752"/>
            <a:chOff x="0" y="0"/>
            <a:chExt cx="402336" cy="402336"/>
          </a:xfrm>
        </p:grpSpPr>
        <p:sp>
          <p:nvSpPr>
            <p:cNvPr name="Freeform 81" id="81"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4"/>
              <a:stretch>
                <a:fillRect l="0" t="0" r="0" b="0"/>
              </a:stretch>
            </a:blipFill>
          </p:spPr>
        </p:sp>
      </p:grpSp>
      <p:grpSp>
        <p:nvGrpSpPr>
          <p:cNvPr name="Group 82" id="82"/>
          <p:cNvGrpSpPr/>
          <p:nvPr/>
        </p:nvGrpSpPr>
        <p:grpSpPr>
          <a:xfrm rot="0">
            <a:off x="8205159" y="1250653"/>
            <a:ext cx="2548252" cy="548640"/>
            <a:chOff x="0" y="0"/>
            <a:chExt cx="3397669" cy="731520"/>
          </a:xfrm>
        </p:grpSpPr>
        <p:sp>
          <p:nvSpPr>
            <p:cNvPr name="Freeform 83" id="83"/>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4">
                <a:alphaModFix amt="0"/>
              </a:blip>
              <a:stretch>
                <a:fillRect l="0" t="-40501" r="0" b="-40501"/>
              </a:stretch>
            </a:blipFill>
          </p:spPr>
        </p:sp>
        <p:sp>
          <p:nvSpPr>
            <p:cNvPr name="TextBox 84" id="84"/>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F3E3C8"/>
                  </a:solidFill>
                  <a:latin typeface="XM Traffic Bold"/>
                  <a:ea typeface="XM Traffic Bold"/>
                  <a:cs typeface="XM Traffic Bold"/>
                  <a:sym typeface="XM Traffic Bold"/>
                  <a:hlinkClick r:id="rId15" tooltip="https://maps.app.goo.gl/PcG3u6xeZU9a99fs9?g_st=iw"/>
                  <a:rtl val="true"/>
                </a:rPr>
                <a:t>موقع مزرعه الجو بـ المجمعه</a:t>
              </a:r>
            </a:p>
          </p:txBody>
        </p:sp>
      </p:grpSp>
      <p:sp>
        <p:nvSpPr>
          <p:cNvPr name="Freeform 85" id="85"/>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6"/>
            <a:stretch>
              <a:fillRect l="0" t="-22113" r="0" b="-17967"/>
            </a:stretch>
          </a:blipFill>
        </p:spPr>
      </p:sp>
      <p:sp>
        <p:nvSpPr>
          <p:cNvPr name="TextBox 86" id="86"/>
          <p:cNvSpPr txBox="true"/>
          <p:nvPr/>
        </p:nvSpPr>
        <p:spPr>
          <a:xfrm rot="0">
            <a:off x="7753964" y="2072640"/>
            <a:ext cx="9779508" cy="819150"/>
          </a:xfrm>
          <a:prstGeom prst="rect">
            <a:avLst/>
          </a:prstGeom>
        </p:spPr>
        <p:txBody>
          <a:bodyPr anchor="t" rtlCol="false" tIns="0" lIns="0" bIns="0" rIns="0">
            <a:spAutoFit/>
          </a:bodyPr>
          <a:lstStyle/>
          <a:p>
            <a:pPr algn="r" rtl="true">
              <a:lnSpc>
                <a:spcPts val="6480"/>
              </a:lnSpc>
            </a:pPr>
            <a:r>
              <a:rPr lang="ar-EG" b="true" sz="5400" spc="55">
                <a:solidFill>
                  <a:srgbClr val="3B2A1E"/>
                </a:solidFill>
                <a:latin typeface="XM Traffic Bold"/>
                <a:ea typeface="XM Traffic Bold"/>
                <a:cs typeface="XM Traffic Bold"/>
                <a:sym typeface="XM Traffic Bold"/>
                <a:rtl val="true"/>
              </a:rPr>
              <a:t>اترك الطريق، وعِش التجربة</a:t>
            </a:r>
          </a:p>
        </p:txBody>
      </p:sp>
      <p:sp>
        <p:nvSpPr>
          <p:cNvPr name="TextBox 87" id="87"/>
          <p:cNvSpPr txBox="true"/>
          <p:nvPr/>
        </p:nvSpPr>
        <p:spPr>
          <a:xfrm rot="0">
            <a:off x="7680960" y="3253740"/>
            <a:ext cx="9779508" cy="1958340"/>
          </a:xfrm>
          <a:prstGeom prst="rect">
            <a:avLst/>
          </a:prstGeom>
        </p:spPr>
        <p:txBody>
          <a:bodyPr anchor="t" rtlCol="false" tIns="0" lIns="0" bIns="0" rIns="0">
            <a:spAutoFit/>
          </a:bodyPr>
          <a:lstStyle/>
          <a:p>
            <a:pPr algn="r">
              <a:lnSpc>
                <a:spcPts val="3104"/>
              </a:lnSpc>
            </a:pPr>
            <a:r>
              <a:rPr lang="ar-EG" sz="2250" spc="23">
                <a:solidFill>
                  <a:srgbClr val="4A3628"/>
                </a:solidFill>
                <a:latin typeface="XM Traffic"/>
                <a:ea typeface="XM Traffic"/>
                <a:cs typeface="XM Traffic"/>
                <a:sym typeface="XM Traffic"/>
                <a:rtl val="true"/>
              </a:rPr>
              <a:t>وسط امتداد النخيل في مزارع الجو بالمجمعة، تنطلق وجهة تجمع بين الطبيعة والضيافة والمغامرة. محطة تمنح الزائر فرصة للاستراحة، والاستمتاع بالمشهد الزراعي، واكتشاف المنتجات المحلية قبل الانطلاق في تجربة بين النخيل</a:t>
            </a:r>
            <a:r>
              <a:rPr lang="en-US" sz="2250" spc="23">
                <a:solidFill>
                  <a:srgbClr val="4A3628"/>
                </a:solidFill>
                <a:latin typeface="XM Traffic"/>
                <a:ea typeface="XM Traffic"/>
                <a:cs typeface="XM Traffic"/>
                <a:sym typeface="XM Traffic"/>
              </a:rPr>
              <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507807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D4AF55">
                <a:alpha val="1176"/>
              </a:srgbClr>
            </a:solidFill>
          </p:spPr>
        </p:sp>
      </p:grpSp>
      <p:grpSp>
        <p:nvGrpSpPr>
          <p:cNvPr name="Group 5" id="5"/>
          <p:cNvGrpSpPr/>
          <p:nvPr/>
        </p:nvGrpSpPr>
        <p:grpSpPr>
          <a:xfrm rot="0">
            <a:off x="-697706" y="-11906"/>
            <a:ext cx="7567612" cy="10310812"/>
            <a:chOff x="0" y="0"/>
            <a:chExt cx="10090150" cy="13747750"/>
          </a:xfrm>
        </p:grpSpPr>
        <p:sp>
          <p:nvSpPr>
            <p:cNvPr name="Freeform 6" id="6"/>
            <p:cNvSpPr/>
            <p:nvPr/>
          </p:nvSpPr>
          <p:spPr>
            <a:xfrm flipH="false" flipV="false" rot="0">
              <a:off x="0" y="0"/>
              <a:ext cx="10090150" cy="13747877"/>
            </a:xfrm>
            <a:custGeom>
              <a:avLst/>
              <a:gdLst/>
              <a:ahLst/>
              <a:cxnLst/>
              <a:rect r="r" b="b" t="t" l="l"/>
              <a:pathLst>
                <a:path h="13747877" w="10090150">
                  <a:moveTo>
                    <a:pt x="0" y="825627"/>
                  </a:moveTo>
                  <a:cubicBezTo>
                    <a:pt x="0" y="369570"/>
                    <a:pt x="369570" y="0"/>
                    <a:pt x="825627" y="0"/>
                  </a:cubicBezTo>
                  <a:lnTo>
                    <a:pt x="9264523" y="0"/>
                  </a:lnTo>
                  <a:cubicBezTo>
                    <a:pt x="9720453" y="0"/>
                    <a:pt x="10090150" y="369570"/>
                    <a:pt x="10090150" y="825627"/>
                  </a:cubicBezTo>
                  <a:lnTo>
                    <a:pt x="10090150" y="12922250"/>
                  </a:lnTo>
                  <a:cubicBezTo>
                    <a:pt x="10090150" y="13378180"/>
                    <a:pt x="9720580" y="13747877"/>
                    <a:pt x="9264523" y="13747877"/>
                  </a:cubicBezTo>
                  <a:lnTo>
                    <a:pt x="825627" y="13747877"/>
                  </a:lnTo>
                  <a:cubicBezTo>
                    <a:pt x="369570" y="13747750"/>
                    <a:pt x="0" y="13378180"/>
                    <a:pt x="0" y="12922123"/>
                  </a:cubicBezTo>
                  <a:close/>
                </a:path>
              </a:pathLst>
            </a:custGeom>
            <a:solidFill>
              <a:srgbClr val="3E2D21"/>
            </a:solidFill>
            <a:ln w="23812" cap="sq">
              <a:solidFill>
                <a:srgbClr val="D4AF55"/>
              </a:solidFill>
              <a:prstDash val="dash"/>
              <a:miter/>
            </a:ln>
          </p:spPr>
        </p:sp>
      </p:grpSp>
      <p:grpSp>
        <p:nvGrpSpPr>
          <p:cNvPr name="Group 7" id="7"/>
          <p:cNvGrpSpPr/>
          <p:nvPr/>
        </p:nvGrpSpPr>
        <p:grpSpPr>
          <a:xfrm rot="0">
            <a:off x="-446056" y="239744"/>
            <a:ext cx="7064312" cy="9807512"/>
            <a:chOff x="0" y="0"/>
            <a:chExt cx="9419082" cy="13076682"/>
          </a:xfrm>
        </p:grpSpPr>
        <p:sp>
          <p:nvSpPr>
            <p:cNvPr name="Freeform 8" id="8"/>
            <p:cNvSpPr/>
            <p:nvPr/>
          </p:nvSpPr>
          <p:spPr>
            <a:xfrm flipH="false" flipV="false" rot="0">
              <a:off x="0" y="0"/>
              <a:ext cx="9419082" cy="13076682"/>
            </a:xfrm>
            <a:custGeom>
              <a:avLst/>
              <a:gdLst/>
              <a:ahLst/>
              <a:cxnLst/>
              <a:rect r="r" b="b" t="t" l="l"/>
              <a:pathLst>
                <a:path h="13076682" w="9419082">
                  <a:moveTo>
                    <a:pt x="0" y="604647"/>
                  </a:moveTo>
                  <a:cubicBezTo>
                    <a:pt x="0" y="270764"/>
                    <a:pt x="270764" y="0"/>
                    <a:pt x="604647" y="0"/>
                  </a:cubicBezTo>
                  <a:lnTo>
                    <a:pt x="8814435" y="0"/>
                  </a:lnTo>
                  <a:cubicBezTo>
                    <a:pt x="9148445" y="0"/>
                    <a:pt x="9419082" y="270764"/>
                    <a:pt x="9419082" y="604647"/>
                  </a:cubicBezTo>
                  <a:lnTo>
                    <a:pt x="9419082" y="12472035"/>
                  </a:lnTo>
                  <a:cubicBezTo>
                    <a:pt x="9419082" y="12806045"/>
                    <a:pt x="9148318" y="13076682"/>
                    <a:pt x="8814435" y="13076682"/>
                  </a:cubicBezTo>
                  <a:lnTo>
                    <a:pt x="604647" y="13076682"/>
                  </a:lnTo>
                  <a:cubicBezTo>
                    <a:pt x="270637" y="13076682"/>
                    <a:pt x="0" y="12805918"/>
                    <a:pt x="0" y="12472035"/>
                  </a:cubicBezTo>
                  <a:close/>
                </a:path>
              </a:pathLst>
            </a:custGeom>
            <a:blipFill>
              <a:blip r:embed="rId4">
                <a:alphaModFix amt="0"/>
              </a:blip>
              <a:stretch>
                <a:fillRect l="-128126" t="0" r="-128126" b="0"/>
              </a:stretch>
            </a:blipFill>
            <a:ln w="14288" cap="sq">
              <a:solidFill>
                <a:srgbClr val="D4AF55"/>
              </a:solidFill>
              <a:prstDash val="solid"/>
              <a:miter/>
            </a:ln>
          </p:spPr>
        </p:sp>
      </p:grpSp>
      <p:grpSp>
        <p:nvGrpSpPr>
          <p:cNvPr name="Group 9" id="9"/>
          <p:cNvGrpSpPr/>
          <p:nvPr/>
        </p:nvGrpSpPr>
        <p:grpSpPr>
          <a:xfrm rot="0">
            <a:off x="0" y="239744"/>
            <a:ext cx="6618256" cy="9807512"/>
            <a:chOff x="0" y="0"/>
            <a:chExt cx="8824341" cy="13076682"/>
          </a:xfrm>
        </p:grpSpPr>
        <p:sp>
          <p:nvSpPr>
            <p:cNvPr name="Freeform 10" id="10"/>
            <p:cNvSpPr/>
            <p:nvPr/>
          </p:nvSpPr>
          <p:spPr>
            <a:xfrm flipH="false" flipV="false" rot="0">
              <a:off x="0" y="0"/>
              <a:ext cx="8824341" cy="13076682"/>
            </a:xfrm>
            <a:custGeom>
              <a:avLst/>
              <a:gdLst/>
              <a:ahLst/>
              <a:cxnLst/>
              <a:rect r="r" b="b" t="t" l="l"/>
              <a:pathLst>
                <a:path h="13076682" w="8824341">
                  <a:moveTo>
                    <a:pt x="210298" y="0"/>
                  </a:moveTo>
                  <a:lnTo>
                    <a:pt x="8614043" y="0"/>
                  </a:lnTo>
                  <a:cubicBezTo>
                    <a:pt x="8730188" y="0"/>
                    <a:pt x="8824341" y="94153"/>
                    <a:pt x="8824341" y="210298"/>
                  </a:cubicBezTo>
                  <a:lnTo>
                    <a:pt x="8824341" y="12866385"/>
                  </a:lnTo>
                  <a:cubicBezTo>
                    <a:pt x="8824341" y="12982529"/>
                    <a:pt x="8730188" y="13076682"/>
                    <a:pt x="8614043" y="13076682"/>
                  </a:cubicBezTo>
                  <a:lnTo>
                    <a:pt x="210298" y="13076682"/>
                  </a:lnTo>
                  <a:cubicBezTo>
                    <a:pt x="94153" y="13076682"/>
                    <a:pt x="0" y="12982529"/>
                    <a:pt x="0" y="12866385"/>
                  </a:cubicBezTo>
                  <a:lnTo>
                    <a:pt x="0" y="210298"/>
                  </a:lnTo>
                  <a:cubicBezTo>
                    <a:pt x="0" y="94153"/>
                    <a:pt x="94153" y="0"/>
                    <a:pt x="210298" y="0"/>
                  </a:cubicBezTo>
                  <a:close/>
                </a:path>
              </a:pathLst>
            </a:custGeom>
            <a:blipFill>
              <a:blip r:embed="rId5">
                <a:alphaModFix amt="65000"/>
              </a:blip>
              <a:stretch>
                <a:fillRect l="0" t="-10251" r="0" b="-10251"/>
              </a:stretch>
            </a:blipFill>
          </p:spPr>
        </p:sp>
      </p:grpSp>
      <p:grpSp>
        <p:nvGrpSpPr>
          <p:cNvPr name="Group 11" id="11"/>
          <p:cNvGrpSpPr/>
          <p:nvPr/>
        </p:nvGrpSpPr>
        <p:grpSpPr>
          <a:xfrm rot="0">
            <a:off x="5105400" y="6819900"/>
            <a:ext cx="2819400" cy="2819400"/>
            <a:chOff x="0" y="0"/>
            <a:chExt cx="3759200" cy="3759200"/>
          </a:xfrm>
        </p:grpSpPr>
        <p:sp>
          <p:nvSpPr>
            <p:cNvPr name="Freeform 12" id="12"/>
            <p:cNvSpPr/>
            <p:nvPr/>
          </p:nvSpPr>
          <p:spPr>
            <a:xfrm flipH="false" flipV="false" rot="0">
              <a:off x="0" y="0"/>
              <a:ext cx="3759200" cy="3759200"/>
            </a:xfrm>
            <a:custGeom>
              <a:avLst/>
              <a:gdLst/>
              <a:ahLst/>
              <a:cxnLst/>
              <a:rect r="r" b="b" t="t" l="l"/>
              <a:pathLst>
                <a:path h="3759200" w="3759200">
                  <a:moveTo>
                    <a:pt x="0" y="1879600"/>
                  </a:moveTo>
                  <a:cubicBezTo>
                    <a:pt x="0" y="841502"/>
                    <a:pt x="841502" y="0"/>
                    <a:pt x="1879600" y="0"/>
                  </a:cubicBezTo>
                  <a:cubicBezTo>
                    <a:pt x="2917698" y="0"/>
                    <a:pt x="3759200" y="841502"/>
                    <a:pt x="3759200" y="1879600"/>
                  </a:cubicBezTo>
                  <a:cubicBezTo>
                    <a:pt x="3759200" y="2917698"/>
                    <a:pt x="2917698" y="3759200"/>
                    <a:pt x="1879600" y="3759200"/>
                  </a:cubicBezTo>
                  <a:cubicBezTo>
                    <a:pt x="841502" y="3759200"/>
                    <a:pt x="0" y="2917698"/>
                    <a:pt x="0" y="1879600"/>
                  </a:cubicBezTo>
                  <a:close/>
                </a:path>
              </a:pathLst>
            </a:custGeom>
            <a:solidFill>
              <a:srgbClr val="D4AF55"/>
            </a:solidFill>
            <a:ln w="76200" cap="sq">
              <a:solidFill>
                <a:srgbClr val="2B1D14"/>
              </a:solidFill>
              <a:prstDash val="solid"/>
              <a:miter/>
            </a:ln>
          </p:spPr>
        </p:sp>
      </p:grpSp>
      <p:grpSp>
        <p:nvGrpSpPr>
          <p:cNvPr name="Group 13" id="13"/>
          <p:cNvGrpSpPr/>
          <p:nvPr/>
        </p:nvGrpSpPr>
        <p:grpSpPr>
          <a:xfrm rot="0">
            <a:off x="5143500" y="7022592"/>
            <a:ext cx="2743200" cy="1371600"/>
            <a:chOff x="0" y="0"/>
            <a:chExt cx="3657600" cy="1828800"/>
          </a:xfrm>
        </p:grpSpPr>
        <p:sp>
          <p:nvSpPr>
            <p:cNvPr name="Freeform 14" id="14"/>
            <p:cNvSpPr/>
            <p:nvPr/>
          </p:nvSpPr>
          <p:spPr>
            <a:xfrm flipH="false" flipV="false" rot="0">
              <a:off x="0" y="0"/>
              <a:ext cx="3657600" cy="1828800"/>
            </a:xfrm>
            <a:custGeom>
              <a:avLst/>
              <a:gdLst/>
              <a:ahLst/>
              <a:cxnLst/>
              <a:rect r="r" b="b" t="t" l="l"/>
              <a:pathLst>
                <a:path h="1828800" w="3657600">
                  <a:moveTo>
                    <a:pt x="0" y="0"/>
                  </a:moveTo>
                  <a:lnTo>
                    <a:pt x="3657600" y="0"/>
                  </a:lnTo>
                  <a:lnTo>
                    <a:pt x="3657600" y="1828800"/>
                  </a:lnTo>
                  <a:lnTo>
                    <a:pt x="0" y="1828800"/>
                  </a:lnTo>
                  <a:close/>
                </a:path>
              </a:pathLst>
            </a:custGeom>
            <a:blipFill>
              <a:blip r:embed="rId4">
                <a:alphaModFix amt="0"/>
              </a:blip>
              <a:stretch>
                <a:fillRect l="-14151" t="0" r="-14151" b="0"/>
              </a:stretch>
            </a:blipFill>
          </p:spPr>
        </p:sp>
        <p:sp>
          <p:nvSpPr>
            <p:cNvPr name="TextBox 15" id="15"/>
            <p:cNvSpPr txBox="true"/>
            <p:nvPr/>
          </p:nvSpPr>
          <p:spPr>
            <a:xfrm>
              <a:off x="0" y="0"/>
              <a:ext cx="3657600" cy="1828800"/>
            </a:xfrm>
            <a:prstGeom prst="rect">
              <a:avLst/>
            </a:prstGeom>
          </p:spPr>
          <p:txBody>
            <a:bodyPr anchor="ctr" rtlCol="false" tIns="0" lIns="0" bIns="0" rIns="0"/>
            <a:lstStyle/>
            <a:p>
              <a:pPr algn="ctr" rtl="true">
                <a:lnSpc>
                  <a:spcPts val="9720"/>
                </a:lnSpc>
              </a:pPr>
              <a:r>
                <a:rPr lang="en-US" b="true" sz="8100" spc="83">
                  <a:solidFill>
                    <a:srgbClr val="2B1D14"/>
                  </a:solidFill>
                  <a:latin typeface="XM Traffic Bold"/>
                  <a:ea typeface="XM Traffic Bold"/>
                  <a:cs typeface="XM Traffic Bold"/>
                  <a:sym typeface="XM Traffic Bold"/>
                </a:rPr>
                <a:t>٣</a:t>
              </a:r>
            </a:p>
          </p:txBody>
        </p:sp>
      </p:grpSp>
      <p:grpSp>
        <p:nvGrpSpPr>
          <p:cNvPr name="Group 16" id="16"/>
          <p:cNvGrpSpPr/>
          <p:nvPr/>
        </p:nvGrpSpPr>
        <p:grpSpPr>
          <a:xfrm rot="0">
            <a:off x="5143500" y="8366760"/>
            <a:ext cx="2743200" cy="685800"/>
            <a:chOff x="0" y="0"/>
            <a:chExt cx="3657600" cy="914400"/>
          </a:xfrm>
        </p:grpSpPr>
        <p:sp>
          <p:nvSpPr>
            <p:cNvPr name="Freeform 17" id="17"/>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4">
                <a:alphaModFix amt="0"/>
              </a:blip>
              <a:stretch>
                <a:fillRect l="0" t="-27940" r="0" b="-27940"/>
              </a:stretch>
            </a:blipFill>
          </p:spPr>
        </p:sp>
        <p:sp>
          <p:nvSpPr>
            <p:cNvPr name="TextBox 18" id="18"/>
            <p:cNvSpPr txBox="true"/>
            <p:nvPr/>
          </p:nvSpPr>
          <p:spPr>
            <a:xfrm>
              <a:off x="0" y="0"/>
              <a:ext cx="3657600" cy="914400"/>
            </a:xfrm>
            <a:prstGeom prst="rect">
              <a:avLst/>
            </a:prstGeom>
          </p:spPr>
          <p:txBody>
            <a:bodyPr anchor="ctr" rtlCol="false" tIns="0" lIns="0" bIns="0" rIns="0"/>
            <a:lstStyle/>
            <a:p>
              <a:pPr algn="ctr" rtl="true">
                <a:lnSpc>
                  <a:spcPts val="3600"/>
                </a:lnSpc>
              </a:pPr>
              <a:r>
                <a:rPr lang="ar-EG" b="true" sz="3000" spc="31">
                  <a:solidFill>
                    <a:srgbClr val="2B1D14"/>
                  </a:solidFill>
                  <a:latin typeface="XM Traffic Bold"/>
                  <a:ea typeface="XM Traffic Bold"/>
                  <a:cs typeface="XM Traffic Bold"/>
                  <a:sym typeface="XM Traffic Bold"/>
                  <a:rtl val="true"/>
                </a:rPr>
                <a:t>كم</a:t>
              </a:r>
            </a:p>
          </p:txBody>
        </p:sp>
      </p:grpSp>
      <p:grpSp>
        <p:nvGrpSpPr>
          <p:cNvPr name="Group 19" id="19"/>
          <p:cNvGrpSpPr/>
          <p:nvPr/>
        </p:nvGrpSpPr>
        <p:grpSpPr>
          <a:xfrm rot="0">
            <a:off x="10745629" y="1367334"/>
            <a:ext cx="6707696" cy="562928"/>
            <a:chOff x="0" y="0"/>
            <a:chExt cx="8943594" cy="750570"/>
          </a:xfrm>
        </p:grpSpPr>
        <p:sp>
          <p:nvSpPr>
            <p:cNvPr name="Freeform 20" id="20"/>
            <p:cNvSpPr/>
            <p:nvPr/>
          </p:nvSpPr>
          <p:spPr>
            <a:xfrm flipH="false" flipV="false" rot="0">
              <a:off x="0" y="0"/>
              <a:ext cx="8943594" cy="750570"/>
            </a:xfrm>
            <a:custGeom>
              <a:avLst/>
              <a:gdLst/>
              <a:ahLst/>
              <a:cxnLst/>
              <a:rect r="r" b="b" t="t" l="l"/>
              <a:pathLst>
                <a:path h="750570" w="8943594">
                  <a:moveTo>
                    <a:pt x="0" y="375285"/>
                  </a:moveTo>
                  <a:cubicBezTo>
                    <a:pt x="0" y="168021"/>
                    <a:pt x="168021" y="0"/>
                    <a:pt x="375285" y="0"/>
                  </a:cubicBezTo>
                  <a:lnTo>
                    <a:pt x="8568309" y="0"/>
                  </a:lnTo>
                  <a:cubicBezTo>
                    <a:pt x="8775573" y="0"/>
                    <a:pt x="8943594" y="168021"/>
                    <a:pt x="8943594" y="375285"/>
                  </a:cubicBezTo>
                  <a:cubicBezTo>
                    <a:pt x="8943594" y="582549"/>
                    <a:pt x="8775573" y="750570"/>
                    <a:pt x="8568309" y="750570"/>
                  </a:cubicBezTo>
                  <a:lnTo>
                    <a:pt x="375285" y="750570"/>
                  </a:lnTo>
                  <a:cubicBezTo>
                    <a:pt x="168021" y="750570"/>
                    <a:pt x="0" y="582549"/>
                    <a:pt x="0" y="375285"/>
                  </a:cubicBezTo>
                  <a:close/>
                </a:path>
              </a:pathLst>
            </a:custGeom>
            <a:solidFill>
              <a:srgbClr val="D4AF55">
                <a:alpha val="5882"/>
              </a:srgbClr>
            </a:solidFill>
            <a:ln w="14288" cap="sq">
              <a:solidFill>
                <a:srgbClr val="D4AF55"/>
              </a:solidFill>
              <a:prstDash val="solid"/>
              <a:miter/>
            </a:ln>
          </p:spPr>
        </p:sp>
      </p:grpSp>
      <p:grpSp>
        <p:nvGrpSpPr>
          <p:cNvPr name="Group 21" id="21"/>
          <p:cNvGrpSpPr/>
          <p:nvPr/>
        </p:nvGrpSpPr>
        <p:grpSpPr>
          <a:xfrm rot="0">
            <a:off x="16924972" y="1497922"/>
            <a:ext cx="301752" cy="301752"/>
            <a:chOff x="0" y="0"/>
            <a:chExt cx="402336" cy="402336"/>
          </a:xfrm>
        </p:grpSpPr>
        <p:sp>
          <p:nvSpPr>
            <p:cNvPr name="Freeform 22" id="22"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6"/>
              <a:stretch>
                <a:fillRect l="0" t="0" r="0" b="0"/>
              </a:stretch>
            </a:blipFill>
          </p:spPr>
        </p:sp>
      </p:grpSp>
      <p:grpSp>
        <p:nvGrpSpPr>
          <p:cNvPr name="Group 23" id="23"/>
          <p:cNvGrpSpPr/>
          <p:nvPr/>
        </p:nvGrpSpPr>
        <p:grpSpPr>
          <a:xfrm rot="0">
            <a:off x="10917364" y="1374478"/>
            <a:ext cx="5870448" cy="564812"/>
            <a:chOff x="0" y="0"/>
            <a:chExt cx="7827264" cy="753083"/>
          </a:xfrm>
        </p:grpSpPr>
        <p:sp>
          <p:nvSpPr>
            <p:cNvPr name="Freeform 24" id="24"/>
            <p:cNvSpPr/>
            <p:nvPr/>
          </p:nvSpPr>
          <p:spPr>
            <a:xfrm flipH="false" flipV="false" rot="0">
              <a:off x="0" y="0"/>
              <a:ext cx="7827264" cy="753083"/>
            </a:xfrm>
            <a:custGeom>
              <a:avLst/>
              <a:gdLst/>
              <a:ahLst/>
              <a:cxnLst/>
              <a:rect r="r" b="b" t="t" l="l"/>
              <a:pathLst>
                <a:path h="753083" w="7827264">
                  <a:moveTo>
                    <a:pt x="0" y="0"/>
                  </a:moveTo>
                  <a:lnTo>
                    <a:pt x="7827264" y="0"/>
                  </a:lnTo>
                  <a:lnTo>
                    <a:pt x="7827264" y="753083"/>
                  </a:lnTo>
                  <a:lnTo>
                    <a:pt x="0" y="753083"/>
                  </a:lnTo>
                  <a:close/>
                </a:path>
              </a:pathLst>
            </a:custGeom>
            <a:blipFill>
              <a:blip r:embed="rId4">
                <a:alphaModFix amt="0"/>
              </a:blip>
              <a:stretch>
                <a:fillRect l="0" t="-153951" r="0" b="-151088"/>
              </a:stretch>
            </a:blipFill>
          </p:spPr>
        </p:sp>
        <p:sp>
          <p:nvSpPr>
            <p:cNvPr name="TextBox 25" id="25"/>
            <p:cNvSpPr txBox="true"/>
            <p:nvPr/>
          </p:nvSpPr>
          <p:spPr>
            <a:xfrm>
              <a:off x="0" y="-9525"/>
              <a:ext cx="7827264" cy="762608"/>
            </a:xfrm>
            <a:prstGeom prst="rect">
              <a:avLst/>
            </a:prstGeom>
          </p:spPr>
          <p:txBody>
            <a:bodyPr anchor="ctr" rtlCol="false" tIns="0" lIns="0" bIns="0" rIns="0"/>
            <a:lstStyle/>
            <a:p>
              <a:pPr algn="r" rtl="true">
                <a:lnSpc>
                  <a:spcPts val="2340"/>
                </a:lnSpc>
              </a:pPr>
              <a:r>
                <a:rPr lang="ar-EG" b="true" sz="1950" spc="19">
                  <a:solidFill>
                    <a:srgbClr val="D4AF55"/>
                  </a:solidFill>
                  <a:latin typeface="XM Traffic Bold"/>
                  <a:ea typeface="XM Traffic Bold"/>
                  <a:cs typeface="XM Traffic Bold"/>
                  <a:sym typeface="XM Traffic Bold"/>
                  <a:rtl val="true"/>
                </a:rPr>
                <a:t>المجمعة — مغامرة بين النخيل</a:t>
              </a:r>
            </a:p>
          </p:txBody>
        </p:sp>
      </p:grpSp>
      <p:sp>
        <p:nvSpPr>
          <p:cNvPr name="TextBox 26" id="26"/>
          <p:cNvSpPr txBox="true"/>
          <p:nvPr/>
        </p:nvSpPr>
        <p:spPr>
          <a:xfrm rot="0">
            <a:off x="7673816" y="2139315"/>
            <a:ext cx="9779508" cy="819150"/>
          </a:xfrm>
          <a:prstGeom prst="rect">
            <a:avLst/>
          </a:prstGeom>
        </p:spPr>
        <p:txBody>
          <a:bodyPr anchor="t" rtlCol="false" tIns="0" lIns="0" bIns="0" rIns="0">
            <a:spAutoFit/>
          </a:bodyPr>
          <a:lstStyle/>
          <a:p>
            <a:pPr algn="r" rtl="true">
              <a:lnSpc>
                <a:spcPts val="6480"/>
              </a:lnSpc>
            </a:pPr>
            <a:r>
              <a:rPr lang="ar-EG" b="true" sz="5400" spc="55">
                <a:solidFill>
                  <a:srgbClr val="F3EADB"/>
                </a:solidFill>
                <a:latin typeface="XM Traffic Bold"/>
                <a:ea typeface="XM Traffic Bold"/>
                <a:cs typeface="XM Traffic Bold"/>
                <a:sym typeface="XM Traffic Bold"/>
                <a:rtl val="true"/>
              </a:rPr>
              <a:t>ثلاثة كيلومترات من المغامرة</a:t>
            </a:r>
          </a:p>
        </p:txBody>
      </p:sp>
      <p:sp>
        <p:nvSpPr>
          <p:cNvPr name="TextBox 27" id="27"/>
          <p:cNvSpPr txBox="true"/>
          <p:nvPr/>
        </p:nvSpPr>
        <p:spPr>
          <a:xfrm rot="0">
            <a:off x="7680960" y="3253740"/>
            <a:ext cx="9779508" cy="1958340"/>
          </a:xfrm>
          <a:prstGeom prst="rect">
            <a:avLst/>
          </a:prstGeom>
        </p:spPr>
        <p:txBody>
          <a:bodyPr anchor="t" rtlCol="false" tIns="0" lIns="0" bIns="0" rIns="0">
            <a:spAutoFit/>
          </a:bodyPr>
          <a:lstStyle/>
          <a:p>
            <a:pPr algn="r">
              <a:lnSpc>
                <a:spcPts val="3104"/>
              </a:lnSpc>
            </a:pPr>
            <a:r>
              <a:rPr lang="ar-EG" sz="2250" spc="23">
                <a:solidFill>
                  <a:srgbClr val="E3D4BC"/>
                </a:solidFill>
                <a:latin typeface="XM Traffic"/>
                <a:ea typeface="XM Traffic"/>
                <a:cs typeface="XM Traffic"/>
                <a:sym typeface="XM Traffic"/>
                <a:rtl val="true"/>
              </a:rPr>
              <a:t>من الهب الرئيسي، تبدأ رحلة مختلفة بين النخيل؛ مسار يقارب ثلاثة كيلومترات يمنح الزائر فرصة لاكتشاف المزارع من منظور جديد، سيرًا أو عبر تجارب مغامرات منظمة</a:t>
            </a:r>
            <a:r>
              <a:rPr lang="en-US" sz="2250" spc="23">
                <a:solidFill>
                  <a:srgbClr val="E3D4BC"/>
                </a:solidFill>
                <a:latin typeface="XM Traffic"/>
                <a:ea typeface="XM Traffic"/>
                <a:cs typeface="XM Traffic"/>
                <a:sym typeface="XM Traffic"/>
              </a:rPr>
              <a:t>.</a:t>
            </a:r>
          </a:p>
        </p:txBody>
      </p:sp>
      <p:grpSp>
        <p:nvGrpSpPr>
          <p:cNvPr name="Group 28" id="28"/>
          <p:cNvGrpSpPr/>
          <p:nvPr/>
        </p:nvGrpSpPr>
        <p:grpSpPr>
          <a:xfrm rot="0">
            <a:off x="7680960" y="5239512"/>
            <a:ext cx="9779508" cy="411480"/>
            <a:chOff x="0" y="0"/>
            <a:chExt cx="13039344" cy="548640"/>
          </a:xfrm>
        </p:grpSpPr>
        <p:sp>
          <p:nvSpPr>
            <p:cNvPr name="Freeform 29" id="29"/>
            <p:cNvSpPr/>
            <p:nvPr/>
          </p:nvSpPr>
          <p:spPr>
            <a:xfrm flipH="false" flipV="false" rot="0">
              <a:off x="0" y="0"/>
              <a:ext cx="13039344" cy="548640"/>
            </a:xfrm>
            <a:custGeom>
              <a:avLst/>
              <a:gdLst/>
              <a:ahLst/>
              <a:cxnLst/>
              <a:rect r="r" b="b" t="t" l="l"/>
              <a:pathLst>
                <a:path h="548640" w="13039344">
                  <a:moveTo>
                    <a:pt x="0" y="0"/>
                  </a:moveTo>
                  <a:lnTo>
                    <a:pt x="13039344" y="0"/>
                  </a:lnTo>
                  <a:lnTo>
                    <a:pt x="13039344" y="548640"/>
                  </a:lnTo>
                  <a:lnTo>
                    <a:pt x="0" y="548640"/>
                  </a:lnTo>
                  <a:close/>
                </a:path>
              </a:pathLst>
            </a:custGeom>
            <a:blipFill>
              <a:blip r:embed="rId4">
                <a:alphaModFix amt="0"/>
              </a:blip>
              <a:stretch>
                <a:fillRect l="0" t="-413094" r="0" b="-413094"/>
              </a:stretch>
            </a:blipFill>
          </p:spPr>
        </p:sp>
        <p:sp>
          <p:nvSpPr>
            <p:cNvPr name="TextBox 30" id="30"/>
            <p:cNvSpPr txBox="true"/>
            <p:nvPr/>
          </p:nvSpPr>
          <p:spPr>
            <a:xfrm>
              <a:off x="0" y="0"/>
              <a:ext cx="13039344" cy="548640"/>
            </a:xfrm>
            <a:prstGeom prst="rect">
              <a:avLst/>
            </a:prstGeom>
          </p:spPr>
          <p:txBody>
            <a:bodyPr anchor="ctr" rtlCol="false" tIns="0" lIns="0" bIns="0" rIns="0"/>
            <a:lstStyle/>
            <a:p>
              <a:pPr algn="r" rtl="true">
                <a:lnSpc>
                  <a:spcPts val="2520"/>
                </a:lnSpc>
              </a:pPr>
              <a:r>
                <a:rPr lang="ar-EG" b="true" sz="2100" spc="21">
                  <a:solidFill>
                    <a:srgbClr val="D4AF55"/>
                  </a:solidFill>
                  <a:latin typeface="XM Traffic Bold"/>
                  <a:ea typeface="XM Traffic Bold"/>
                  <a:cs typeface="XM Traffic Bold"/>
                  <a:sym typeface="XM Traffic Bold"/>
                  <a:rtl val="true"/>
                </a:rPr>
                <a:t>التجارب المقترحة</a:t>
              </a:r>
            </a:p>
          </p:txBody>
        </p:sp>
      </p:grpSp>
      <p:grpSp>
        <p:nvGrpSpPr>
          <p:cNvPr name="Group 31" id="31"/>
          <p:cNvGrpSpPr/>
          <p:nvPr/>
        </p:nvGrpSpPr>
        <p:grpSpPr>
          <a:xfrm rot="0">
            <a:off x="12700730" y="5781008"/>
            <a:ext cx="4766882" cy="837248"/>
            <a:chOff x="0" y="0"/>
            <a:chExt cx="6355842" cy="1116330"/>
          </a:xfrm>
        </p:grpSpPr>
        <p:sp>
          <p:nvSpPr>
            <p:cNvPr name="Freeform 32" id="32"/>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33" id="33"/>
          <p:cNvGrpSpPr/>
          <p:nvPr/>
        </p:nvGrpSpPr>
        <p:grpSpPr>
          <a:xfrm rot="0">
            <a:off x="16719804" y="5911596"/>
            <a:ext cx="576072" cy="576072"/>
            <a:chOff x="0" y="0"/>
            <a:chExt cx="768096" cy="768096"/>
          </a:xfrm>
        </p:grpSpPr>
        <p:sp>
          <p:nvSpPr>
            <p:cNvPr name="Freeform 34" id="3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AF55"/>
            </a:solidFill>
          </p:spPr>
        </p:sp>
      </p:grpSp>
      <p:grpSp>
        <p:nvGrpSpPr>
          <p:cNvPr name="Group 35" id="35"/>
          <p:cNvGrpSpPr/>
          <p:nvPr/>
        </p:nvGrpSpPr>
        <p:grpSpPr>
          <a:xfrm rot="0">
            <a:off x="16863822" y="6055614"/>
            <a:ext cx="288036" cy="288036"/>
            <a:chOff x="0" y="0"/>
            <a:chExt cx="384048" cy="384048"/>
          </a:xfrm>
        </p:grpSpPr>
        <p:sp>
          <p:nvSpPr>
            <p:cNvPr name="Freeform 36" id="36"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7"/>
              <a:stretch>
                <a:fillRect l="0" t="0" r="0" b="0"/>
              </a:stretch>
            </a:blipFill>
          </p:spPr>
        </p:sp>
      </p:grpSp>
      <p:grpSp>
        <p:nvGrpSpPr>
          <p:cNvPr name="Group 37" id="37"/>
          <p:cNvGrpSpPr/>
          <p:nvPr/>
        </p:nvGrpSpPr>
        <p:grpSpPr>
          <a:xfrm rot="0">
            <a:off x="12872466" y="5788152"/>
            <a:ext cx="3682746" cy="822960"/>
            <a:chOff x="0" y="0"/>
            <a:chExt cx="4910328" cy="1097280"/>
          </a:xfrm>
        </p:grpSpPr>
        <p:sp>
          <p:nvSpPr>
            <p:cNvPr name="Freeform 38" id="38"/>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39" id="39"/>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مسار للمشي والاستكشاف بين النخيل</a:t>
              </a:r>
            </a:p>
          </p:txBody>
        </p:sp>
      </p:grpSp>
      <p:grpSp>
        <p:nvGrpSpPr>
          <p:cNvPr name="Group 40" id="40"/>
          <p:cNvGrpSpPr/>
          <p:nvPr/>
        </p:nvGrpSpPr>
        <p:grpSpPr>
          <a:xfrm rot="0">
            <a:off x="7673816" y="5781008"/>
            <a:ext cx="4766882" cy="837248"/>
            <a:chOff x="0" y="0"/>
            <a:chExt cx="6355842" cy="1116330"/>
          </a:xfrm>
        </p:grpSpPr>
        <p:sp>
          <p:nvSpPr>
            <p:cNvPr name="Freeform 41" id="41"/>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42" id="42"/>
          <p:cNvGrpSpPr/>
          <p:nvPr/>
        </p:nvGrpSpPr>
        <p:grpSpPr>
          <a:xfrm rot="0">
            <a:off x="11692890" y="5911596"/>
            <a:ext cx="576072" cy="576072"/>
            <a:chOff x="0" y="0"/>
            <a:chExt cx="768096" cy="768096"/>
          </a:xfrm>
        </p:grpSpPr>
        <p:sp>
          <p:nvSpPr>
            <p:cNvPr name="Freeform 43" id="43"/>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AF55"/>
            </a:solidFill>
          </p:spPr>
        </p:sp>
      </p:grpSp>
      <p:grpSp>
        <p:nvGrpSpPr>
          <p:cNvPr name="Group 44" id="44"/>
          <p:cNvGrpSpPr/>
          <p:nvPr/>
        </p:nvGrpSpPr>
        <p:grpSpPr>
          <a:xfrm rot="0">
            <a:off x="11836908" y="6055614"/>
            <a:ext cx="288036" cy="288036"/>
            <a:chOff x="0" y="0"/>
            <a:chExt cx="384048" cy="384048"/>
          </a:xfrm>
        </p:grpSpPr>
        <p:sp>
          <p:nvSpPr>
            <p:cNvPr name="Freeform 45" id="45"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8"/>
              <a:stretch>
                <a:fillRect l="0" t="0" r="0" b="0"/>
              </a:stretch>
            </a:blipFill>
          </p:spPr>
        </p:sp>
      </p:grpSp>
      <p:grpSp>
        <p:nvGrpSpPr>
          <p:cNvPr name="Group 46" id="46"/>
          <p:cNvGrpSpPr/>
          <p:nvPr/>
        </p:nvGrpSpPr>
        <p:grpSpPr>
          <a:xfrm rot="0">
            <a:off x="7845552" y="5788152"/>
            <a:ext cx="3682746" cy="822960"/>
            <a:chOff x="0" y="0"/>
            <a:chExt cx="4910328" cy="1097280"/>
          </a:xfrm>
        </p:grpSpPr>
        <p:sp>
          <p:nvSpPr>
            <p:cNvPr name="Freeform 47" id="47"/>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48" id="48"/>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تجربة الدراجات الهوائية</a:t>
              </a:r>
            </a:p>
          </p:txBody>
        </p:sp>
      </p:grpSp>
      <p:grpSp>
        <p:nvGrpSpPr>
          <p:cNvPr name="Group 49" id="49"/>
          <p:cNvGrpSpPr/>
          <p:nvPr/>
        </p:nvGrpSpPr>
        <p:grpSpPr>
          <a:xfrm rot="0">
            <a:off x="12700730" y="6713696"/>
            <a:ext cx="4766882" cy="837248"/>
            <a:chOff x="0" y="0"/>
            <a:chExt cx="6355842" cy="1116330"/>
          </a:xfrm>
        </p:grpSpPr>
        <p:sp>
          <p:nvSpPr>
            <p:cNvPr name="Freeform 50" id="50"/>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51" id="51"/>
          <p:cNvGrpSpPr/>
          <p:nvPr/>
        </p:nvGrpSpPr>
        <p:grpSpPr>
          <a:xfrm rot="0">
            <a:off x="16719804" y="6844284"/>
            <a:ext cx="576072" cy="576072"/>
            <a:chOff x="0" y="0"/>
            <a:chExt cx="768096" cy="768096"/>
          </a:xfrm>
        </p:grpSpPr>
        <p:sp>
          <p:nvSpPr>
            <p:cNvPr name="Freeform 52" id="52"/>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AF55"/>
            </a:solidFill>
          </p:spPr>
        </p:sp>
      </p:grpSp>
      <p:grpSp>
        <p:nvGrpSpPr>
          <p:cNvPr name="Group 53" id="53"/>
          <p:cNvGrpSpPr/>
          <p:nvPr/>
        </p:nvGrpSpPr>
        <p:grpSpPr>
          <a:xfrm rot="0">
            <a:off x="16863822" y="6988302"/>
            <a:ext cx="288036" cy="288036"/>
            <a:chOff x="0" y="0"/>
            <a:chExt cx="384048" cy="384048"/>
          </a:xfrm>
        </p:grpSpPr>
        <p:sp>
          <p:nvSpPr>
            <p:cNvPr name="Freeform 54" id="54"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9"/>
              <a:stretch>
                <a:fillRect l="0" t="0" r="0" b="0"/>
              </a:stretch>
            </a:blipFill>
          </p:spPr>
        </p:sp>
      </p:grpSp>
      <p:grpSp>
        <p:nvGrpSpPr>
          <p:cNvPr name="Group 55" id="55"/>
          <p:cNvGrpSpPr/>
          <p:nvPr/>
        </p:nvGrpSpPr>
        <p:grpSpPr>
          <a:xfrm rot="0">
            <a:off x="12872466" y="6720840"/>
            <a:ext cx="3682746" cy="822960"/>
            <a:chOff x="0" y="0"/>
            <a:chExt cx="4910328" cy="1097280"/>
          </a:xfrm>
        </p:grpSpPr>
        <p:sp>
          <p:nvSpPr>
            <p:cNvPr name="Freeform 56" id="56"/>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57" id="57"/>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جولات بالدراجات النارية أو الدبابات بإشراف مختصين</a:t>
              </a:r>
            </a:p>
          </p:txBody>
        </p:sp>
      </p:grpSp>
      <p:grpSp>
        <p:nvGrpSpPr>
          <p:cNvPr name="Group 58" id="58"/>
          <p:cNvGrpSpPr/>
          <p:nvPr/>
        </p:nvGrpSpPr>
        <p:grpSpPr>
          <a:xfrm rot="0">
            <a:off x="7673816" y="6713696"/>
            <a:ext cx="4766882" cy="837248"/>
            <a:chOff x="0" y="0"/>
            <a:chExt cx="6355842" cy="1116330"/>
          </a:xfrm>
        </p:grpSpPr>
        <p:sp>
          <p:nvSpPr>
            <p:cNvPr name="Freeform 59" id="59"/>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60" id="60"/>
          <p:cNvGrpSpPr/>
          <p:nvPr/>
        </p:nvGrpSpPr>
        <p:grpSpPr>
          <a:xfrm rot="0">
            <a:off x="11692890" y="6844284"/>
            <a:ext cx="576072" cy="576072"/>
            <a:chOff x="0" y="0"/>
            <a:chExt cx="768096" cy="768096"/>
          </a:xfrm>
        </p:grpSpPr>
        <p:sp>
          <p:nvSpPr>
            <p:cNvPr name="Freeform 61" id="6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AF55"/>
            </a:solidFill>
          </p:spPr>
        </p:sp>
      </p:grpSp>
      <p:grpSp>
        <p:nvGrpSpPr>
          <p:cNvPr name="Group 62" id="62"/>
          <p:cNvGrpSpPr/>
          <p:nvPr/>
        </p:nvGrpSpPr>
        <p:grpSpPr>
          <a:xfrm rot="0">
            <a:off x="11836908" y="6988302"/>
            <a:ext cx="288036" cy="288036"/>
            <a:chOff x="0" y="0"/>
            <a:chExt cx="384048" cy="384048"/>
          </a:xfrm>
        </p:grpSpPr>
        <p:sp>
          <p:nvSpPr>
            <p:cNvPr name="Freeform 63" id="63"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0"/>
              <a:stretch>
                <a:fillRect l="0" t="0" r="0" b="0"/>
              </a:stretch>
            </a:blipFill>
          </p:spPr>
        </p:sp>
      </p:grpSp>
      <p:grpSp>
        <p:nvGrpSpPr>
          <p:cNvPr name="Group 64" id="64"/>
          <p:cNvGrpSpPr/>
          <p:nvPr/>
        </p:nvGrpSpPr>
        <p:grpSpPr>
          <a:xfrm rot="0">
            <a:off x="7845552" y="6720840"/>
            <a:ext cx="3682746" cy="822960"/>
            <a:chOff x="0" y="0"/>
            <a:chExt cx="4910328" cy="1097280"/>
          </a:xfrm>
        </p:grpSpPr>
        <p:sp>
          <p:nvSpPr>
            <p:cNvPr name="Freeform 65" id="65"/>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66" id="66"/>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نقاط توقف للتصوير والتعرّف على البيئة الزراعية</a:t>
              </a:r>
            </a:p>
          </p:txBody>
        </p:sp>
      </p:grpSp>
      <p:grpSp>
        <p:nvGrpSpPr>
          <p:cNvPr name="Group 67" id="67"/>
          <p:cNvGrpSpPr/>
          <p:nvPr/>
        </p:nvGrpSpPr>
        <p:grpSpPr>
          <a:xfrm rot="0">
            <a:off x="12700730" y="7646384"/>
            <a:ext cx="4766882" cy="837248"/>
            <a:chOff x="0" y="0"/>
            <a:chExt cx="6355842" cy="1116330"/>
          </a:xfrm>
        </p:grpSpPr>
        <p:sp>
          <p:nvSpPr>
            <p:cNvPr name="Freeform 68" id="68"/>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69" id="69"/>
          <p:cNvGrpSpPr/>
          <p:nvPr/>
        </p:nvGrpSpPr>
        <p:grpSpPr>
          <a:xfrm rot="0">
            <a:off x="16719804" y="7776972"/>
            <a:ext cx="576072" cy="576072"/>
            <a:chOff x="0" y="0"/>
            <a:chExt cx="768096" cy="768096"/>
          </a:xfrm>
        </p:grpSpPr>
        <p:sp>
          <p:nvSpPr>
            <p:cNvPr name="Freeform 70" id="7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AF55"/>
            </a:solidFill>
          </p:spPr>
        </p:sp>
      </p:grpSp>
      <p:grpSp>
        <p:nvGrpSpPr>
          <p:cNvPr name="Group 71" id="71"/>
          <p:cNvGrpSpPr/>
          <p:nvPr/>
        </p:nvGrpSpPr>
        <p:grpSpPr>
          <a:xfrm rot="0">
            <a:off x="16863822" y="7920990"/>
            <a:ext cx="288036" cy="288036"/>
            <a:chOff x="0" y="0"/>
            <a:chExt cx="384048" cy="384048"/>
          </a:xfrm>
        </p:grpSpPr>
        <p:sp>
          <p:nvSpPr>
            <p:cNvPr name="Freeform 72" id="72"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1"/>
              <a:stretch>
                <a:fillRect l="0" t="0" r="0" b="0"/>
              </a:stretch>
            </a:blipFill>
          </p:spPr>
        </p:sp>
      </p:grpSp>
      <p:grpSp>
        <p:nvGrpSpPr>
          <p:cNvPr name="Group 73" id="73"/>
          <p:cNvGrpSpPr/>
          <p:nvPr/>
        </p:nvGrpSpPr>
        <p:grpSpPr>
          <a:xfrm rot="0">
            <a:off x="12872466" y="7653528"/>
            <a:ext cx="3682746" cy="822960"/>
            <a:chOff x="0" y="0"/>
            <a:chExt cx="4910328" cy="1097280"/>
          </a:xfrm>
        </p:grpSpPr>
        <p:sp>
          <p:nvSpPr>
            <p:cNvPr name="Freeform 74" id="74"/>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75" id="75"/>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ضيافة محلية عند نقطة الانطلاق والعودة</a:t>
              </a:r>
            </a:p>
          </p:txBody>
        </p:sp>
      </p:grpSp>
      <p:grpSp>
        <p:nvGrpSpPr>
          <p:cNvPr name="Group 76" id="76"/>
          <p:cNvGrpSpPr/>
          <p:nvPr/>
        </p:nvGrpSpPr>
        <p:grpSpPr>
          <a:xfrm rot="0">
            <a:off x="7673816" y="7646384"/>
            <a:ext cx="4766882" cy="837248"/>
            <a:chOff x="0" y="0"/>
            <a:chExt cx="6355842" cy="1116330"/>
          </a:xfrm>
        </p:grpSpPr>
        <p:sp>
          <p:nvSpPr>
            <p:cNvPr name="Freeform 77" id="77"/>
            <p:cNvSpPr/>
            <p:nvPr/>
          </p:nvSpPr>
          <p:spPr>
            <a:xfrm flipH="false" flipV="false" rot="0">
              <a:off x="0" y="0"/>
              <a:ext cx="6355842" cy="1116330"/>
            </a:xfrm>
            <a:custGeom>
              <a:avLst/>
              <a:gdLst/>
              <a:ahLst/>
              <a:cxnLst/>
              <a:rect r="r" b="b" t="t" l="l"/>
              <a:pathLst>
                <a:path h="1116330" w="6355842">
                  <a:moveTo>
                    <a:pt x="0" y="260477"/>
                  </a:moveTo>
                  <a:cubicBezTo>
                    <a:pt x="0" y="116586"/>
                    <a:pt x="116586" y="0"/>
                    <a:pt x="260477" y="0"/>
                  </a:cubicBezTo>
                  <a:lnTo>
                    <a:pt x="6095365" y="0"/>
                  </a:lnTo>
                  <a:cubicBezTo>
                    <a:pt x="6239256" y="0"/>
                    <a:pt x="6355842" y="116586"/>
                    <a:pt x="6355842" y="260477"/>
                  </a:cubicBezTo>
                  <a:lnTo>
                    <a:pt x="6355842" y="855853"/>
                  </a:lnTo>
                  <a:cubicBezTo>
                    <a:pt x="6355842" y="999744"/>
                    <a:pt x="6239256" y="1116330"/>
                    <a:pt x="6095365"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78" id="78"/>
          <p:cNvGrpSpPr/>
          <p:nvPr/>
        </p:nvGrpSpPr>
        <p:grpSpPr>
          <a:xfrm rot="0">
            <a:off x="11692890" y="7776972"/>
            <a:ext cx="576072" cy="576072"/>
            <a:chOff x="0" y="0"/>
            <a:chExt cx="768096" cy="768096"/>
          </a:xfrm>
        </p:grpSpPr>
        <p:sp>
          <p:nvSpPr>
            <p:cNvPr name="Freeform 79" id="79"/>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D4AF55"/>
            </a:solidFill>
          </p:spPr>
        </p:sp>
      </p:grpSp>
      <p:grpSp>
        <p:nvGrpSpPr>
          <p:cNvPr name="Group 80" id="80"/>
          <p:cNvGrpSpPr/>
          <p:nvPr/>
        </p:nvGrpSpPr>
        <p:grpSpPr>
          <a:xfrm rot="0">
            <a:off x="11836908" y="7920990"/>
            <a:ext cx="288036" cy="288036"/>
            <a:chOff x="0" y="0"/>
            <a:chExt cx="384048" cy="384048"/>
          </a:xfrm>
        </p:grpSpPr>
        <p:sp>
          <p:nvSpPr>
            <p:cNvPr name="Freeform 81" id="81"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2"/>
              <a:stretch>
                <a:fillRect l="0" t="0" r="0" b="0"/>
              </a:stretch>
            </a:blipFill>
          </p:spPr>
        </p:sp>
      </p:grpSp>
      <p:grpSp>
        <p:nvGrpSpPr>
          <p:cNvPr name="Group 82" id="82"/>
          <p:cNvGrpSpPr/>
          <p:nvPr/>
        </p:nvGrpSpPr>
        <p:grpSpPr>
          <a:xfrm rot="0">
            <a:off x="7845552" y="7653528"/>
            <a:ext cx="3682746" cy="822960"/>
            <a:chOff x="0" y="0"/>
            <a:chExt cx="4910328" cy="1097280"/>
          </a:xfrm>
        </p:grpSpPr>
        <p:sp>
          <p:nvSpPr>
            <p:cNvPr name="Freeform 83" id="83"/>
            <p:cNvSpPr/>
            <p:nvPr/>
          </p:nvSpPr>
          <p:spPr>
            <a:xfrm flipH="false" flipV="false" rot="0">
              <a:off x="0" y="0"/>
              <a:ext cx="4910328" cy="1097280"/>
            </a:xfrm>
            <a:custGeom>
              <a:avLst/>
              <a:gdLst/>
              <a:ahLst/>
              <a:cxnLst/>
              <a:rect r="r" b="b" t="t" l="l"/>
              <a:pathLst>
                <a:path h="1097280" w="4910328">
                  <a:moveTo>
                    <a:pt x="0" y="0"/>
                  </a:moveTo>
                  <a:lnTo>
                    <a:pt x="4910328" y="0"/>
                  </a:lnTo>
                  <a:lnTo>
                    <a:pt x="4910328" y="1097280"/>
                  </a:lnTo>
                  <a:lnTo>
                    <a:pt x="0" y="1097280"/>
                  </a:lnTo>
                  <a:close/>
                </a:path>
              </a:pathLst>
            </a:custGeom>
            <a:blipFill>
              <a:blip r:embed="rId4">
                <a:alphaModFix amt="0"/>
              </a:blip>
              <a:stretch>
                <a:fillRect l="0" t="-37195" r="0" b="-37195"/>
              </a:stretch>
            </a:blipFill>
          </p:spPr>
        </p:sp>
        <p:sp>
          <p:nvSpPr>
            <p:cNvPr name="TextBox 84" id="84"/>
            <p:cNvSpPr txBox="true"/>
            <p:nvPr/>
          </p:nvSpPr>
          <p:spPr>
            <a:xfrm>
              <a:off x="0" y="0"/>
              <a:ext cx="4910328"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منتجات زراعية ومحلية يمكن اقتناؤها</a:t>
              </a:r>
            </a:p>
          </p:txBody>
        </p:sp>
      </p:grpSp>
      <p:grpSp>
        <p:nvGrpSpPr>
          <p:cNvPr name="Group 85" id="85"/>
          <p:cNvGrpSpPr/>
          <p:nvPr/>
        </p:nvGrpSpPr>
        <p:grpSpPr>
          <a:xfrm rot="0">
            <a:off x="7680960" y="9669780"/>
            <a:ext cx="9779508" cy="342900"/>
            <a:chOff x="0" y="0"/>
            <a:chExt cx="13039344" cy="457200"/>
          </a:xfrm>
        </p:grpSpPr>
        <p:sp>
          <p:nvSpPr>
            <p:cNvPr name="Freeform 86" id="86"/>
            <p:cNvSpPr/>
            <p:nvPr/>
          </p:nvSpPr>
          <p:spPr>
            <a:xfrm flipH="false" flipV="false" rot="0">
              <a:off x="0" y="0"/>
              <a:ext cx="13039344" cy="457200"/>
            </a:xfrm>
            <a:custGeom>
              <a:avLst/>
              <a:gdLst/>
              <a:ahLst/>
              <a:cxnLst/>
              <a:rect r="r" b="b" t="t" l="l"/>
              <a:pathLst>
                <a:path h="457200" w="13039344">
                  <a:moveTo>
                    <a:pt x="0" y="0"/>
                  </a:moveTo>
                  <a:lnTo>
                    <a:pt x="13039344" y="0"/>
                  </a:lnTo>
                  <a:lnTo>
                    <a:pt x="13039344" y="457200"/>
                  </a:lnTo>
                  <a:lnTo>
                    <a:pt x="0" y="457200"/>
                  </a:lnTo>
                  <a:close/>
                </a:path>
              </a:pathLst>
            </a:custGeom>
            <a:blipFill>
              <a:blip r:embed="rId4">
                <a:alphaModFix amt="0"/>
              </a:blip>
              <a:stretch>
                <a:fillRect l="0" t="-505713" r="0" b="-505713"/>
              </a:stretch>
            </a:blipFill>
          </p:spPr>
        </p:sp>
        <p:sp>
          <p:nvSpPr>
            <p:cNvPr name="TextBox 87" id="87"/>
            <p:cNvSpPr txBox="true"/>
            <p:nvPr/>
          </p:nvSpPr>
          <p:spPr>
            <a:xfrm>
              <a:off x="0" y="0"/>
              <a:ext cx="13039344" cy="457200"/>
            </a:xfrm>
            <a:prstGeom prst="rect">
              <a:avLst/>
            </a:prstGeom>
          </p:spPr>
          <p:txBody>
            <a:bodyPr anchor="ctr" rtlCol="false" tIns="0" lIns="0" bIns="0" rIns="0"/>
            <a:lstStyle/>
            <a:p>
              <a:pPr algn="r" rtl="true">
                <a:lnSpc>
                  <a:spcPts val="1800"/>
                </a:lnSpc>
              </a:pPr>
              <a:r>
                <a:rPr lang="ar-EG" sz="1500" spc="15">
                  <a:solidFill>
                    <a:srgbClr val="CDB79A"/>
                  </a:solidFill>
                  <a:latin typeface="XM Traffic"/>
                  <a:ea typeface="XM Traffic"/>
                  <a:cs typeface="XM Traffic"/>
                  <a:sym typeface="XM Traffic"/>
                  <a:rtl val="true"/>
                </a:rPr>
                <a:t>تصوّر تطويري مقترح</a:t>
              </a:r>
            </a:p>
          </p:txBody>
        </p:sp>
      </p:grpSp>
      <p:grpSp>
        <p:nvGrpSpPr>
          <p:cNvPr name="Group 88" id="88"/>
          <p:cNvGrpSpPr/>
          <p:nvPr/>
        </p:nvGrpSpPr>
        <p:grpSpPr>
          <a:xfrm rot="0">
            <a:off x="7265632" y="1367334"/>
            <a:ext cx="3314290" cy="562928"/>
            <a:chOff x="0" y="0"/>
            <a:chExt cx="4419054" cy="750570"/>
          </a:xfrm>
        </p:grpSpPr>
        <p:sp>
          <p:nvSpPr>
            <p:cNvPr name="Freeform 89" id="89" descr="رابط الموقع على خرائط قوقل">
              <a:hlinkClick r:id="rId13" tooltip="https://www.google.com/maps/search/?api=1&amp;query=%D9%85%D8%B2%D8%A7%D8%B1%D8%B9%20%D8%A7%D9%84%D8%AC%D9%88%20%D8%A7%D9%84%D9%85%D8%AC%D9%85%D8%B9%D8%A9"/>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D9A66B"/>
            </a:solidFill>
            <a:ln w="14288" cap="sq">
              <a:solidFill>
                <a:srgbClr val="D9A66B"/>
              </a:solidFill>
              <a:prstDash val="solid"/>
              <a:miter/>
            </a:ln>
          </p:spPr>
        </p:sp>
      </p:grpSp>
      <p:grpSp>
        <p:nvGrpSpPr>
          <p:cNvPr name="Group 90" id="90"/>
          <p:cNvGrpSpPr/>
          <p:nvPr/>
        </p:nvGrpSpPr>
        <p:grpSpPr>
          <a:xfrm rot="0">
            <a:off x="10076021" y="1497922"/>
            <a:ext cx="301752" cy="301752"/>
            <a:chOff x="0" y="0"/>
            <a:chExt cx="402336" cy="402336"/>
          </a:xfrm>
        </p:grpSpPr>
        <p:sp>
          <p:nvSpPr>
            <p:cNvPr name="Freeform 91" id="91"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4"/>
              <a:stretch>
                <a:fillRect l="0" t="0" r="0" b="0"/>
              </a:stretch>
            </a:blipFill>
          </p:spPr>
        </p:sp>
      </p:grpSp>
      <p:grpSp>
        <p:nvGrpSpPr>
          <p:cNvPr name="Group 92" id="92"/>
          <p:cNvGrpSpPr/>
          <p:nvPr/>
        </p:nvGrpSpPr>
        <p:grpSpPr>
          <a:xfrm rot="0">
            <a:off x="7422775" y="1374478"/>
            <a:ext cx="2548252" cy="548640"/>
            <a:chOff x="0" y="0"/>
            <a:chExt cx="3397669" cy="731520"/>
          </a:xfrm>
        </p:grpSpPr>
        <p:sp>
          <p:nvSpPr>
            <p:cNvPr name="Freeform 93" id="93"/>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4">
                <a:alphaModFix amt="0"/>
              </a:blip>
              <a:stretch>
                <a:fillRect l="0" t="-40501" r="0" b="-40501"/>
              </a:stretch>
            </a:blipFill>
          </p:spPr>
        </p:sp>
        <p:sp>
          <p:nvSpPr>
            <p:cNvPr name="TextBox 94" id="94"/>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3E2D21"/>
                  </a:solidFill>
                  <a:latin typeface="XM Traffic Bold"/>
                  <a:ea typeface="XM Traffic Bold"/>
                  <a:cs typeface="XM Traffic Bold"/>
                  <a:sym typeface="XM Traffic Bold"/>
                  <a:hlinkClick r:id="rId15" tooltip="https://maps.app.goo.gl/PcG3u6xeZU9a99fs9?g_st=iw"/>
                  <a:rtl val="true"/>
                </a:rPr>
                <a:t>موقع مزرعه الجو بـ المجمعه</a:t>
              </a:r>
            </a:p>
          </p:txBody>
        </p:sp>
      </p:grpSp>
      <p:sp>
        <p:nvSpPr>
          <p:cNvPr name="Freeform 95" id="95"/>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6"/>
            <a:stretch>
              <a:fillRect l="0" t="-22113" r="0" b="-17967"/>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0450018" y="1557898"/>
            <a:ext cx="5636866" cy="3170312"/>
            <a:chOff x="0" y="0"/>
            <a:chExt cx="6271642" cy="3527326"/>
          </a:xfrm>
        </p:grpSpPr>
        <p:sp>
          <p:nvSpPr>
            <p:cNvPr name="Freeform 4" id="4"/>
            <p:cNvSpPr/>
            <p:nvPr/>
          </p:nvSpPr>
          <p:spPr>
            <a:xfrm flipH="false" flipV="false" rot="0">
              <a:off x="0" y="0"/>
              <a:ext cx="6271642" cy="3527326"/>
            </a:xfrm>
            <a:custGeom>
              <a:avLst/>
              <a:gdLst/>
              <a:ahLst/>
              <a:cxnLst/>
              <a:rect r="r" b="b" t="t" l="l"/>
              <a:pathLst>
                <a:path h="3527326" w="6271642">
                  <a:moveTo>
                    <a:pt x="0" y="613397"/>
                  </a:moveTo>
                  <a:cubicBezTo>
                    <a:pt x="0" y="274618"/>
                    <a:pt x="93149" y="0"/>
                    <a:pt x="208060" y="0"/>
                  </a:cubicBezTo>
                  <a:lnTo>
                    <a:pt x="6063581" y="0"/>
                  </a:lnTo>
                  <a:cubicBezTo>
                    <a:pt x="6178493" y="0"/>
                    <a:pt x="6271642" y="274618"/>
                    <a:pt x="6271642" y="613397"/>
                  </a:cubicBezTo>
                  <a:lnTo>
                    <a:pt x="6271642" y="2913929"/>
                  </a:lnTo>
                  <a:cubicBezTo>
                    <a:pt x="6271642" y="3252708"/>
                    <a:pt x="6178493" y="3527326"/>
                    <a:pt x="6063581" y="3527326"/>
                  </a:cubicBezTo>
                  <a:lnTo>
                    <a:pt x="208060" y="3527326"/>
                  </a:lnTo>
                  <a:cubicBezTo>
                    <a:pt x="93149" y="3527326"/>
                    <a:pt x="0" y="3252708"/>
                    <a:pt x="0" y="2913929"/>
                  </a:cubicBezTo>
                  <a:close/>
                </a:path>
              </a:pathLst>
            </a:custGeom>
            <a:blipFill>
              <a:blip r:embed="rId4"/>
              <a:stretch>
                <a:fillRect l="-216" t="0" r="-216" b="0"/>
              </a:stretch>
            </a:blipFill>
            <a:ln w="23812" cap="sq">
              <a:solidFill>
                <a:srgbClr val="A68460"/>
              </a:solidFill>
              <a:prstDash val="dash"/>
              <a:miter/>
            </a:ln>
          </p:spPr>
        </p:sp>
      </p:grpSp>
      <p:grpSp>
        <p:nvGrpSpPr>
          <p:cNvPr name="Group 5" id="5"/>
          <p:cNvGrpSpPr/>
          <p:nvPr/>
        </p:nvGrpSpPr>
        <p:grpSpPr>
          <a:xfrm rot="0">
            <a:off x="10951940" y="541496"/>
            <a:ext cx="6515671" cy="562928"/>
            <a:chOff x="0" y="0"/>
            <a:chExt cx="8687562" cy="750570"/>
          </a:xfrm>
        </p:grpSpPr>
        <p:sp>
          <p:nvSpPr>
            <p:cNvPr name="Freeform 6" id="6"/>
            <p:cNvSpPr/>
            <p:nvPr/>
          </p:nvSpPr>
          <p:spPr>
            <a:xfrm flipH="false" flipV="false" rot="0">
              <a:off x="0" y="0"/>
              <a:ext cx="8687562" cy="750570"/>
            </a:xfrm>
            <a:custGeom>
              <a:avLst/>
              <a:gdLst/>
              <a:ahLst/>
              <a:cxnLst/>
              <a:rect r="r" b="b" t="t" l="l"/>
              <a:pathLst>
                <a:path h="750570" w="8687562">
                  <a:moveTo>
                    <a:pt x="0" y="375285"/>
                  </a:moveTo>
                  <a:cubicBezTo>
                    <a:pt x="0" y="168021"/>
                    <a:pt x="168021" y="0"/>
                    <a:pt x="375285" y="0"/>
                  </a:cubicBezTo>
                  <a:lnTo>
                    <a:pt x="8312277" y="0"/>
                  </a:lnTo>
                  <a:cubicBezTo>
                    <a:pt x="8519541" y="0"/>
                    <a:pt x="8687562" y="168021"/>
                    <a:pt x="8687562" y="375285"/>
                  </a:cubicBezTo>
                  <a:cubicBezTo>
                    <a:pt x="8687562" y="582549"/>
                    <a:pt x="8519541" y="750570"/>
                    <a:pt x="8312277" y="750570"/>
                  </a:cubicBezTo>
                  <a:lnTo>
                    <a:pt x="375285" y="750570"/>
                  </a:lnTo>
                  <a:cubicBezTo>
                    <a:pt x="168021" y="750570"/>
                    <a:pt x="0" y="582549"/>
                    <a:pt x="0" y="375285"/>
                  </a:cubicBezTo>
                  <a:close/>
                </a:path>
              </a:pathLst>
            </a:custGeom>
            <a:solidFill>
              <a:srgbClr val="7D5A44">
                <a:alpha val="3137"/>
              </a:srgbClr>
            </a:solidFill>
            <a:ln w="14288" cap="sq">
              <a:solidFill>
                <a:srgbClr val="7D5A44"/>
              </a:solidFill>
              <a:prstDash val="solid"/>
              <a:miter/>
            </a:ln>
          </p:spPr>
        </p:sp>
      </p:grpSp>
      <p:grpSp>
        <p:nvGrpSpPr>
          <p:cNvPr name="Group 7" id="7"/>
          <p:cNvGrpSpPr/>
          <p:nvPr/>
        </p:nvGrpSpPr>
        <p:grpSpPr>
          <a:xfrm rot="0">
            <a:off x="16939260" y="672084"/>
            <a:ext cx="301752" cy="301752"/>
            <a:chOff x="0" y="0"/>
            <a:chExt cx="402336" cy="402336"/>
          </a:xfrm>
        </p:grpSpPr>
        <p:sp>
          <p:nvSpPr>
            <p:cNvPr name="Freeform 8" id="8"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5"/>
              <a:stretch>
                <a:fillRect l="0" t="0" r="0" b="0"/>
              </a:stretch>
            </a:blipFill>
          </p:spPr>
        </p:sp>
      </p:grpSp>
      <p:grpSp>
        <p:nvGrpSpPr>
          <p:cNvPr name="Group 9" id="9"/>
          <p:cNvGrpSpPr/>
          <p:nvPr/>
        </p:nvGrpSpPr>
        <p:grpSpPr>
          <a:xfrm rot="0">
            <a:off x="11123676" y="548640"/>
            <a:ext cx="5678424" cy="564812"/>
            <a:chOff x="0" y="0"/>
            <a:chExt cx="7571232" cy="753083"/>
          </a:xfrm>
        </p:grpSpPr>
        <p:sp>
          <p:nvSpPr>
            <p:cNvPr name="Freeform 10" id="10"/>
            <p:cNvSpPr/>
            <p:nvPr/>
          </p:nvSpPr>
          <p:spPr>
            <a:xfrm flipH="false" flipV="false" rot="0">
              <a:off x="0" y="0"/>
              <a:ext cx="7571232" cy="753083"/>
            </a:xfrm>
            <a:custGeom>
              <a:avLst/>
              <a:gdLst/>
              <a:ahLst/>
              <a:cxnLst/>
              <a:rect r="r" b="b" t="t" l="l"/>
              <a:pathLst>
                <a:path h="753083" w="7571232">
                  <a:moveTo>
                    <a:pt x="0" y="0"/>
                  </a:moveTo>
                  <a:lnTo>
                    <a:pt x="7571232" y="0"/>
                  </a:lnTo>
                  <a:lnTo>
                    <a:pt x="7571232" y="753083"/>
                  </a:lnTo>
                  <a:lnTo>
                    <a:pt x="0" y="753083"/>
                  </a:lnTo>
                  <a:close/>
                </a:path>
              </a:pathLst>
            </a:custGeom>
            <a:blipFill>
              <a:blip r:embed="rId6">
                <a:alphaModFix amt="0"/>
              </a:blip>
              <a:stretch>
                <a:fillRect l="0" t="-147327" r="0" b="-144464"/>
              </a:stretch>
            </a:blipFill>
          </p:spPr>
        </p:sp>
        <p:sp>
          <p:nvSpPr>
            <p:cNvPr name="TextBox 11" id="11"/>
            <p:cNvSpPr txBox="true"/>
            <p:nvPr/>
          </p:nvSpPr>
          <p:spPr>
            <a:xfrm>
              <a:off x="0" y="-9525"/>
              <a:ext cx="7571232" cy="762608"/>
            </a:xfrm>
            <a:prstGeom prst="rect">
              <a:avLst/>
            </a:prstGeom>
          </p:spPr>
          <p:txBody>
            <a:bodyPr anchor="ctr" rtlCol="false" tIns="0" lIns="0" bIns="0" rIns="0"/>
            <a:lstStyle/>
            <a:p>
              <a:pPr algn="r" rtl="true">
                <a:lnSpc>
                  <a:spcPts val="2340"/>
                </a:lnSpc>
              </a:pPr>
              <a:r>
                <a:rPr lang="ar-EG" b="true" sz="1950" spc="20">
                  <a:solidFill>
                    <a:srgbClr val="7D5A44"/>
                  </a:solidFill>
                  <a:latin typeface="XM Traffic Bold"/>
                  <a:ea typeface="XM Traffic Bold"/>
                  <a:cs typeface="XM Traffic Bold"/>
                  <a:sym typeface="XM Traffic Bold"/>
                  <a:rtl val="true"/>
                </a:rPr>
                <a:t>خرطم — إطلالة تستحق التوقف</a:t>
              </a:r>
            </a:p>
          </p:txBody>
        </p:sp>
      </p:grpSp>
      <p:sp>
        <p:nvSpPr>
          <p:cNvPr name="TextBox 12" id="12"/>
          <p:cNvSpPr txBox="true"/>
          <p:nvPr/>
        </p:nvSpPr>
        <p:spPr>
          <a:xfrm rot="0">
            <a:off x="9052560" y="5006340"/>
            <a:ext cx="8407908" cy="1714500"/>
          </a:xfrm>
          <a:prstGeom prst="rect">
            <a:avLst/>
          </a:prstGeom>
        </p:spPr>
        <p:txBody>
          <a:bodyPr anchor="t" rtlCol="false" tIns="0" lIns="0" bIns="0" rIns="0">
            <a:spAutoFit/>
          </a:bodyPr>
          <a:lstStyle/>
          <a:p>
            <a:pPr algn="r" rtl="true">
              <a:lnSpc>
                <a:spcPts val="6480"/>
              </a:lnSpc>
            </a:pPr>
            <a:r>
              <a:rPr lang="ar-EG" b="true" sz="5400" spc="55">
                <a:solidFill>
                  <a:srgbClr val="3B2A1E"/>
                </a:solidFill>
                <a:latin typeface="XM Traffic Bold"/>
                <a:ea typeface="XM Traffic Bold"/>
                <a:cs typeface="XM Traffic Bold"/>
                <a:sym typeface="XM Traffic Bold"/>
                <a:rtl val="true"/>
              </a:rPr>
              <a:t>من أعلى المشهد، تبدأ الحكاية</a:t>
            </a:r>
          </a:p>
        </p:txBody>
      </p:sp>
      <p:sp>
        <p:nvSpPr>
          <p:cNvPr name="TextBox 13" id="13"/>
          <p:cNvSpPr txBox="true"/>
          <p:nvPr/>
        </p:nvSpPr>
        <p:spPr>
          <a:xfrm rot="0">
            <a:off x="9052560" y="6751320"/>
            <a:ext cx="8407908" cy="2644140"/>
          </a:xfrm>
          <a:prstGeom prst="rect">
            <a:avLst/>
          </a:prstGeom>
        </p:spPr>
        <p:txBody>
          <a:bodyPr anchor="t" rtlCol="false" tIns="0" lIns="0" bIns="0" rIns="0">
            <a:spAutoFit/>
          </a:bodyPr>
          <a:lstStyle/>
          <a:p>
            <a:pPr algn="r">
              <a:lnSpc>
                <a:spcPts val="3104"/>
              </a:lnSpc>
            </a:pPr>
            <a:r>
              <a:rPr lang="ar-EG" sz="2250" spc="23">
                <a:solidFill>
                  <a:srgbClr val="4A3628"/>
                </a:solidFill>
                <a:latin typeface="XM Traffic"/>
                <a:ea typeface="XM Traffic"/>
                <a:cs typeface="XM Traffic"/>
                <a:sym typeface="XM Traffic"/>
                <a:rtl val="true"/>
              </a:rPr>
              <a:t>في منتزه خرطم بالمذنب، نعمل على تصور وجهة ترفيهية متكاملة تستثمر طبيعة الموقع وإطلالته، وتجمع بين المساحات المفتوحة والضيافة والطعام والتجارب العائلية في مكان واحد</a:t>
            </a:r>
            <a:r>
              <a:rPr lang="en-US" sz="2250" spc="23">
                <a:solidFill>
                  <a:srgbClr val="4A3628"/>
                </a:solidFill>
                <a:latin typeface="XM Traffic"/>
                <a:ea typeface="XM Traffic"/>
                <a:cs typeface="XM Traffic"/>
                <a:sym typeface="XM Traffic"/>
              </a:rPr>
              <a:t>.</a:t>
            </a:r>
          </a:p>
        </p:txBody>
      </p:sp>
      <p:grpSp>
        <p:nvGrpSpPr>
          <p:cNvPr name="Group 14" id="14"/>
          <p:cNvGrpSpPr/>
          <p:nvPr/>
        </p:nvGrpSpPr>
        <p:grpSpPr>
          <a:xfrm rot="0">
            <a:off x="822960" y="4937760"/>
            <a:ext cx="7543800" cy="411480"/>
            <a:chOff x="0" y="0"/>
            <a:chExt cx="10058400" cy="548640"/>
          </a:xfrm>
        </p:grpSpPr>
        <p:sp>
          <p:nvSpPr>
            <p:cNvPr name="Freeform 15" id="15"/>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6">
                <a:alphaModFix amt="0"/>
              </a:blip>
              <a:stretch>
                <a:fillRect l="0" t="-307225" r="0" b="-307225"/>
              </a:stretch>
            </a:blipFill>
          </p:spPr>
        </p:sp>
        <p:sp>
          <p:nvSpPr>
            <p:cNvPr name="TextBox 16" id="16"/>
            <p:cNvSpPr txBox="true"/>
            <p:nvPr/>
          </p:nvSpPr>
          <p:spPr>
            <a:xfrm>
              <a:off x="0" y="0"/>
              <a:ext cx="10058400" cy="548640"/>
            </a:xfrm>
            <a:prstGeom prst="rect">
              <a:avLst/>
            </a:prstGeom>
          </p:spPr>
          <p:txBody>
            <a:bodyPr anchor="ctr" rtlCol="false" tIns="0" lIns="0" bIns="0" rIns="0"/>
            <a:lstStyle/>
            <a:p>
              <a:pPr algn="r" rtl="true">
                <a:lnSpc>
                  <a:spcPts val="2520"/>
                </a:lnSpc>
              </a:pPr>
              <a:r>
                <a:rPr lang="ar-EG" b="true" sz="2100" spc="21">
                  <a:solidFill>
                    <a:srgbClr val="7D5A44"/>
                  </a:solidFill>
                  <a:latin typeface="XM Traffic Bold"/>
                  <a:ea typeface="XM Traffic Bold"/>
                  <a:cs typeface="XM Traffic Bold"/>
                  <a:sym typeface="XM Traffic Bold"/>
                  <a:rtl val="true"/>
                </a:rPr>
                <a:t>مكونات التطوير</a:t>
              </a:r>
            </a:p>
          </p:txBody>
        </p:sp>
      </p:grpSp>
      <p:grpSp>
        <p:nvGrpSpPr>
          <p:cNvPr name="Group 17" id="17"/>
          <p:cNvGrpSpPr/>
          <p:nvPr/>
        </p:nvGrpSpPr>
        <p:grpSpPr>
          <a:xfrm rot="0">
            <a:off x="815816" y="5479256"/>
            <a:ext cx="7558088" cy="617792"/>
            <a:chOff x="0" y="0"/>
            <a:chExt cx="10077450" cy="823722"/>
          </a:xfrm>
        </p:grpSpPr>
        <p:sp>
          <p:nvSpPr>
            <p:cNvPr name="Freeform 18" id="18"/>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19" id="19"/>
          <p:cNvGrpSpPr/>
          <p:nvPr/>
        </p:nvGrpSpPr>
        <p:grpSpPr>
          <a:xfrm rot="0">
            <a:off x="7735824" y="5554980"/>
            <a:ext cx="466344" cy="466344"/>
            <a:chOff x="0" y="0"/>
            <a:chExt cx="621792" cy="621792"/>
          </a:xfrm>
        </p:grpSpPr>
        <p:sp>
          <p:nvSpPr>
            <p:cNvPr name="Freeform 20" id="20"/>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D5A44"/>
            </a:solidFill>
          </p:spPr>
        </p:sp>
      </p:grpSp>
      <p:grpSp>
        <p:nvGrpSpPr>
          <p:cNvPr name="Group 21" id="21"/>
          <p:cNvGrpSpPr/>
          <p:nvPr/>
        </p:nvGrpSpPr>
        <p:grpSpPr>
          <a:xfrm rot="0">
            <a:off x="7852410" y="5671566"/>
            <a:ext cx="233172" cy="233172"/>
            <a:chOff x="0" y="0"/>
            <a:chExt cx="310896" cy="310896"/>
          </a:xfrm>
        </p:grpSpPr>
        <p:sp>
          <p:nvSpPr>
            <p:cNvPr name="Freeform 22" id="22"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7"/>
              <a:stretch>
                <a:fillRect l="0" t="0" r="0" b="0"/>
              </a:stretch>
            </a:blipFill>
          </p:spPr>
        </p:sp>
      </p:grpSp>
      <p:grpSp>
        <p:nvGrpSpPr>
          <p:cNvPr name="Group 23" id="23"/>
          <p:cNvGrpSpPr/>
          <p:nvPr/>
        </p:nvGrpSpPr>
        <p:grpSpPr>
          <a:xfrm rot="0">
            <a:off x="987552" y="5486400"/>
            <a:ext cx="6583680" cy="603504"/>
            <a:chOff x="0" y="0"/>
            <a:chExt cx="8778240" cy="804672"/>
          </a:xfrm>
        </p:grpSpPr>
        <p:sp>
          <p:nvSpPr>
            <p:cNvPr name="Freeform 24" id="24"/>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6">
                <a:alphaModFix amt="0"/>
              </a:blip>
              <a:stretch>
                <a:fillRect l="0" t="-162564" r="0" b="-162564"/>
              </a:stretch>
            </a:blipFill>
          </p:spPr>
        </p:sp>
        <p:sp>
          <p:nvSpPr>
            <p:cNvPr name="TextBox 25" id="25"/>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تحسين تجربة الوصول والاستقبال</a:t>
              </a:r>
            </a:p>
          </p:txBody>
        </p:sp>
      </p:grpSp>
      <p:grpSp>
        <p:nvGrpSpPr>
          <p:cNvPr name="Group 26" id="26"/>
          <p:cNvGrpSpPr/>
          <p:nvPr/>
        </p:nvGrpSpPr>
        <p:grpSpPr>
          <a:xfrm rot="0">
            <a:off x="815816" y="6165056"/>
            <a:ext cx="7558088" cy="617792"/>
            <a:chOff x="0" y="0"/>
            <a:chExt cx="10077450" cy="823722"/>
          </a:xfrm>
        </p:grpSpPr>
        <p:sp>
          <p:nvSpPr>
            <p:cNvPr name="Freeform 27" id="27"/>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28" id="28"/>
          <p:cNvGrpSpPr/>
          <p:nvPr/>
        </p:nvGrpSpPr>
        <p:grpSpPr>
          <a:xfrm rot="0">
            <a:off x="7735824" y="6240780"/>
            <a:ext cx="466344" cy="466344"/>
            <a:chOff x="0" y="0"/>
            <a:chExt cx="621792" cy="621792"/>
          </a:xfrm>
        </p:grpSpPr>
        <p:sp>
          <p:nvSpPr>
            <p:cNvPr name="Freeform 29" id="29"/>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D5A44"/>
            </a:solidFill>
          </p:spPr>
        </p:sp>
      </p:grpSp>
      <p:grpSp>
        <p:nvGrpSpPr>
          <p:cNvPr name="Group 30" id="30"/>
          <p:cNvGrpSpPr/>
          <p:nvPr/>
        </p:nvGrpSpPr>
        <p:grpSpPr>
          <a:xfrm rot="0">
            <a:off x="7852410" y="6357366"/>
            <a:ext cx="233172" cy="233172"/>
            <a:chOff x="0" y="0"/>
            <a:chExt cx="310896" cy="310896"/>
          </a:xfrm>
        </p:grpSpPr>
        <p:sp>
          <p:nvSpPr>
            <p:cNvPr name="Freeform 31" id="31"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8"/>
              <a:stretch>
                <a:fillRect l="0" t="0" r="0" b="0"/>
              </a:stretch>
            </a:blipFill>
          </p:spPr>
        </p:sp>
      </p:grpSp>
      <p:grpSp>
        <p:nvGrpSpPr>
          <p:cNvPr name="Group 32" id="32"/>
          <p:cNvGrpSpPr/>
          <p:nvPr/>
        </p:nvGrpSpPr>
        <p:grpSpPr>
          <a:xfrm rot="0">
            <a:off x="987552" y="6172200"/>
            <a:ext cx="6583680" cy="603504"/>
            <a:chOff x="0" y="0"/>
            <a:chExt cx="8778240" cy="804672"/>
          </a:xfrm>
        </p:grpSpPr>
        <p:sp>
          <p:nvSpPr>
            <p:cNvPr name="Freeform 33" id="33"/>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6">
                <a:alphaModFix amt="0"/>
              </a:blip>
              <a:stretch>
                <a:fillRect l="0" t="-162564" r="0" b="-162564"/>
              </a:stretch>
            </a:blipFill>
          </p:spPr>
        </p:sp>
        <p:sp>
          <p:nvSpPr>
            <p:cNvPr name="TextBox 34" id="34"/>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توزيع مناطق الجلوس والاستراحة</a:t>
              </a:r>
            </a:p>
          </p:txBody>
        </p:sp>
      </p:grpSp>
      <p:grpSp>
        <p:nvGrpSpPr>
          <p:cNvPr name="Group 35" id="35"/>
          <p:cNvGrpSpPr/>
          <p:nvPr/>
        </p:nvGrpSpPr>
        <p:grpSpPr>
          <a:xfrm rot="0">
            <a:off x="815816" y="6850856"/>
            <a:ext cx="7558088" cy="617792"/>
            <a:chOff x="0" y="0"/>
            <a:chExt cx="10077450" cy="823722"/>
          </a:xfrm>
        </p:grpSpPr>
        <p:sp>
          <p:nvSpPr>
            <p:cNvPr name="Freeform 36" id="36"/>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37" id="37"/>
          <p:cNvGrpSpPr/>
          <p:nvPr/>
        </p:nvGrpSpPr>
        <p:grpSpPr>
          <a:xfrm rot="0">
            <a:off x="7735824" y="6926580"/>
            <a:ext cx="466344" cy="466344"/>
            <a:chOff x="0" y="0"/>
            <a:chExt cx="621792" cy="621792"/>
          </a:xfrm>
        </p:grpSpPr>
        <p:sp>
          <p:nvSpPr>
            <p:cNvPr name="Freeform 38" id="38"/>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D5A44"/>
            </a:solidFill>
          </p:spPr>
        </p:sp>
      </p:grpSp>
      <p:grpSp>
        <p:nvGrpSpPr>
          <p:cNvPr name="Group 39" id="39"/>
          <p:cNvGrpSpPr/>
          <p:nvPr/>
        </p:nvGrpSpPr>
        <p:grpSpPr>
          <a:xfrm rot="0">
            <a:off x="7852410" y="7043166"/>
            <a:ext cx="233172" cy="233172"/>
            <a:chOff x="0" y="0"/>
            <a:chExt cx="310896" cy="310896"/>
          </a:xfrm>
        </p:grpSpPr>
        <p:sp>
          <p:nvSpPr>
            <p:cNvPr name="Freeform 40" id="40"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9"/>
              <a:stretch>
                <a:fillRect l="0" t="0" r="0" b="0"/>
              </a:stretch>
            </a:blipFill>
          </p:spPr>
        </p:sp>
      </p:grpSp>
      <p:grpSp>
        <p:nvGrpSpPr>
          <p:cNvPr name="Group 41" id="41"/>
          <p:cNvGrpSpPr/>
          <p:nvPr/>
        </p:nvGrpSpPr>
        <p:grpSpPr>
          <a:xfrm rot="0">
            <a:off x="987552" y="6858000"/>
            <a:ext cx="6583680" cy="603504"/>
            <a:chOff x="0" y="0"/>
            <a:chExt cx="8778240" cy="804672"/>
          </a:xfrm>
        </p:grpSpPr>
        <p:sp>
          <p:nvSpPr>
            <p:cNvPr name="Freeform 42" id="42"/>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6">
                <a:alphaModFix amt="0"/>
              </a:blip>
              <a:stretch>
                <a:fillRect l="0" t="-162564" r="0" b="-162564"/>
              </a:stretch>
            </a:blipFill>
          </p:spPr>
        </p:sp>
        <p:sp>
          <p:nvSpPr>
            <p:cNvPr name="TextBox 43" id="43"/>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تنظيم مناطق الطعام والأنشطة</a:t>
              </a:r>
            </a:p>
          </p:txBody>
        </p:sp>
      </p:grpSp>
      <p:grpSp>
        <p:nvGrpSpPr>
          <p:cNvPr name="Group 44" id="44"/>
          <p:cNvGrpSpPr/>
          <p:nvPr/>
        </p:nvGrpSpPr>
        <p:grpSpPr>
          <a:xfrm rot="0">
            <a:off x="815816" y="7536656"/>
            <a:ext cx="7558088" cy="617792"/>
            <a:chOff x="0" y="0"/>
            <a:chExt cx="10077450" cy="823722"/>
          </a:xfrm>
        </p:grpSpPr>
        <p:sp>
          <p:nvSpPr>
            <p:cNvPr name="Freeform 45" id="45"/>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46" id="46"/>
          <p:cNvGrpSpPr/>
          <p:nvPr/>
        </p:nvGrpSpPr>
        <p:grpSpPr>
          <a:xfrm rot="0">
            <a:off x="7735824" y="7612380"/>
            <a:ext cx="466344" cy="466344"/>
            <a:chOff x="0" y="0"/>
            <a:chExt cx="621792" cy="621792"/>
          </a:xfrm>
        </p:grpSpPr>
        <p:sp>
          <p:nvSpPr>
            <p:cNvPr name="Freeform 47" id="47"/>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D5A44"/>
            </a:solidFill>
          </p:spPr>
        </p:sp>
      </p:grpSp>
      <p:grpSp>
        <p:nvGrpSpPr>
          <p:cNvPr name="Group 48" id="48"/>
          <p:cNvGrpSpPr/>
          <p:nvPr/>
        </p:nvGrpSpPr>
        <p:grpSpPr>
          <a:xfrm rot="0">
            <a:off x="7852410" y="7728966"/>
            <a:ext cx="233172" cy="233172"/>
            <a:chOff x="0" y="0"/>
            <a:chExt cx="310896" cy="310896"/>
          </a:xfrm>
        </p:grpSpPr>
        <p:sp>
          <p:nvSpPr>
            <p:cNvPr name="Freeform 49" id="49"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0"/>
              <a:stretch>
                <a:fillRect l="0" t="0" r="0" b="0"/>
              </a:stretch>
            </a:blipFill>
          </p:spPr>
        </p:sp>
      </p:grpSp>
      <p:grpSp>
        <p:nvGrpSpPr>
          <p:cNvPr name="Group 50" id="50"/>
          <p:cNvGrpSpPr/>
          <p:nvPr/>
        </p:nvGrpSpPr>
        <p:grpSpPr>
          <a:xfrm rot="0">
            <a:off x="987552" y="7543800"/>
            <a:ext cx="6583680" cy="603504"/>
            <a:chOff x="0" y="0"/>
            <a:chExt cx="8778240" cy="804672"/>
          </a:xfrm>
        </p:grpSpPr>
        <p:sp>
          <p:nvSpPr>
            <p:cNvPr name="Freeform 51" id="51"/>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6">
                <a:alphaModFix amt="0"/>
              </a:blip>
              <a:stretch>
                <a:fillRect l="0" t="-162564" r="0" b="-162564"/>
              </a:stretch>
            </a:blipFill>
          </p:spPr>
        </p:sp>
        <p:sp>
          <p:nvSpPr>
            <p:cNvPr name="TextBox 52" id="52"/>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تعزيز الإضاءة واللوحات الإرشادية</a:t>
              </a:r>
            </a:p>
          </p:txBody>
        </p:sp>
      </p:grpSp>
      <p:grpSp>
        <p:nvGrpSpPr>
          <p:cNvPr name="Group 53" id="53"/>
          <p:cNvGrpSpPr/>
          <p:nvPr/>
        </p:nvGrpSpPr>
        <p:grpSpPr>
          <a:xfrm rot="0">
            <a:off x="815816" y="8222456"/>
            <a:ext cx="7558088" cy="617792"/>
            <a:chOff x="0" y="0"/>
            <a:chExt cx="10077450" cy="823722"/>
          </a:xfrm>
        </p:grpSpPr>
        <p:sp>
          <p:nvSpPr>
            <p:cNvPr name="Freeform 54" id="54"/>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55" id="55"/>
          <p:cNvGrpSpPr/>
          <p:nvPr/>
        </p:nvGrpSpPr>
        <p:grpSpPr>
          <a:xfrm rot="0">
            <a:off x="7735824" y="8298180"/>
            <a:ext cx="466344" cy="466344"/>
            <a:chOff x="0" y="0"/>
            <a:chExt cx="621792" cy="621792"/>
          </a:xfrm>
        </p:grpSpPr>
        <p:sp>
          <p:nvSpPr>
            <p:cNvPr name="Freeform 56" id="56"/>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D5A44"/>
            </a:solidFill>
          </p:spPr>
        </p:sp>
      </p:grpSp>
      <p:grpSp>
        <p:nvGrpSpPr>
          <p:cNvPr name="Group 57" id="57"/>
          <p:cNvGrpSpPr/>
          <p:nvPr/>
        </p:nvGrpSpPr>
        <p:grpSpPr>
          <a:xfrm rot="0">
            <a:off x="7852410" y="8414766"/>
            <a:ext cx="233172" cy="233172"/>
            <a:chOff x="0" y="0"/>
            <a:chExt cx="310896" cy="310896"/>
          </a:xfrm>
        </p:grpSpPr>
        <p:sp>
          <p:nvSpPr>
            <p:cNvPr name="Freeform 58" id="58"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1"/>
              <a:stretch>
                <a:fillRect l="0" t="0" r="0" b="0"/>
              </a:stretch>
            </a:blipFill>
          </p:spPr>
        </p:sp>
      </p:grpSp>
      <p:grpSp>
        <p:nvGrpSpPr>
          <p:cNvPr name="Group 59" id="59"/>
          <p:cNvGrpSpPr/>
          <p:nvPr/>
        </p:nvGrpSpPr>
        <p:grpSpPr>
          <a:xfrm rot="0">
            <a:off x="987552" y="8229600"/>
            <a:ext cx="6583680" cy="603504"/>
            <a:chOff x="0" y="0"/>
            <a:chExt cx="8778240" cy="804672"/>
          </a:xfrm>
        </p:grpSpPr>
        <p:sp>
          <p:nvSpPr>
            <p:cNvPr name="Freeform 60" id="60"/>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6">
                <a:alphaModFix amt="0"/>
              </a:blip>
              <a:stretch>
                <a:fillRect l="0" t="-162564" r="0" b="-162564"/>
              </a:stretch>
            </a:blipFill>
          </p:spPr>
        </p:sp>
        <p:sp>
          <p:nvSpPr>
            <p:cNvPr name="TextBox 61" id="61"/>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إبراز الإطلالة والمشهد الطبيعي</a:t>
              </a:r>
            </a:p>
          </p:txBody>
        </p:sp>
      </p:grpSp>
      <p:grpSp>
        <p:nvGrpSpPr>
          <p:cNvPr name="Group 62" id="62"/>
          <p:cNvGrpSpPr/>
          <p:nvPr/>
        </p:nvGrpSpPr>
        <p:grpSpPr>
          <a:xfrm rot="0">
            <a:off x="815816" y="8908256"/>
            <a:ext cx="7558088" cy="617792"/>
            <a:chOff x="0" y="0"/>
            <a:chExt cx="10077450" cy="823722"/>
          </a:xfrm>
        </p:grpSpPr>
        <p:sp>
          <p:nvSpPr>
            <p:cNvPr name="Freeform 63" id="63"/>
            <p:cNvSpPr/>
            <p:nvPr/>
          </p:nvSpPr>
          <p:spPr>
            <a:xfrm flipH="false" flipV="false" rot="0">
              <a:off x="0" y="0"/>
              <a:ext cx="10077450" cy="823722"/>
            </a:xfrm>
            <a:custGeom>
              <a:avLst/>
              <a:gdLst/>
              <a:ahLst/>
              <a:cxnLst/>
              <a:rect r="r" b="b" t="t" l="l"/>
              <a:pathLst>
                <a:path h="823722" w="10077450">
                  <a:moveTo>
                    <a:pt x="0" y="262128"/>
                  </a:moveTo>
                  <a:cubicBezTo>
                    <a:pt x="0" y="117348"/>
                    <a:pt x="117348" y="0"/>
                    <a:pt x="262128" y="0"/>
                  </a:cubicBezTo>
                  <a:lnTo>
                    <a:pt x="9815322" y="0"/>
                  </a:lnTo>
                  <a:cubicBezTo>
                    <a:pt x="9960102" y="0"/>
                    <a:pt x="10077450" y="117348"/>
                    <a:pt x="10077450" y="262128"/>
                  </a:cubicBezTo>
                  <a:lnTo>
                    <a:pt x="10077450" y="561594"/>
                  </a:lnTo>
                  <a:cubicBezTo>
                    <a:pt x="10077450" y="706374"/>
                    <a:pt x="9960102" y="823722"/>
                    <a:pt x="9815322" y="823722"/>
                  </a:cubicBezTo>
                  <a:lnTo>
                    <a:pt x="262128" y="823722"/>
                  </a:lnTo>
                  <a:cubicBezTo>
                    <a:pt x="117348" y="823722"/>
                    <a:pt x="0" y="706374"/>
                    <a:pt x="0" y="561594"/>
                  </a:cubicBezTo>
                  <a:close/>
                </a:path>
              </a:pathLst>
            </a:custGeom>
            <a:solidFill>
              <a:srgbClr val="FBF6EE"/>
            </a:solidFill>
            <a:ln w="14288" cap="sq">
              <a:solidFill>
                <a:srgbClr val="E3D3BA"/>
              </a:solidFill>
              <a:prstDash val="solid"/>
              <a:miter/>
            </a:ln>
          </p:spPr>
        </p:sp>
      </p:grpSp>
      <p:grpSp>
        <p:nvGrpSpPr>
          <p:cNvPr name="Group 64" id="64"/>
          <p:cNvGrpSpPr/>
          <p:nvPr/>
        </p:nvGrpSpPr>
        <p:grpSpPr>
          <a:xfrm rot="0">
            <a:off x="7735824" y="8983980"/>
            <a:ext cx="466344" cy="466344"/>
            <a:chOff x="0" y="0"/>
            <a:chExt cx="621792" cy="621792"/>
          </a:xfrm>
        </p:grpSpPr>
        <p:sp>
          <p:nvSpPr>
            <p:cNvPr name="Freeform 65" id="65"/>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7D5A44"/>
            </a:solidFill>
          </p:spPr>
        </p:sp>
      </p:grpSp>
      <p:grpSp>
        <p:nvGrpSpPr>
          <p:cNvPr name="Group 66" id="66"/>
          <p:cNvGrpSpPr/>
          <p:nvPr/>
        </p:nvGrpSpPr>
        <p:grpSpPr>
          <a:xfrm rot="0">
            <a:off x="7852410" y="9100566"/>
            <a:ext cx="233172" cy="233172"/>
            <a:chOff x="0" y="0"/>
            <a:chExt cx="310896" cy="310896"/>
          </a:xfrm>
        </p:grpSpPr>
        <p:sp>
          <p:nvSpPr>
            <p:cNvPr name="Freeform 67" id="67"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2"/>
              <a:stretch>
                <a:fillRect l="0" t="0" r="0" b="0"/>
              </a:stretch>
            </a:blipFill>
          </p:spPr>
        </p:sp>
      </p:grpSp>
      <p:grpSp>
        <p:nvGrpSpPr>
          <p:cNvPr name="Group 68" id="68"/>
          <p:cNvGrpSpPr/>
          <p:nvPr/>
        </p:nvGrpSpPr>
        <p:grpSpPr>
          <a:xfrm rot="0">
            <a:off x="987552" y="8915400"/>
            <a:ext cx="6583680" cy="603504"/>
            <a:chOff x="0" y="0"/>
            <a:chExt cx="8778240" cy="804672"/>
          </a:xfrm>
        </p:grpSpPr>
        <p:sp>
          <p:nvSpPr>
            <p:cNvPr name="Freeform 69" id="69"/>
            <p:cNvSpPr/>
            <p:nvPr/>
          </p:nvSpPr>
          <p:spPr>
            <a:xfrm flipH="false" flipV="false" rot="0">
              <a:off x="0" y="0"/>
              <a:ext cx="8778240" cy="804672"/>
            </a:xfrm>
            <a:custGeom>
              <a:avLst/>
              <a:gdLst/>
              <a:ahLst/>
              <a:cxnLst/>
              <a:rect r="r" b="b" t="t" l="l"/>
              <a:pathLst>
                <a:path h="804672" w="8778240">
                  <a:moveTo>
                    <a:pt x="0" y="0"/>
                  </a:moveTo>
                  <a:lnTo>
                    <a:pt x="8778240" y="0"/>
                  </a:lnTo>
                  <a:lnTo>
                    <a:pt x="8778240" y="804672"/>
                  </a:lnTo>
                  <a:lnTo>
                    <a:pt x="0" y="804672"/>
                  </a:lnTo>
                  <a:close/>
                </a:path>
              </a:pathLst>
            </a:custGeom>
            <a:blipFill>
              <a:blip r:embed="rId6">
                <a:alphaModFix amt="0"/>
              </a:blip>
              <a:stretch>
                <a:fillRect l="0" t="-162564" r="0" b="-162564"/>
              </a:stretch>
            </a:blipFill>
          </p:spPr>
        </p:sp>
        <p:sp>
          <p:nvSpPr>
            <p:cNvPr name="TextBox 70" id="70"/>
            <p:cNvSpPr txBox="true"/>
            <p:nvPr/>
          </p:nvSpPr>
          <p:spPr>
            <a:xfrm>
              <a:off x="0" y="0"/>
              <a:ext cx="8778240" cy="804672"/>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مساحات مناسبة للعائلات ومختلف الأعمار</a:t>
              </a:r>
            </a:p>
          </p:txBody>
        </p:sp>
      </p:grpSp>
      <p:grpSp>
        <p:nvGrpSpPr>
          <p:cNvPr name="Group 71" id="71"/>
          <p:cNvGrpSpPr/>
          <p:nvPr/>
        </p:nvGrpSpPr>
        <p:grpSpPr>
          <a:xfrm rot="0">
            <a:off x="9052560" y="9669780"/>
            <a:ext cx="8407908" cy="342900"/>
            <a:chOff x="0" y="0"/>
            <a:chExt cx="11210544" cy="457200"/>
          </a:xfrm>
        </p:grpSpPr>
        <p:sp>
          <p:nvSpPr>
            <p:cNvPr name="Freeform 72" id="72"/>
            <p:cNvSpPr/>
            <p:nvPr/>
          </p:nvSpPr>
          <p:spPr>
            <a:xfrm flipH="false" flipV="false" rot="0">
              <a:off x="0" y="0"/>
              <a:ext cx="11210544" cy="457200"/>
            </a:xfrm>
            <a:custGeom>
              <a:avLst/>
              <a:gdLst/>
              <a:ahLst/>
              <a:cxnLst/>
              <a:rect r="r" b="b" t="t" l="l"/>
              <a:pathLst>
                <a:path h="457200" w="11210544">
                  <a:moveTo>
                    <a:pt x="0" y="0"/>
                  </a:moveTo>
                  <a:lnTo>
                    <a:pt x="11210544" y="0"/>
                  </a:lnTo>
                  <a:lnTo>
                    <a:pt x="11210544" y="457200"/>
                  </a:lnTo>
                  <a:lnTo>
                    <a:pt x="0" y="457200"/>
                  </a:lnTo>
                  <a:close/>
                </a:path>
              </a:pathLst>
            </a:custGeom>
            <a:blipFill>
              <a:blip r:embed="rId6">
                <a:alphaModFix amt="0"/>
              </a:blip>
              <a:stretch>
                <a:fillRect l="0" t="-427773" r="0" b="-427773"/>
              </a:stretch>
            </a:blipFill>
          </p:spPr>
        </p:sp>
        <p:sp>
          <p:nvSpPr>
            <p:cNvPr name="TextBox 73" id="73"/>
            <p:cNvSpPr txBox="true"/>
            <p:nvPr/>
          </p:nvSpPr>
          <p:spPr>
            <a:xfrm>
              <a:off x="0" y="0"/>
              <a:ext cx="11210544" cy="457200"/>
            </a:xfrm>
            <a:prstGeom prst="rect">
              <a:avLst/>
            </a:prstGeom>
          </p:spPr>
          <p:txBody>
            <a:bodyPr anchor="ctr" rtlCol="false" tIns="0" lIns="0" bIns="0" rIns="0"/>
            <a:lstStyle/>
            <a:p>
              <a:pPr algn="r" rtl="true">
                <a:lnSpc>
                  <a:spcPts val="1800"/>
                </a:lnSpc>
              </a:pPr>
              <a:r>
                <a:rPr lang="ar-EG" sz="1500" spc="15">
                  <a:solidFill>
                    <a:srgbClr val="7A5C44"/>
                  </a:solidFill>
                  <a:latin typeface="XM Traffic"/>
                  <a:ea typeface="XM Traffic"/>
                  <a:cs typeface="XM Traffic"/>
                  <a:sym typeface="XM Traffic"/>
                  <a:rtl val="true"/>
                </a:rPr>
                <a:t>تصوّر تطويري مقترح</a:t>
              </a:r>
            </a:p>
          </p:txBody>
        </p:sp>
      </p:grpSp>
      <p:grpSp>
        <p:nvGrpSpPr>
          <p:cNvPr name="Group 74" id="74"/>
          <p:cNvGrpSpPr/>
          <p:nvPr/>
        </p:nvGrpSpPr>
        <p:grpSpPr>
          <a:xfrm rot="0">
            <a:off x="7471943" y="541496"/>
            <a:ext cx="3314290" cy="562928"/>
            <a:chOff x="0" y="0"/>
            <a:chExt cx="4419054" cy="750570"/>
          </a:xfrm>
        </p:grpSpPr>
        <p:sp>
          <p:nvSpPr>
            <p:cNvPr name="Freeform 75" id="75" descr="رابط الموقع على خرائط قوقل">
              <a:hlinkClick r:id="rId13" tooltip="https://www.google.com/maps/search/?api=1&amp;query=%D9%85%D9%86%D8%AA%D8%B2%D9%87%20%D8%AE%D8%B1%D8%B7%D9%85%20%D8%A7%D9%84%D9%85%D8%B0%D9%86%D8%A8"/>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3E2D21"/>
            </a:solidFill>
            <a:ln w="14288" cap="sq">
              <a:solidFill>
                <a:srgbClr val="D9A66B"/>
              </a:solidFill>
              <a:prstDash val="solid"/>
              <a:miter/>
            </a:ln>
          </p:spPr>
        </p:sp>
      </p:grpSp>
      <p:grpSp>
        <p:nvGrpSpPr>
          <p:cNvPr name="Group 76" id="76"/>
          <p:cNvGrpSpPr/>
          <p:nvPr/>
        </p:nvGrpSpPr>
        <p:grpSpPr>
          <a:xfrm rot="0">
            <a:off x="10282333" y="672084"/>
            <a:ext cx="301752" cy="301752"/>
            <a:chOff x="0" y="0"/>
            <a:chExt cx="402336" cy="402336"/>
          </a:xfrm>
        </p:grpSpPr>
        <p:sp>
          <p:nvSpPr>
            <p:cNvPr name="Freeform 77" id="77"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4"/>
              <a:stretch>
                <a:fillRect l="0" t="0" r="0" b="0"/>
              </a:stretch>
            </a:blipFill>
          </p:spPr>
        </p:sp>
      </p:grpSp>
      <p:grpSp>
        <p:nvGrpSpPr>
          <p:cNvPr name="Group 78" id="78"/>
          <p:cNvGrpSpPr/>
          <p:nvPr/>
        </p:nvGrpSpPr>
        <p:grpSpPr>
          <a:xfrm rot="0">
            <a:off x="7629087" y="548640"/>
            <a:ext cx="2548252" cy="548640"/>
            <a:chOff x="0" y="0"/>
            <a:chExt cx="3397669" cy="731520"/>
          </a:xfrm>
        </p:grpSpPr>
        <p:sp>
          <p:nvSpPr>
            <p:cNvPr name="Freeform 79" id="79"/>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6">
                <a:alphaModFix amt="0"/>
              </a:blip>
              <a:stretch>
                <a:fillRect l="0" t="-40501" r="0" b="-40501"/>
              </a:stretch>
            </a:blipFill>
          </p:spPr>
        </p:sp>
        <p:sp>
          <p:nvSpPr>
            <p:cNvPr name="TextBox 80" id="80"/>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F3E3C8"/>
                  </a:solidFill>
                  <a:latin typeface="XM Traffic Bold"/>
                  <a:ea typeface="XM Traffic Bold"/>
                  <a:cs typeface="XM Traffic Bold"/>
                  <a:sym typeface="XM Traffic Bold"/>
                  <a:hlinkClick r:id="rId15" tooltip="https://maps.app.goo.gl/LczbWqmYFNyVX5gh7?g_st=iw"/>
                  <a:rtl val="true"/>
                </a:rPr>
                <a:t>موقع منتزه الخرطم بـ المذنب</a:t>
              </a:r>
            </a:p>
          </p:txBody>
        </p:sp>
      </p:grpSp>
      <p:grpSp>
        <p:nvGrpSpPr>
          <p:cNvPr name="Group 81" id="81"/>
          <p:cNvGrpSpPr/>
          <p:nvPr/>
        </p:nvGrpSpPr>
        <p:grpSpPr>
          <a:xfrm rot="0">
            <a:off x="2723649" y="1592147"/>
            <a:ext cx="5492738" cy="3089251"/>
            <a:chOff x="0" y="0"/>
            <a:chExt cx="6271642" cy="3527326"/>
          </a:xfrm>
        </p:grpSpPr>
        <p:sp>
          <p:nvSpPr>
            <p:cNvPr name="Freeform 82" id="82"/>
            <p:cNvSpPr/>
            <p:nvPr/>
          </p:nvSpPr>
          <p:spPr>
            <a:xfrm flipH="false" flipV="false" rot="0">
              <a:off x="0" y="0"/>
              <a:ext cx="6271642" cy="3527326"/>
            </a:xfrm>
            <a:custGeom>
              <a:avLst/>
              <a:gdLst/>
              <a:ahLst/>
              <a:cxnLst/>
              <a:rect r="r" b="b" t="t" l="l"/>
              <a:pathLst>
                <a:path h="3527326" w="6271642">
                  <a:moveTo>
                    <a:pt x="0" y="613397"/>
                  </a:moveTo>
                  <a:cubicBezTo>
                    <a:pt x="0" y="274618"/>
                    <a:pt x="93149" y="0"/>
                    <a:pt x="208060" y="0"/>
                  </a:cubicBezTo>
                  <a:lnTo>
                    <a:pt x="6063581" y="0"/>
                  </a:lnTo>
                  <a:cubicBezTo>
                    <a:pt x="6178493" y="0"/>
                    <a:pt x="6271642" y="274618"/>
                    <a:pt x="6271642" y="613397"/>
                  </a:cubicBezTo>
                  <a:lnTo>
                    <a:pt x="6271642" y="2913929"/>
                  </a:lnTo>
                  <a:cubicBezTo>
                    <a:pt x="6271642" y="3252708"/>
                    <a:pt x="6178493" y="3527326"/>
                    <a:pt x="6063581" y="3527326"/>
                  </a:cubicBezTo>
                  <a:lnTo>
                    <a:pt x="208060" y="3527326"/>
                  </a:lnTo>
                  <a:cubicBezTo>
                    <a:pt x="93149" y="3527326"/>
                    <a:pt x="0" y="3252708"/>
                    <a:pt x="0" y="2913929"/>
                  </a:cubicBezTo>
                  <a:close/>
                </a:path>
              </a:pathLst>
            </a:custGeom>
            <a:blipFill>
              <a:blip r:embed="rId16"/>
              <a:stretch>
                <a:fillRect l="-216" t="0" r="-216" b="0"/>
              </a:stretch>
            </a:blipFill>
            <a:ln w="23812" cap="sq">
              <a:solidFill>
                <a:srgbClr val="A68460"/>
              </a:solidFill>
              <a:prstDash val="dash"/>
              <a:miter/>
            </a:ln>
          </p:spPr>
        </p:sp>
      </p:grpSp>
      <p:sp>
        <p:nvSpPr>
          <p:cNvPr name="Freeform 83" id="83"/>
          <p:cNvSpPr/>
          <p:nvPr/>
        </p:nvSpPr>
        <p:spPr>
          <a:xfrm flipH="false" flipV="false" rot="0">
            <a:off x="314618" y="155349"/>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7"/>
            <a:stretch>
              <a:fillRect l="0" t="-22113" r="0" b="-17967"/>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92976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C49A7A">
                <a:alpha val="1176"/>
              </a:srgbClr>
            </a:solidFill>
          </p:spPr>
        </p:sp>
      </p:grpSp>
      <p:grpSp>
        <p:nvGrpSpPr>
          <p:cNvPr name="Group 5" id="5"/>
          <p:cNvGrpSpPr/>
          <p:nvPr/>
        </p:nvGrpSpPr>
        <p:grpSpPr>
          <a:xfrm rot="0">
            <a:off x="11206437" y="1347787"/>
            <a:ext cx="6333172" cy="8664893"/>
            <a:chOff x="0" y="0"/>
            <a:chExt cx="8444230" cy="11553190"/>
          </a:xfrm>
        </p:grpSpPr>
        <p:sp>
          <p:nvSpPr>
            <p:cNvPr name="Freeform 6" id="6"/>
            <p:cNvSpPr/>
            <p:nvPr/>
          </p:nvSpPr>
          <p:spPr>
            <a:xfrm flipH="false" flipV="false" rot="0">
              <a:off x="0" y="0"/>
              <a:ext cx="8444230" cy="11553190"/>
            </a:xfrm>
            <a:custGeom>
              <a:avLst/>
              <a:gdLst/>
              <a:ahLst/>
              <a:cxnLst/>
              <a:rect r="r" b="b" t="t" l="l"/>
              <a:pathLst>
                <a:path h="11553190" w="8444230">
                  <a:moveTo>
                    <a:pt x="0" y="734314"/>
                  </a:moveTo>
                  <a:cubicBezTo>
                    <a:pt x="0" y="328803"/>
                    <a:pt x="328803" y="0"/>
                    <a:pt x="734314" y="0"/>
                  </a:cubicBezTo>
                  <a:lnTo>
                    <a:pt x="7709916" y="0"/>
                  </a:lnTo>
                  <a:cubicBezTo>
                    <a:pt x="8115427" y="0"/>
                    <a:pt x="8444230" y="328803"/>
                    <a:pt x="8444230" y="734314"/>
                  </a:cubicBezTo>
                  <a:lnTo>
                    <a:pt x="8444230" y="10818876"/>
                  </a:lnTo>
                  <a:cubicBezTo>
                    <a:pt x="8444230" y="11224387"/>
                    <a:pt x="8115427" y="11553190"/>
                    <a:pt x="7709916" y="11553190"/>
                  </a:cubicBezTo>
                  <a:lnTo>
                    <a:pt x="734314" y="11553190"/>
                  </a:lnTo>
                  <a:cubicBezTo>
                    <a:pt x="328803" y="11553190"/>
                    <a:pt x="0" y="11224387"/>
                    <a:pt x="0" y="10818876"/>
                  </a:cubicBezTo>
                  <a:close/>
                </a:path>
              </a:pathLst>
            </a:custGeom>
            <a:solidFill>
              <a:srgbClr val="3E2D21"/>
            </a:solidFill>
            <a:ln w="23812" cap="sq">
              <a:solidFill>
                <a:srgbClr val="C49A7A"/>
              </a:solidFill>
              <a:prstDash val="dash"/>
              <a:miter/>
            </a:ln>
          </p:spPr>
        </p:sp>
      </p:grpSp>
      <p:grpSp>
        <p:nvGrpSpPr>
          <p:cNvPr name="Group 7" id="7"/>
          <p:cNvGrpSpPr/>
          <p:nvPr/>
        </p:nvGrpSpPr>
        <p:grpSpPr>
          <a:xfrm rot="0">
            <a:off x="11458088" y="1599438"/>
            <a:ext cx="5829871" cy="8161592"/>
            <a:chOff x="0" y="0"/>
            <a:chExt cx="7773162" cy="10882122"/>
          </a:xfrm>
        </p:grpSpPr>
        <p:sp>
          <p:nvSpPr>
            <p:cNvPr name="Freeform 8" id="8"/>
            <p:cNvSpPr/>
            <p:nvPr/>
          </p:nvSpPr>
          <p:spPr>
            <a:xfrm flipH="false" flipV="false" rot="0">
              <a:off x="0" y="0"/>
              <a:ext cx="7773162" cy="10882122"/>
            </a:xfrm>
            <a:custGeom>
              <a:avLst/>
              <a:gdLst/>
              <a:ahLst/>
              <a:cxnLst/>
              <a:rect r="r" b="b" t="t" l="l"/>
              <a:pathLst>
                <a:path h="10882122" w="7773162">
                  <a:moveTo>
                    <a:pt x="0" y="513334"/>
                  </a:moveTo>
                  <a:cubicBezTo>
                    <a:pt x="0" y="229870"/>
                    <a:pt x="229870" y="0"/>
                    <a:pt x="513334" y="0"/>
                  </a:cubicBezTo>
                  <a:lnTo>
                    <a:pt x="7259828" y="0"/>
                  </a:lnTo>
                  <a:cubicBezTo>
                    <a:pt x="7543292" y="0"/>
                    <a:pt x="7773162" y="229870"/>
                    <a:pt x="7773162" y="513334"/>
                  </a:cubicBezTo>
                  <a:lnTo>
                    <a:pt x="7773162" y="10368788"/>
                  </a:lnTo>
                  <a:cubicBezTo>
                    <a:pt x="7773162" y="10652252"/>
                    <a:pt x="7543292" y="10882122"/>
                    <a:pt x="7259828" y="10882122"/>
                  </a:cubicBezTo>
                  <a:lnTo>
                    <a:pt x="513334" y="10882122"/>
                  </a:lnTo>
                  <a:cubicBezTo>
                    <a:pt x="229870" y="10882122"/>
                    <a:pt x="0" y="10652252"/>
                    <a:pt x="0" y="10368788"/>
                  </a:cubicBezTo>
                  <a:close/>
                </a:path>
              </a:pathLst>
            </a:custGeom>
            <a:blipFill>
              <a:blip r:embed="rId4">
                <a:alphaModFix amt="0"/>
              </a:blip>
              <a:stretch>
                <a:fillRect l="-129619" t="0" r="-129619" b="0"/>
              </a:stretch>
            </a:blipFill>
            <a:ln w="14288" cap="sq">
              <a:solidFill>
                <a:srgbClr val="C49A7A"/>
              </a:solidFill>
              <a:prstDash val="solid"/>
              <a:miter/>
            </a:ln>
          </p:spPr>
        </p:sp>
      </p:grpSp>
      <p:grpSp>
        <p:nvGrpSpPr>
          <p:cNvPr name="Group 9" id="9"/>
          <p:cNvGrpSpPr/>
          <p:nvPr/>
        </p:nvGrpSpPr>
        <p:grpSpPr>
          <a:xfrm rot="0">
            <a:off x="11458088" y="1599438"/>
            <a:ext cx="5829872" cy="8161592"/>
            <a:chOff x="0" y="0"/>
            <a:chExt cx="7773162" cy="10882122"/>
          </a:xfrm>
        </p:grpSpPr>
        <p:sp>
          <p:nvSpPr>
            <p:cNvPr name="Freeform 10" id="10"/>
            <p:cNvSpPr/>
            <p:nvPr/>
          </p:nvSpPr>
          <p:spPr>
            <a:xfrm flipH="false" flipV="false" rot="0">
              <a:off x="0" y="0"/>
              <a:ext cx="7773162" cy="10882122"/>
            </a:xfrm>
            <a:custGeom>
              <a:avLst/>
              <a:gdLst/>
              <a:ahLst/>
              <a:cxnLst/>
              <a:rect r="r" b="b" t="t" l="l"/>
              <a:pathLst>
                <a:path h="10882122" w="7773162">
                  <a:moveTo>
                    <a:pt x="193021" y="0"/>
                  </a:moveTo>
                  <a:lnTo>
                    <a:pt x="7580141" y="0"/>
                  </a:lnTo>
                  <a:cubicBezTo>
                    <a:pt x="7631333" y="0"/>
                    <a:pt x="7680429" y="20336"/>
                    <a:pt x="7716627" y="56535"/>
                  </a:cubicBezTo>
                  <a:cubicBezTo>
                    <a:pt x="7752826" y="92733"/>
                    <a:pt x="7773162" y="141829"/>
                    <a:pt x="7773162" y="193021"/>
                  </a:cubicBezTo>
                  <a:lnTo>
                    <a:pt x="7773162" y="10689101"/>
                  </a:lnTo>
                  <a:cubicBezTo>
                    <a:pt x="7773162" y="10795703"/>
                    <a:pt x="7686743" y="10882122"/>
                    <a:pt x="7580141" y="10882122"/>
                  </a:cubicBezTo>
                  <a:lnTo>
                    <a:pt x="193021" y="10882122"/>
                  </a:lnTo>
                  <a:cubicBezTo>
                    <a:pt x="141829" y="10882122"/>
                    <a:pt x="92733" y="10861786"/>
                    <a:pt x="56535" y="10825587"/>
                  </a:cubicBezTo>
                  <a:cubicBezTo>
                    <a:pt x="20336" y="10789389"/>
                    <a:pt x="0" y="10740293"/>
                    <a:pt x="0" y="10689101"/>
                  </a:cubicBezTo>
                  <a:lnTo>
                    <a:pt x="0" y="193021"/>
                  </a:lnTo>
                  <a:cubicBezTo>
                    <a:pt x="0" y="141829"/>
                    <a:pt x="20336" y="92733"/>
                    <a:pt x="56535" y="56535"/>
                  </a:cubicBezTo>
                  <a:cubicBezTo>
                    <a:pt x="92733" y="20336"/>
                    <a:pt x="141829" y="0"/>
                    <a:pt x="193021" y="0"/>
                  </a:cubicBezTo>
                  <a:close/>
                </a:path>
              </a:pathLst>
            </a:custGeom>
            <a:blipFill>
              <a:blip r:embed="rId5">
                <a:alphaModFix amt="65000"/>
              </a:blip>
              <a:stretch>
                <a:fillRect l="-2498" t="0" r="-2498" b="0"/>
              </a:stretch>
            </a:blipFill>
          </p:spPr>
        </p:sp>
      </p:grpSp>
      <p:grpSp>
        <p:nvGrpSpPr>
          <p:cNvPr name="Group 11" id="11"/>
          <p:cNvGrpSpPr/>
          <p:nvPr/>
        </p:nvGrpSpPr>
        <p:grpSpPr>
          <a:xfrm rot="0">
            <a:off x="4052792" y="815816"/>
            <a:ext cx="6515671" cy="562928"/>
            <a:chOff x="0" y="0"/>
            <a:chExt cx="8687562" cy="750570"/>
          </a:xfrm>
        </p:grpSpPr>
        <p:sp>
          <p:nvSpPr>
            <p:cNvPr name="Freeform 12" id="12"/>
            <p:cNvSpPr/>
            <p:nvPr/>
          </p:nvSpPr>
          <p:spPr>
            <a:xfrm flipH="false" flipV="false" rot="0">
              <a:off x="0" y="0"/>
              <a:ext cx="8687562" cy="750570"/>
            </a:xfrm>
            <a:custGeom>
              <a:avLst/>
              <a:gdLst/>
              <a:ahLst/>
              <a:cxnLst/>
              <a:rect r="r" b="b" t="t" l="l"/>
              <a:pathLst>
                <a:path h="750570" w="8687562">
                  <a:moveTo>
                    <a:pt x="0" y="375285"/>
                  </a:moveTo>
                  <a:cubicBezTo>
                    <a:pt x="0" y="168021"/>
                    <a:pt x="168021" y="0"/>
                    <a:pt x="375285" y="0"/>
                  </a:cubicBezTo>
                  <a:lnTo>
                    <a:pt x="8312277" y="0"/>
                  </a:lnTo>
                  <a:cubicBezTo>
                    <a:pt x="8519541" y="0"/>
                    <a:pt x="8687562" y="168021"/>
                    <a:pt x="8687562" y="375285"/>
                  </a:cubicBezTo>
                  <a:cubicBezTo>
                    <a:pt x="8687562" y="582549"/>
                    <a:pt x="8519541" y="750570"/>
                    <a:pt x="8312277" y="750570"/>
                  </a:cubicBezTo>
                  <a:lnTo>
                    <a:pt x="375285" y="750570"/>
                  </a:lnTo>
                  <a:cubicBezTo>
                    <a:pt x="168021" y="750570"/>
                    <a:pt x="0" y="582549"/>
                    <a:pt x="0" y="375285"/>
                  </a:cubicBezTo>
                  <a:close/>
                </a:path>
              </a:pathLst>
            </a:custGeom>
            <a:solidFill>
              <a:srgbClr val="C49A7A">
                <a:alpha val="5882"/>
              </a:srgbClr>
            </a:solidFill>
            <a:ln w="14288" cap="sq">
              <a:solidFill>
                <a:srgbClr val="C49A7A"/>
              </a:solidFill>
              <a:prstDash val="solid"/>
              <a:miter/>
            </a:ln>
          </p:spPr>
        </p:sp>
      </p:grpSp>
      <p:grpSp>
        <p:nvGrpSpPr>
          <p:cNvPr name="Group 13" id="13"/>
          <p:cNvGrpSpPr/>
          <p:nvPr/>
        </p:nvGrpSpPr>
        <p:grpSpPr>
          <a:xfrm rot="0">
            <a:off x="10040112" y="946404"/>
            <a:ext cx="301752" cy="301752"/>
            <a:chOff x="0" y="0"/>
            <a:chExt cx="402336" cy="402336"/>
          </a:xfrm>
        </p:grpSpPr>
        <p:sp>
          <p:nvSpPr>
            <p:cNvPr name="Freeform 14" id="14"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6"/>
              <a:stretch>
                <a:fillRect l="0" t="0" r="0" b="0"/>
              </a:stretch>
            </a:blipFill>
          </p:spPr>
        </p:sp>
      </p:grpSp>
      <p:grpSp>
        <p:nvGrpSpPr>
          <p:cNvPr name="Group 15" id="15"/>
          <p:cNvGrpSpPr/>
          <p:nvPr/>
        </p:nvGrpSpPr>
        <p:grpSpPr>
          <a:xfrm rot="0">
            <a:off x="4224528" y="822960"/>
            <a:ext cx="5678424" cy="548640"/>
            <a:chOff x="0" y="0"/>
            <a:chExt cx="7571232" cy="731520"/>
          </a:xfrm>
        </p:grpSpPr>
        <p:sp>
          <p:nvSpPr>
            <p:cNvPr name="Freeform 16" id="16"/>
            <p:cNvSpPr/>
            <p:nvPr/>
          </p:nvSpPr>
          <p:spPr>
            <a:xfrm flipH="false" flipV="false" rot="0">
              <a:off x="0" y="0"/>
              <a:ext cx="7571232" cy="731520"/>
            </a:xfrm>
            <a:custGeom>
              <a:avLst/>
              <a:gdLst/>
              <a:ahLst/>
              <a:cxnLst/>
              <a:rect r="r" b="b" t="t" l="l"/>
              <a:pathLst>
                <a:path h="731520" w="7571232">
                  <a:moveTo>
                    <a:pt x="0" y="0"/>
                  </a:moveTo>
                  <a:lnTo>
                    <a:pt x="7571232" y="0"/>
                  </a:lnTo>
                  <a:lnTo>
                    <a:pt x="7571232" y="731520"/>
                  </a:lnTo>
                  <a:lnTo>
                    <a:pt x="0" y="731520"/>
                  </a:lnTo>
                  <a:close/>
                </a:path>
              </a:pathLst>
            </a:custGeom>
            <a:blipFill>
              <a:blip r:embed="rId4">
                <a:alphaModFix amt="0"/>
              </a:blip>
              <a:stretch>
                <a:fillRect l="0" t="-151670" r="0" b="-151670"/>
              </a:stretch>
            </a:blipFill>
          </p:spPr>
        </p:sp>
        <p:sp>
          <p:nvSpPr>
            <p:cNvPr name="TextBox 17" id="17"/>
            <p:cNvSpPr txBox="true"/>
            <p:nvPr/>
          </p:nvSpPr>
          <p:spPr>
            <a:xfrm>
              <a:off x="0" y="-9525"/>
              <a:ext cx="7571232" cy="741045"/>
            </a:xfrm>
            <a:prstGeom prst="rect">
              <a:avLst/>
            </a:prstGeom>
          </p:spPr>
          <p:txBody>
            <a:bodyPr anchor="ctr" rtlCol="false" tIns="0" lIns="0" bIns="0" rIns="0"/>
            <a:lstStyle/>
            <a:p>
              <a:pPr algn="r" rtl="true">
                <a:lnSpc>
                  <a:spcPts val="2340"/>
                </a:lnSpc>
              </a:pPr>
              <a:r>
                <a:rPr lang="ar-EG" b="true" sz="1950" spc="20">
                  <a:solidFill>
                    <a:srgbClr val="C49A7A"/>
                  </a:solidFill>
                  <a:latin typeface="XM Traffic Bold"/>
                  <a:ea typeface="XM Traffic Bold"/>
                  <a:cs typeface="XM Traffic Bold"/>
                  <a:sym typeface="XM Traffic Bold"/>
                  <a:rtl val="true"/>
                </a:rPr>
                <a:t>خرطم — يوم كامل من التجارب</a:t>
              </a:r>
            </a:p>
          </p:txBody>
        </p:sp>
      </p:grpSp>
      <p:sp>
        <p:nvSpPr>
          <p:cNvPr name="TextBox 18" id="18"/>
          <p:cNvSpPr txBox="true"/>
          <p:nvPr/>
        </p:nvSpPr>
        <p:spPr>
          <a:xfrm rot="0">
            <a:off x="822960" y="1508760"/>
            <a:ext cx="9738360" cy="1714500"/>
          </a:xfrm>
          <a:prstGeom prst="rect">
            <a:avLst/>
          </a:prstGeom>
        </p:spPr>
        <p:txBody>
          <a:bodyPr anchor="t" rtlCol="false" tIns="0" lIns="0" bIns="0" rIns="0">
            <a:spAutoFit/>
          </a:bodyPr>
          <a:lstStyle/>
          <a:p>
            <a:pPr algn="r" rtl="true">
              <a:lnSpc>
                <a:spcPts val="6480"/>
              </a:lnSpc>
            </a:pPr>
            <a:r>
              <a:rPr lang="ar-EG" b="true" sz="5400" spc="55">
                <a:solidFill>
                  <a:srgbClr val="F3EADB"/>
                </a:solidFill>
                <a:latin typeface="XM Traffic Bold"/>
                <a:ea typeface="XM Traffic Bold"/>
                <a:cs typeface="XM Traffic Bold"/>
                <a:sym typeface="XM Traffic Bold"/>
                <a:rtl val="true"/>
              </a:rPr>
              <a:t>وجهة تجمع العائلة</a:t>
            </a:r>
          </a:p>
        </p:txBody>
      </p:sp>
      <p:sp>
        <p:nvSpPr>
          <p:cNvPr name="TextBox 19" id="19"/>
          <p:cNvSpPr txBox="true"/>
          <p:nvPr/>
        </p:nvSpPr>
        <p:spPr>
          <a:xfrm rot="0">
            <a:off x="822960" y="3253740"/>
            <a:ext cx="9738360" cy="1958340"/>
          </a:xfrm>
          <a:prstGeom prst="rect">
            <a:avLst/>
          </a:prstGeom>
        </p:spPr>
        <p:txBody>
          <a:bodyPr anchor="t" rtlCol="false" tIns="0" lIns="0" bIns="0" rIns="0">
            <a:spAutoFit/>
          </a:bodyPr>
          <a:lstStyle/>
          <a:p>
            <a:pPr algn="r">
              <a:lnSpc>
                <a:spcPts val="3104"/>
              </a:lnSpc>
            </a:pPr>
            <a:r>
              <a:rPr lang="ar-EG" sz="2250" spc="23">
                <a:solidFill>
                  <a:srgbClr val="E3D4BC"/>
                </a:solidFill>
                <a:latin typeface="XM Traffic"/>
                <a:ea typeface="XM Traffic"/>
                <a:cs typeface="XM Traffic"/>
                <a:sym typeface="XM Traffic"/>
                <a:rtl val="true"/>
              </a:rPr>
              <a:t>من أول زيارة للمطاعم وحتى آخر لحظات الغروب، تتحول خرطم إلى مساحة مليئة بالتجارب؛ طعام وضيافة، وأنشطة للأطفال، وأركان محلية، ومساحات للاسترخاء والاستمتاع بالطبيعة</a:t>
            </a:r>
            <a:r>
              <a:rPr lang="en-US" sz="2250" spc="23">
                <a:solidFill>
                  <a:srgbClr val="E3D4BC"/>
                </a:solidFill>
                <a:latin typeface="XM Traffic"/>
                <a:ea typeface="XM Traffic"/>
                <a:cs typeface="XM Traffic"/>
                <a:sym typeface="XM Traffic"/>
              </a:rPr>
              <a:t>.</a:t>
            </a:r>
          </a:p>
        </p:txBody>
      </p:sp>
      <p:grpSp>
        <p:nvGrpSpPr>
          <p:cNvPr name="Group 20" id="20"/>
          <p:cNvGrpSpPr/>
          <p:nvPr/>
        </p:nvGrpSpPr>
        <p:grpSpPr>
          <a:xfrm rot="0">
            <a:off x="822960" y="5239512"/>
            <a:ext cx="9738360" cy="411480"/>
            <a:chOff x="0" y="0"/>
            <a:chExt cx="12984480" cy="548640"/>
          </a:xfrm>
        </p:grpSpPr>
        <p:sp>
          <p:nvSpPr>
            <p:cNvPr name="Freeform 21" id="21"/>
            <p:cNvSpPr/>
            <p:nvPr/>
          </p:nvSpPr>
          <p:spPr>
            <a:xfrm flipH="false" flipV="false" rot="0">
              <a:off x="0" y="0"/>
              <a:ext cx="12984480" cy="548640"/>
            </a:xfrm>
            <a:custGeom>
              <a:avLst/>
              <a:gdLst/>
              <a:ahLst/>
              <a:cxnLst/>
              <a:rect r="r" b="b" t="t" l="l"/>
              <a:pathLst>
                <a:path h="548640" w="12984480">
                  <a:moveTo>
                    <a:pt x="0" y="0"/>
                  </a:moveTo>
                  <a:lnTo>
                    <a:pt x="12984480" y="0"/>
                  </a:lnTo>
                  <a:lnTo>
                    <a:pt x="12984480" y="548640"/>
                  </a:lnTo>
                  <a:lnTo>
                    <a:pt x="0" y="548640"/>
                  </a:lnTo>
                  <a:close/>
                </a:path>
              </a:pathLst>
            </a:custGeom>
            <a:blipFill>
              <a:blip r:embed="rId4">
                <a:alphaModFix amt="0"/>
              </a:blip>
              <a:stretch>
                <a:fillRect l="0" t="-411145" r="0" b="-411145"/>
              </a:stretch>
            </a:blipFill>
          </p:spPr>
        </p:sp>
        <p:sp>
          <p:nvSpPr>
            <p:cNvPr name="TextBox 22" id="22"/>
            <p:cNvSpPr txBox="true"/>
            <p:nvPr/>
          </p:nvSpPr>
          <p:spPr>
            <a:xfrm>
              <a:off x="0" y="0"/>
              <a:ext cx="12984480" cy="548640"/>
            </a:xfrm>
            <a:prstGeom prst="rect">
              <a:avLst/>
            </a:prstGeom>
          </p:spPr>
          <p:txBody>
            <a:bodyPr anchor="ctr" rtlCol="false" tIns="0" lIns="0" bIns="0" rIns="0"/>
            <a:lstStyle/>
            <a:p>
              <a:pPr algn="r" rtl="true">
                <a:lnSpc>
                  <a:spcPts val="2520"/>
                </a:lnSpc>
              </a:pPr>
              <a:r>
                <a:rPr lang="ar-EG" b="true" sz="2100" spc="21">
                  <a:solidFill>
                    <a:srgbClr val="C49A7A"/>
                  </a:solidFill>
                  <a:latin typeface="XM Traffic Bold"/>
                  <a:ea typeface="XM Traffic Bold"/>
                  <a:cs typeface="XM Traffic Bold"/>
                  <a:sym typeface="XM Traffic Bold"/>
                  <a:rtl val="true"/>
                </a:rPr>
                <a:t>مكونات التجربة</a:t>
              </a:r>
            </a:p>
          </p:txBody>
        </p:sp>
      </p:grpSp>
      <p:grpSp>
        <p:nvGrpSpPr>
          <p:cNvPr name="Group 23" id="23"/>
          <p:cNvGrpSpPr/>
          <p:nvPr/>
        </p:nvGrpSpPr>
        <p:grpSpPr>
          <a:xfrm rot="0">
            <a:off x="5822156" y="5781008"/>
            <a:ext cx="4746308" cy="837248"/>
            <a:chOff x="0" y="0"/>
            <a:chExt cx="6328410" cy="1116330"/>
          </a:xfrm>
        </p:grpSpPr>
        <p:sp>
          <p:nvSpPr>
            <p:cNvPr name="Freeform 24" id="24"/>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25" id="25"/>
          <p:cNvGrpSpPr/>
          <p:nvPr/>
        </p:nvGrpSpPr>
        <p:grpSpPr>
          <a:xfrm rot="0">
            <a:off x="9820656" y="5911596"/>
            <a:ext cx="576072" cy="576072"/>
            <a:chOff x="0" y="0"/>
            <a:chExt cx="768096" cy="768096"/>
          </a:xfrm>
        </p:grpSpPr>
        <p:sp>
          <p:nvSpPr>
            <p:cNvPr name="Freeform 26" id="2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49A7A"/>
            </a:solidFill>
          </p:spPr>
        </p:sp>
      </p:grpSp>
      <p:grpSp>
        <p:nvGrpSpPr>
          <p:cNvPr name="Group 27" id="27"/>
          <p:cNvGrpSpPr/>
          <p:nvPr/>
        </p:nvGrpSpPr>
        <p:grpSpPr>
          <a:xfrm rot="0">
            <a:off x="9964674" y="6055614"/>
            <a:ext cx="288036" cy="288036"/>
            <a:chOff x="0" y="0"/>
            <a:chExt cx="384048" cy="384048"/>
          </a:xfrm>
        </p:grpSpPr>
        <p:sp>
          <p:nvSpPr>
            <p:cNvPr name="Freeform 28" id="28"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7"/>
              <a:stretch>
                <a:fillRect l="0" t="0" r="0" b="0"/>
              </a:stretch>
            </a:blipFill>
          </p:spPr>
        </p:sp>
      </p:grpSp>
      <p:grpSp>
        <p:nvGrpSpPr>
          <p:cNvPr name="Group 29" id="29"/>
          <p:cNvGrpSpPr/>
          <p:nvPr/>
        </p:nvGrpSpPr>
        <p:grpSpPr>
          <a:xfrm rot="0">
            <a:off x="5993892" y="5788152"/>
            <a:ext cx="3662172" cy="822960"/>
            <a:chOff x="0" y="0"/>
            <a:chExt cx="4882896" cy="1097280"/>
          </a:xfrm>
        </p:grpSpPr>
        <p:sp>
          <p:nvSpPr>
            <p:cNvPr name="Freeform 30" id="30"/>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31" id="31"/>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منطقة مطاعم وأطعمة ومشروبات</a:t>
              </a:r>
            </a:p>
          </p:txBody>
        </p:sp>
      </p:grpSp>
      <p:grpSp>
        <p:nvGrpSpPr>
          <p:cNvPr name="Group 32" id="32"/>
          <p:cNvGrpSpPr/>
          <p:nvPr/>
        </p:nvGrpSpPr>
        <p:grpSpPr>
          <a:xfrm rot="0">
            <a:off x="815816" y="5781008"/>
            <a:ext cx="4746308" cy="837248"/>
            <a:chOff x="0" y="0"/>
            <a:chExt cx="6328410" cy="1116330"/>
          </a:xfrm>
        </p:grpSpPr>
        <p:sp>
          <p:nvSpPr>
            <p:cNvPr name="Freeform 33" id="33"/>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34" id="34"/>
          <p:cNvGrpSpPr/>
          <p:nvPr/>
        </p:nvGrpSpPr>
        <p:grpSpPr>
          <a:xfrm rot="0">
            <a:off x="4814316" y="5911596"/>
            <a:ext cx="576072" cy="576072"/>
            <a:chOff x="0" y="0"/>
            <a:chExt cx="768096" cy="768096"/>
          </a:xfrm>
        </p:grpSpPr>
        <p:sp>
          <p:nvSpPr>
            <p:cNvPr name="Freeform 35" id="35"/>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49A7A"/>
            </a:solidFill>
          </p:spPr>
        </p:sp>
      </p:grpSp>
      <p:grpSp>
        <p:nvGrpSpPr>
          <p:cNvPr name="Group 36" id="36"/>
          <p:cNvGrpSpPr/>
          <p:nvPr/>
        </p:nvGrpSpPr>
        <p:grpSpPr>
          <a:xfrm rot="0">
            <a:off x="4958334" y="6055614"/>
            <a:ext cx="288036" cy="288036"/>
            <a:chOff x="0" y="0"/>
            <a:chExt cx="384048" cy="384048"/>
          </a:xfrm>
        </p:grpSpPr>
        <p:sp>
          <p:nvSpPr>
            <p:cNvPr name="Freeform 37" id="37"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8"/>
              <a:stretch>
                <a:fillRect l="0" t="0" r="0" b="0"/>
              </a:stretch>
            </a:blipFill>
          </p:spPr>
        </p:sp>
      </p:grpSp>
      <p:grpSp>
        <p:nvGrpSpPr>
          <p:cNvPr name="Group 38" id="38"/>
          <p:cNvGrpSpPr/>
          <p:nvPr/>
        </p:nvGrpSpPr>
        <p:grpSpPr>
          <a:xfrm rot="0">
            <a:off x="987552" y="5788152"/>
            <a:ext cx="3662172" cy="822960"/>
            <a:chOff x="0" y="0"/>
            <a:chExt cx="4882896" cy="1097280"/>
          </a:xfrm>
        </p:grpSpPr>
        <p:sp>
          <p:nvSpPr>
            <p:cNvPr name="Freeform 39" id="39"/>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40" id="40"/>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أكشاك للمنتجات المحلية والأسر المنتجة</a:t>
              </a:r>
            </a:p>
          </p:txBody>
        </p:sp>
      </p:grpSp>
      <p:grpSp>
        <p:nvGrpSpPr>
          <p:cNvPr name="Group 41" id="41"/>
          <p:cNvGrpSpPr/>
          <p:nvPr/>
        </p:nvGrpSpPr>
        <p:grpSpPr>
          <a:xfrm rot="0">
            <a:off x="5822156" y="6713696"/>
            <a:ext cx="4746308" cy="837248"/>
            <a:chOff x="0" y="0"/>
            <a:chExt cx="6328410" cy="1116330"/>
          </a:xfrm>
        </p:grpSpPr>
        <p:sp>
          <p:nvSpPr>
            <p:cNvPr name="Freeform 42" id="42"/>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43" id="43"/>
          <p:cNvGrpSpPr/>
          <p:nvPr/>
        </p:nvGrpSpPr>
        <p:grpSpPr>
          <a:xfrm rot="0">
            <a:off x="9820656" y="6844284"/>
            <a:ext cx="576072" cy="576072"/>
            <a:chOff x="0" y="0"/>
            <a:chExt cx="768096" cy="768096"/>
          </a:xfrm>
        </p:grpSpPr>
        <p:sp>
          <p:nvSpPr>
            <p:cNvPr name="Freeform 44" id="4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49A7A"/>
            </a:solidFill>
          </p:spPr>
        </p:sp>
      </p:grpSp>
      <p:grpSp>
        <p:nvGrpSpPr>
          <p:cNvPr name="Group 45" id="45"/>
          <p:cNvGrpSpPr/>
          <p:nvPr/>
        </p:nvGrpSpPr>
        <p:grpSpPr>
          <a:xfrm rot="0">
            <a:off x="9964674" y="6988302"/>
            <a:ext cx="288036" cy="288036"/>
            <a:chOff x="0" y="0"/>
            <a:chExt cx="384048" cy="384048"/>
          </a:xfrm>
        </p:grpSpPr>
        <p:sp>
          <p:nvSpPr>
            <p:cNvPr name="Freeform 46" id="46"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9"/>
              <a:stretch>
                <a:fillRect l="0" t="0" r="0" b="0"/>
              </a:stretch>
            </a:blipFill>
          </p:spPr>
        </p:sp>
      </p:grpSp>
      <p:grpSp>
        <p:nvGrpSpPr>
          <p:cNvPr name="Group 47" id="47"/>
          <p:cNvGrpSpPr/>
          <p:nvPr/>
        </p:nvGrpSpPr>
        <p:grpSpPr>
          <a:xfrm rot="0">
            <a:off x="5993892" y="6720840"/>
            <a:ext cx="3662172" cy="822960"/>
            <a:chOff x="0" y="0"/>
            <a:chExt cx="4882896" cy="1097280"/>
          </a:xfrm>
        </p:grpSpPr>
        <p:sp>
          <p:nvSpPr>
            <p:cNvPr name="Freeform 48" id="48"/>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49" id="49"/>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منطقة مخصصة للأطفال والألعاب</a:t>
              </a:r>
            </a:p>
          </p:txBody>
        </p:sp>
      </p:grpSp>
      <p:grpSp>
        <p:nvGrpSpPr>
          <p:cNvPr name="Group 50" id="50"/>
          <p:cNvGrpSpPr/>
          <p:nvPr/>
        </p:nvGrpSpPr>
        <p:grpSpPr>
          <a:xfrm rot="0">
            <a:off x="815816" y="6713696"/>
            <a:ext cx="4746308" cy="837248"/>
            <a:chOff x="0" y="0"/>
            <a:chExt cx="6328410" cy="1116330"/>
          </a:xfrm>
        </p:grpSpPr>
        <p:sp>
          <p:nvSpPr>
            <p:cNvPr name="Freeform 51" id="51"/>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52" id="52"/>
          <p:cNvGrpSpPr/>
          <p:nvPr/>
        </p:nvGrpSpPr>
        <p:grpSpPr>
          <a:xfrm rot="0">
            <a:off x="4814316" y="6844284"/>
            <a:ext cx="576072" cy="576072"/>
            <a:chOff x="0" y="0"/>
            <a:chExt cx="768096" cy="768096"/>
          </a:xfrm>
        </p:grpSpPr>
        <p:sp>
          <p:nvSpPr>
            <p:cNvPr name="Freeform 53" id="53"/>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49A7A"/>
            </a:solidFill>
          </p:spPr>
        </p:sp>
      </p:grpSp>
      <p:grpSp>
        <p:nvGrpSpPr>
          <p:cNvPr name="Group 54" id="54"/>
          <p:cNvGrpSpPr/>
          <p:nvPr/>
        </p:nvGrpSpPr>
        <p:grpSpPr>
          <a:xfrm rot="0">
            <a:off x="4958334" y="6988302"/>
            <a:ext cx="288036" cy="288036"/>
            <a:chOff x="0" y="0"/>
            <a:chExt cx="384048" cy="384048"/>
          </a:xfrm>
        </p:grpSpPr>
        <p:sp>
          <p:nvSpPr>
            <p:cNvPr name="Freeform 55" id="55"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0"/>
              <a:stretch>
                <a:fillRect l="0" t="0" r="0" b="0"/>
              </a:stretch>
            </a:blipFill>
          </p:spPr>
        </p:sp>
      </p:grpSp>
      <p:grpSp>
        <p:nvGrpSpPr>
          <p:cNvPr name="Group 56" id="56"/>
          <p:cNvGrpSpPr/>
          <p:nvPr/>
        </p:nvGrpSpPr>
        <p:grpSpPr>
          <a:xfrm rot="0">
            <a:off x="987552" y="6720840"/>
            <a:ext cx="3662172" cy="822960"/>
            <a:chOff x="0" y="0"/>
            <a:chExt cx="4882896" cy="1097280"/>
          </a:xfrm>
        </p:grpSpPr>
        <p:sp>
          <p:nvSpPr>
            <p:cNvPr name="Freeform 57" id="57"/>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58" id="58"/>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جلسات عائلية ومناطق استراحة</a:t>
              </a:r>
            </a:p>
          </p:txBody>
        </p:sp>
      </p:grpSp>
      <p:grpSp>
        <p:nvGrpSpPr>
          <p:cNvPr name="Group 59" id="59"/>
          <p:cNvGrpSpPr/>
          <p:nvPr/>
        </p:nvGrpSpPr>
        <p:grpSpPr>
          <a:xfrm rot="0">
            <a:off x="5822156" y="7646384"/>
            <a:ext cx="4746308" cy="837248"/>
            <a:chOff x="0" y="0"/>
            <a:chExt cx="6328410" cy="1116330"/>
          </a:xfrm>
        </p:grpSpPr>
        <p:sp>
          <p:nvSpPr>
            <p:cNvPr name="Freeform 60" id="60"/>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61" id="61"/>
          <p:cNvGrpSpPr/>
          <p:nvPr/>
        </p:nvGrpSpPr>
        <p:grpSpPr>
          <a:xfrm rot="0">
            <a:off x="9820656" y="7776972"/>
            <a:ext cx="576072" cy="576072"/>
            <a:chOff x="0" y="0"/>
            <a:chExt cx="768096" cy="768096"/>
          </a:xfrm>
        </p:grpSpPr>
        <p:sp>
          <p:nvSpPr>
            <p:cNvPr name="Freeform 62" id="62"/>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49A7A"/>
            </a:solidFill>
          </p:spPr>
        </p:sp>
      </p:grpSp>
      <p:grpSp>
        <p:nvGrpSpPr>
          <p:cNvPr name="Group 63" id="63"/>
          <p:cNvGrpSpPr/>
          <p:nvPr/>
        </p:nvGrpSpPr>
        <p:grpSpPr>
          <a:xfrm rot="0">
            <a:off x="9964674" y="7920990"/>
            <a:ext cx="288036" cy="288036"/>
            <a:chOff x="0" y="0"/>
            <a:chExt cx="384048" cy="384048"/>
          </a:xfrm>
        </p:grpSpPr>
        <p:sp>
          <p:nvSpPr>
            <p:cNvPr name="Freeform 64" id="64"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1"/>
              <a:stretch>
                <a:fillRect l="0" t="0" r="0" b="0"/>
              </a:stretch>
            </a:blipFill>
          </p:spPr>
        </p:sp>
      </p:grpSp>
      <p:grpSp>
        <p:nvGrpSpPr>
          <p:cNvPr name="Group 65" id="65"/>
          <p:cNvGrpSpPr/>
          <p:nvPr/>
        </p:nvGrpSpPr>
        <p:grpSpPr>
          <a:xfrm rot="0">
            <a:off x="5993892" y="7653528"/>
            <a:ext cx="3662172" cy="822960"/>
            <a:chOff x="0" y="0"/>
            <a:chExt cx="4882896" cy="1097280"/>
          </a:xfrm>
        </p:grpSpPr>
        <p:sp>
          <p:nvSpPr>
            <p:cNvPr name="Freeform 66" id="66"/>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67" id="67"/>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مناطق تصوير بإطلالات مميزة</a:t>
              </a:r>
            </a:p>
          </p:txBody>
        </p:sp>
      </p:grpSp>
      <p:grpSp>
        <p:nvGrpSpPr>
          <p:cNvPr name="Group 68" id="68"/>
          <p:cNvGrpSpPr/>
          <p:nvPr/>
        </p:nvGrpSpPr>
        <p:grpSpPr>
          <a:xfrm rot="0">
            <a:off x="815816" y="7646384"/>
            <a:ext cx="4746308" cy="837248"/>
            <a:chOff x="0" y="0"/>
            <a:chExt cx="6328410" cy="1116330"/>
          </a:xfrm>
        </p:grpSpPr>
        <p:sp>
          <p:nvSpPr>
            <p:cNvPr name="Freeform 69" id="69"/>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70" id="70"/>
          <p:cNvGrpSpPr/>
          <p:nvPr/>
        </p:nvGrpSpPr>
        <p:grpSpPr>
          <a:xfrm rot="0">
            <a:off x="4814316" y="7776972"/>
            <a:ext cx="576072" cy="576072"/>
            <a:chOff x="0" y="0"/>
            <a:chExt cx="768096" cy="768096"/>
          </a:xfrm>
        </p:grpSpPr>
        <p:sp>
          <p:nvSpPr>
            <p:cNvPr name="Freeform 71" id="7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49A7A"/>
            </a:solidFill>
          </p:spPr>
        </p:sp>
      </p:grpSp>
      <p:grpSp>
        <p:nvGrpSpPr>
          <p:cNvPr name="Group 72" id="72"/>
          <p:cNvGrpSpPr/>
          <p:nvPr/>
        </p:nvGrpSpPr>
        <p:grpSpPr>
          <a:xfrm rot="0">
            <a:off x="4958334" y="7920990"/>
            <a:ext cx="288036" cy="288036"/>
            <a:chOff x="0" y="0"/>
            <a:chExt cx="384048" cy="384048"/>
          </a:xfrm>
        </p:grpSpPr>
        <p:sp>
          <p:nvSpPr>
            <p:cNvPr name="Freeform 73" id="73"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2"/>
              <a:stretch>
                <a:fillRect l="0" t="0" r="0" b="0"/>
              </a:stretch>
            </a:blipFill>
          </p:spPr>
        </p:sp>
      </p:grpSp>
      <p:grpSp>
        <p:nvGrpSpPr>
          <p:cNvPr name="Group 74" id="74"/>
          <p:cNvGrpSpPr/>
          <p:nvPr/>
        </p:nvGrpSpPr>
        <p:grpSpPr>
          <a:xfrm rot="0">
            <a:off x="987552" y="7653528"/>
            <a:ext cx="3662172" cy="822960"/>
            <a:chOff x="0" y="0"/>
            <a:chExt cx="4882896" cy="1097280"/>
          </a:xfrm>
        </p:grpSpPr>
        <p:sp>
          <p:nvSpPr>
            <p:cNvPr name="Freeform 75" id="75"/>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76" id="76"/>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فعاليات موسمية وتجارب تفاعلية</a:t>
              </a:r>
            </a:p>
          </p:txBody>
        </p:sp>
      </p:grpSp>
      <p:grpSp>
        <p:nvGrpSpPr>
          <p:cNvPr name="Group 77" id="77"/>
          <p:cNvGrpSpPr/>
          <p:nvPr/>
        </p:nvGrpSpPr>
        <p:grpSpPr>
          <a:xfrm rot="0">
            <a:off x="5822156" y="8579072"/>
            <a:ext cx="4746308" cy="837248"/>
            <a:chOff x="0" y="0"/>
            <a:chExt cx="6328410" cy="1116330"/>
          </a:xfrm>
        </p:grpSpPr>
        <p:sp>
          <p:nvSpPr>
            <p:cNvPr name="Freeform 78" id="78"/>
            <p:cNvSpPr/>
            <p:nvPr/>
          </p:nvSpPr>
          <p:spPr>
            <a:xfrm flipH="false" flipV="false" rot="0">
              <a:off x="0" y="0"/>
              <a:ext cx="6328410" cy="1116330"/>
            </a:xfrm>
            <a:custGeom>
              <a:avLst/>
              <a:gdLst/>
              <a:ahLst/>
              <a:cxnLst/>
              <a:rect r="r" b="b" t="t" l="l"/>
              <a:pathLst>
                <a:path h="1116330" w="6328410">
                  <a:moveTo>
                    <a:pt x="0" y="260477"/>
                  </a:moveTo>
                  <a:cubicBezTo>
                    <a:pt x="0" y="116586"/>
                    <a:pt x="116586" y="0"/>
                    <a:pt x="260477" y="0"/>
                  </a:cubicBezTo>
                  <a:lnTo>
                    <a:pt x="6067933" y="0"/>
                  </a:lnTo>
                  <a:cubicBezTo>
                    <a:pt x="6211824" y="0"/>
                    <a:pt x="6328410" y="116586"/>
                    <a:pt x="6328410" y="260477"/>
                  </a:cubicBezTo>
                  <a:lnTo>
                    <a:pt x="6328410" y="855853"/>
                  </a:lnTo>
                  <a:cubicBezTo>
                    <a:pt x="6328410" y="999744"/>
                    <a:pt x="6211824" y="1116330"/>
                    <a:pt x="6067933" y="1116330"/>
                  </a:cubicBezTo>
                  <a:lnTo>
                    <a:pt x="260477" y="1116330"/>
                  </a:lnTo>
                  <a:cubicBezTo>
                    <a:pt x="116586" y="1116330"/>
                    <a:pt x="0" y="999744"/>
                    <a:pt x="0" y="855853"/>
                  </a:cubicBezTo>
                  <a:close/>
                </a:path>
              </a:pathLst>
            </a:custGeom>
            <a:solidFill>
              <a:srgbClr val="3A2A1F"/>
            </a:solidFill>
            <a:ln w="14288" cap="sq">
              <a:solidFill>
                <a:srgbClr val="4D3A2C"/>
              </a:solidFill>
              <a:prstDash val="solid"/>
              <a:miter/>
            </a:ln>
          </p:spPr>
        </p:sp>
      </p:grpSp>
      <p:grpSp>
        <p:nvGrpSpPr>
          <p:cNvPr name="Group 79" id="79"/>
          <p:cNvGrpSpPr/>
          <p:nvPr/>
        </p:nvGrpSpPr>
        <p:grpSpPr>
          <a:xfrm rot="0">
            <a:off x="9820656" y="8709660"/>
            <a:ext cx="576072" cy="576072"/>
            <a:chOff x="0" y="0"/>
            <a:chExt cx="768096" cy="768096"/>
          </a:xfrm>
        </p:grpSpPr>
        <p:sp>
          <p:nvSpPr>
            <p:cNvPr name="Freeform 80" id="8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C49A7A"/>
            </a:solidFill>
          </p:spPr>
        </p:sp>
      </p:grpSp>
      <p:grpSp>
        <p:nvGrpSpPr>
          <p:cNvPr name="Group 81" id="81"/>
          <p:cNvGrpSpPr/>
          <p:nvPr/>
        </p:nvGrpSpPr>
        <p:grpSpPr>
          <a:xfrm rot="0">
            <a:off x="9964674" y="8853678"/>
            <a:ext cx="288036" cy="288036"/>
            <a:chOff x="0" y="0"/>
            <a:chExt cx="384048" cy="384048"/>
          </a:xfrm>
        </p:grpSpPr>
        <p:sp>
          <p:nvSpPr>
            <p:cNvPr name="Freeform 82" id="82"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13"/>
              <a:stretch>
                <a:fillRect l="0" t="0" r="0" b="0"/>
              </a:stretch>
            </a:blipFill>
          </p:spPr>
        </p:sp>
      </p:grpSp>
      <p:grpSp>
        <p:nvGrpSpPr>
          <p:cNvPr name="Group 83" id="83"/>
          <p:cNvGrpSpPr/>
          <p:nvPr/>
        </p:nvGrpSpPr>
        <p:grpSpPr>
          <a:xfrm rot="0">
            <a:off x="5993892" y="8586216"/>
            <a:ext cx="3662172" cy="822960"/>
            <a:chOff x="0" y="0"/>
            <a:chExt cx="4882896" cy="1097280"/>
          </a:xfrm>
        </p:grpSpPr>
        <p:sp>
          <p:nvSpPr>
            <p:cNvPr name="Freeform 84" id="84"/>
            <p:cNvSpPr/>
            <p:nvPr/>
          </p:nvSpPr>
          <p:spPr>
            <a:xfrm flipH="false" flipV="false" rot="0">
              <a:off x="0" y="0"/>
              <a:ext cx="4882896" cy="1097280"/>
            </a:xfrm>
            <a:custGeom>
              <a:avLst/>
              <a:gdLst/>
              <a:ahLst/>
              <a:cxnLst/>
              <a:rect r="r" b="b" t="t" l="l"/>
              <a:pathLst>
                <a:path h="1097280" w="4882896">
                  <a:moveTo>
                    <a:pt x="0" y="0"/>
                  </a:moveTo>
                  <a:lnTo>
                    <a:pt x="4882896" y="0"/>
                  </a:lnTo>
                  <a:lnTo>
                    <a:pt x="4882896" y="1097280"/>
                  </a:lnTo>
                  <a:lnTo>
                    <a:pt x="0" y="1097280"/>
                  </a:lnTo>
                  <a:close/>
                </a:path>
              </a:pathLst>
            </a:custGeom>
            <a:blipFill>
              <a:blip r:embed="rId4">
                <a:alphaModFix amt="0"/>
              </a:blip>
              <a:stretch>
                <a:fillRect l="0" t="-36708" r="0" b="-36708"/>
              </a:stretch>
            </a:blipFill>
          </p:spPr>
        </p:sp>
        <p:sp>
          <p:nvSpPr>
            <p:cNvPr name="TextBox 85" id="85"/>
            <p:cNvSpPr txBox="true"/>
            <p:nvPr/>
          </p:nvSpPr>
          <p:spPr>
            <a:xfrm>
              <a:off x="0" y="0"/>
              <a:ext cx="4882896" cy="109728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مساحات للمشي والاستمتاع بالطبيعة</a:t>
              </a:r>
            </a:p>
          </p:txBody>
        </p:sp>
      </p:grpSp>
      <p:grpSp>
        <p:nvGrpSpPr>
          <p:cNvPr name="Group 86" id="86"/>
          <p:cNvGrpSpPr/>
          <p:nvPr/>
        </p:nvGrpSpPr>
        <p:grpSpPr>
          <a:xfrm rot="0">
            <a:off x="822960" y="9669780"/>
            <a:ext cx="9738360" cy="342900"/>
            <a:chOff x="0" y="0"/>
            <a:chExt cx="12984480" cy="457200"/>
          </a:xfrm>
        </p:grpSpPr>
        <p:sp>
          <p:nvSpPr>
            <p:cNvPr name="Freeform 87" id="87"/>
            <p:cNvSpPr/>
            <p:nvPr/>
          </p:nvSpPr>
          <p:spPr>
            <a:xfrm flipH="false" flipV="false" rot="0">
              <a:off x="0" y="0"/>
              <a:ext cx="12984480" cy="457200"/>
            </a:xfrm>
            <a:custGeom>
              <a:avLst/>
              <a:gdLst/>
              <a:ahLst/>
              <a:cxnLst/>
              <a:rect r="r" b="b" t="t" l="l"/>
              <a:pathLst>
                <a:path h="457200" w="12984480">
                  <a:moveTo>
                    <a:pt x="0" y="0"/>
                  </a:moveTo>
                  <a:lnTo>
                    <a:pt x="12984480" y="0"/>
                  </a:lnTo>
                  <a:lnTo>
                    <a:pt x="12984480" y="457200"/>
                  </a:lnTo>
                  <a:lnTo>
                    <a:pt x="0" y="457200"/>
                  </a:lnTo>
                  <a:close/>
                </a:path>
              </a:pathLst>
            </a:custGeom>
            <a:blipFill>
              <a:blip r:embed="rId4">
                <a:alphaModFix amt="0"/>
              </a:blip>
              <a:stretch>
                <a:fillRect l="0" t="-503375" r="0" b="-503375"/>
              </a:stretch>
            </a:blipFill>
          </p:spPr>
        </p:sp>
        <p:sp>
          <p:nvSpPr>
            <p:cNvPr name="TextBox 88" id="88"/>
            <p:cNvSpPr txBox="true"/>
            <p:nvPr/>
          </p:nvSpPr>
          <p:spPr>
            <a:xfrm>
              <a:off x="0" y="0"/>
              <a:ext cx="12984480" cy="457200"/>
            </a:xfrm>
            <a:prstGeom prst="rect">
              <a:avLst/>
            </a:prstGeom>
          </p:spPr>
          <p:txBody>
            <a:bodyPr anchor="ctr" rtlCol="false" tIns="0" lIns="0" bIns="0" rIns="0"/>
            <a:lstStyle/>
            <a:p>
              <a:pPr algn="r" rtl="true">
                <a:lnSpc>
                  <a:spcPts val="1800"/>
                </a:lnSpc>
              </a:pPr>
              <a:r>
                <a:rPr lang="ar-EG" sz="1500" spc="15">
                  <a:solidFill>
                    <a:srgbClr val="CDB79A"/>
                  </a:solidFill>
                  <a:latin typeface="XM Traffic"/>
                  <a:ea typeface="XM Traffic"/>
                  <a:cs typeface="XM Traffic"/>
                  <a:sym typeface="XM Traffic"/>
                  <a:rtl val="true"/>
                </a:rPr>
                <a:t>تصوّر تطويري مقترح</a:t>
              </a:r>
            </a:p>
          </p:txBody>
        </p:sp>
      </p:grpSp>
      <p:grpSp>
        <p:nvGrpSpPr>
          <p:cNvPr name="Group 89" id="89"/>
          <p:cNvGrpSpPr/>
          <p:nvPr/>
        </p:nvGrpSpPr>
        <p:grpSpPr>
          <a:xfrm rot="0">
            <a:off x="572795" y="815816"/>
            <a:ext cx="3314290" cy="562928"/>
            <a:chOff x="0" y="0"/>
            <a:chExt cx="4419054" cy="750570"/>
          </a:xfrm>
        </p:grpSpPr>
        <p:sp>
          <p:nvSpPr>
            <p:cNvPr name="Freeform 90" id="90" descr="رابط الموقع على خرائط قوقل">
              <a:hlinkClick r:id="rId14" tooltip="https://www.google.com/maps/search/?api=1&amp;query=%D9%85%D9%86%D8%AA%D8%B2%D9%87%20%D8%AE%D8%B1%D8%B7%D9%85%20%D8%A7%D9%84%D9%85%D8%B0%D9%86%D8%A8"/>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D9A66B"/>
            </a:solidFill>
            <a:ln w="14288" cap="sq">
              <a:solidFill>
                <a:srgbClr val="D9A66B"/>
              </a:solidFill>
              <a:prstDash val="solid"/>
              <a:miter/>
            </a:ln>
          </p:spPr>
        </p:sp>
      </p:grpSp>
      <p:grpSp>
        <p:nvGrpSpPr>
          <p:cNvPr name="Group 91" id="91"/>
          <p:cNvGrpSpPr/>
          <p:nvPr/>
        </p:nvGrpSpPr>
        <p:grpSpPr>
          <a:xfrm rot="0">
            <a:off x="3383185" y="946404"/>
            <a:ext cx="301752" cy="301752"/>
            <a:chOff x="0" y="0"/>
            <a:chExt cx="402336" cy="402336"/>
          </a:xfrm>
        </p:grpSpPr>
        <p:sp>
          <p:nvSpPr>
            <p:cNvPr name="Freeform 92" id="92"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5"/>
              <a:stretch>
                <a:fillRect l="0" t="0" r="0" b="0"/>
              </a:stretch>
            </a:blipFill>
          </p:spPr>
        </p:sp>
      </p:grpSp>
      <p:grpSp>
        <p:nvGrpSpPr>
          <p:cNvPr name="Group 93" id="93"/>
          <p:cNvGrpSpPr/>
          <p:nvPr/>
        </p:nvGrpSpPr>
        <p:grpSpPr>
          <a:xfrm rot="0">
            <a:off x="729939" y="822960"/>
            <a:ext cx="2548252" cy="548640"/>
            <a:chOff x="0" y="0"/>
            <a:chExt cx="3397669" cy="731520"/>
          </a:xfrm>
        </p:grpSpPr>
        <p:sp>
          <p:nvSpPr>
            <p:cNvPr name="Freeform 94" id="94"/>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4">
                <a:alphaModFix amt="0"/>
              </a:blip>
              <a:stretch>
                <a:fillRect l="0" t="-40501" r="0" b="-40501"/>
              </a:stretch>
            </a:blipFill>
          </p:spPr>
        </p:sp>
        <p:sp>
          <p:nvSpPr>
            <p:cNvPr name="TextBox 95" id="95"/>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3E2D21"/>
                  </a:solidFill>
                  <a:latin typeface="XM Traffic Bold"/>
                  <a:ea typeface="XM Traffic Bold"/>
                  <a:cs typeface="XM Traffic Bold"/>
                  <a:sym typeface="XM Traffic Bold"/>
                  <a:hlinkClick r:id="rId16" tooltip="https://maps.app.goo.gl/LczbWqmYFNyVX5gh7?g_st=iw"/>
                  <a:rtl val="true"/>
                </a:rPr>
                <a:t>موقع منتزه الخرطم بـ المذنب</a:t>
              </a:r>
            </a:p>
          </p:txBody>
        </p:sp>
      </p:grpSp>
      <p:sp>
        <p:nvSpPr>
          <p:cNvPr name="Freeform 96" id="96"/>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7"/>
            <a:stretch>
              <a:fillRect l="0" t="-22113" r="0" b="-17967"/>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DAHZOY9WpdU</dc:identifier>
  <dcterms:modified xsi:type="dcterms:W3CDTF">2011-08-01T06:04:30Z</dcterms:modified>
  <cp:revision>1</cp:revision>
  <dc:title>Rewan_Presentation</dc:title>
</cp:coreProperties>
</file>